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Bree Serif"/>
      <p:regular r:id="rId25"/>
    </p:embeddedFont>
    <p:embeddedFont>
      <p:font typeface="Barlow Condensed Black"/>
      <p:bold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BarlowCondensedBlack-bold.fntdata"/><Relationship Id="rId25" Type="http://schemas.openxmlformats.org/officeDocument/2006/relationships/font" Target="fonts/BreeSerif-regular.fntdata"/><Relationship Id="rId27" Type="http://schemas.openxmlformats.org/officeDocument/2006/relationships/font" Target="fonts/BarlowCondensedBlack-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3ea7a0b6e9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3ea7a0b6e9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3ea7a0b6e9_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3ea7a0b6e9_2_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3ea7a0b6e9_2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br>
              <a:rPr lang="en"/>
            </a:br>
            <a:br>
              <a:rPr lang="en"/>
            </a:br>
            <a:r>
              <a:rPr lang="en">
                <a:solidFill>
                  <a:schemeClr val="dk1"/>
                </a:solidFill>
              </a:rPr>
              <a:t>For each pair, if the patient with a higher predicted risk actually experiences the event sooner than the one with a lower predicted risk, it’s considered a </a:t>
            </a:r>
            <a:r>
              <a:rPr b="1" lang="en">
                <a:solidFill>
                  <a:schemeClr val="dk1"/>
                </a:solidFill>
              </a:rPr>
              <a:t>concordant pair</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If the opposite happens, it’s a </a:t>
            </a:r>
            <a:r>
              <a:rPr b="1" lang="en">
                <a:solidFill>
                  <a:schemeClr val="dk1"/>
                </a:solidFill>
              </a:rPr>
              <a:t>discordant pair</a:t>
            </a:r>
            <a:r>
              <a:rPr lang="en">
                <a:solidFill>
                  <a:schemeClr val="dk1"/>
                </a:solidFill>
              </a:rPr>
              <a:t>.</a:t>
            </a:r>
            <a:endParaRPr>
              <a:solidFill>
                <a:schemeClr val="dk1"/>
              </a:solidFill>
            </a:endParaRPr>
          </a:p>
          <a:p>
            <a:pPr indent="0" lvl="0" marL="0" rtl="0" algn="l">
              <a:spcBef>
                <a:spcPts val="0"/>
              </a:spcBef>
              <a:spcAft>
                <a:spcPts val="0"/>
              </a:spcAft>
              <a:buNone/>
            </a:pPr>
            <a:br>
              <a:rPr lang="en"/>
            </a:br>
            <a:r>
              <a:rPr lang="en">
                <a:solidFill>
                  <a:schemeClr val="dk1"/>
                </a:solidFill>
              </a:rPr>
              <a:t>The C-index is then computed as the ratio of concordant pairs to the total number of comparable pairs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Example: patient has a higher predicted risk score, they should experience an event sooner than a patient with a lower risk score for the model to be considered accurate.</a:t>
            </a:r>
            <a:endParaRPr>
              <a:solidFill>
                <a:schemeClr val="dk1"/>
              </a:solidFill>
            </a:endParaRPr>
          </a:p>
        </p:txBody>
      </p:sp>
      <p:sp>
        <p:nvSpPr>
          <p:cNvPr id="163" name="Google Shape;163;g33ea7a0b6e9_2_1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3ea7a0b6e9_2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is a </a:t>
            </a:r>
            <a:r>
              <a:rPr lang="en"/>
              <a:t> synthetically generated dataset that used the data generator from synthcity, trained on a large cohort of real CIBMTR data.</a:t>
            </a:r>
            <a:endParaRPr/>
          </a:p>
        </p:txBody>
      </p:sp>
      <p:sp>
        <p:nvSpPr>
          <p:cNvPr id="196" name="Google Shape;196;g33ea7a0b6e9_2_1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3ea7a0b6e9_2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EFS time represents the duration a patient survives without experiencing major complications or relapse following HCT</a:t>
            </a:r>
            <a:br>
              <a:rPr lang="en"/>
            </a:br>
            <a:br>
              <a:rPr lang="en"/>
            </a:br>
            <a:r>
              <a:rPr lang="en"/>
              <a:t>This skewness highlights a critical window for post-transplant care and monitoring, suggesting that early interventions might be key to improving outcome</a:t>
            </a:r>
            <a:br>
              <a:rPr lang="en"/>
            </a:br>
            <a:br>
              <a:rPr lang="en"/>
            </a:br>
            <a:r>
              <a:rPr lang="en">
                <a:solidFill>
                  <a:schemeClr val="dk1"/>
                </a:solidFill>
              </a:rPr>
              <a:t>The steep drop in EFS times for many patients suggests that factors such as comorbidities, donor-recipient compatibility, and treatment protocols might play a significant role during this high-risk period. </a:t>
            </a:r>
            <a:br>
              <a:rPr lang="en">
                <a:solidFill>
                  <a:schemeClr val="dk1"/>
                </a:solidFill>
              </a:rPr>
            </a:br>
            <a:br>
              <a:rPr lang="en">
                <a:solidFill>
                  <a:schemeClr val="dk1"/>
                </a:solidFill>
              </a:rPr>
            </a:br>
            <a:r>
              <a:rPr lang="en">
                <a:solidFill>
                  <a:schemeClr val="dk1"/>
                </a:solidFill>
              </a:rPr>
              <a:t>The skewed nature of the data also posed challenges for our modeling process, particularly for techniques that assume normality(like </a:t>
            </a:r>
            <a:r>
              <a:rPr lang="en">
                <a:solidFill>
                  <a:schemeClr val="dk1"/>
                </a:solidFill>
              </a:rPr>
              <a:t>linear</a:t>
            </a:r>
            <a:r>
              <a:rPr lang="en">
                <a:solidFill>
                  <a:schemeClr val="dk1"/>
                </a:solidFill>
              </a:rPr>
              <a:t> and </a:t>
            </a:r>
            <a:r>
              <a:rPr lang="en">
                <a:solidFill>
                  <a:schemeClr val="dk1"/>
                </a:solidFill>
              </a:rPr>
              <a:t>logistic</a:t>
            </a:r>
            <a:r>
              <a:rPr lang="en">
                <a:solidFill>
                  <a:schemeClr val="dk1"/>
                </a:solidFill>
              </a:rPr>
              <a:t> regression/ pca). To address this, we considered transformations and non-parametric models better suited for skewed data.</a:t>
            </a:r>
            <a:endParaRPr/>
          </a:p>
        </p:txBody>
      </p:sp>
      <p:sp>
        <p:nvSpPr>
          <p:cNvPr id="235" name="Google Shape;235;g33ea7a0b6e9_2_1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3ea7a0b6e9_2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"This pairplot helps us look at the relationship between three key factors: Event-Free Survival (EFS) time, comorbidity scores, and HLA matching. The goal is to find patterns that explain why some patients do better after a transplant than others."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One important thing we found is that patients who had more pre-existing health issues tend to have shorter EFS times. This means that those with higher comorbidity scores were more likely to experience complications after the transplant.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"We also see that better HLA matching, which shows how well a donor’s immune system matches the recipient, is linked to longer EFS times. This reinforces the importance of finding the right donor to transplant to reduce the risks."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"But not all relationships were simple. Some factors didn’t show a clear pattern, which meant traditional models might not capture these interactions well. Because of this, we tested more advanced machine learning models, like XGBoost and DeepSurv, to improve predictions."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"Overall, this pairplot helped us pick out the most important features and guided us in choosing the right models to make better survival predictions."</a:t>
            </a:r>
            <a:endParaRPr b="1">
              <a:solidFill>
                <a:schemeClr val="dk1"/>
              </a:solidFill>
            </a:endParaRPr>
          </a:p>
          <a:p>
            <a:pPr indent="0" lvl="0" marL="0" rtl="0" algn="l">
              <a:spcBef>
                <a:spcPts val="1200"/>
              </a:spcBef>
              <a:spcAft>
                <a:spcPts val="0"/>
              </a:spcAft>
              <a:buNone/>
            </a:pPr>
            <a:r>
              <a:t/>
            </a:r>
            <a:endParaRPr b="1">
              <a:solidFill>
                <a:schemeClr val="dk1"/>
              </a:solidFill>
            </a:endParaRPr>
          </a:p>
        </p:txBody>
      </p:sp>
      <p:sp>
        <p:nvSpPr>
          <p:cNvPr id="252" name="Google Shape;252;g33ea7a0b6e9_2_19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3ea7a0b6e9_2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Next, we have this heatmap, which helps us understand how different factors are related to Event-Free Survival (EFS). The colors represent the strength of these relationships—red means a stronger positive connection, while blue indicates a weaker or negative one."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"One key pattern we noticed is the link between conditioning intensity and age. Conditioning intensity refers to the level of chemotherapy or radiation a patient receives before transplant, and it seems that older patients might be given different treatment plans."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"Another important finding is that better HLA matching is associated with better survival outcomes. Since HLA determines how well the donor’s immune system matches the recipient, this reinforces why finding the right donor is so critical."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"Also, we found an interesting and unexpected relationship between comorbidity scores and graft type. This could suggest that certain types of transplants are used more often for patients with more health issues, which would be worth exploring further."</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"Overall, this heatmap was a key part of our analysis, helping us figure out which factors are most important for predicting survival. It also played a big role in guiding our model selection and improving our predictions.</a:t>
            </a:r>
            <a:endParaRPr b="1">
              <a:solidFill>
                <a:schemeClr val="dk1"/>
              </a:solidFill>
            </a:endParaRPr>
          </a:p>
          <a:p>
            <a:pPr indent="0" lvl="0" marL="0" rtl="0" algn="l">
              <a:spcBef>
                <a:spcPts val="1200"/>
              </a:spcBef>
              <a:spcAft>
                <a:spcPts val="0"/>
              </a:spcAft>
              <a:buNone/>
            </a:pPr>
            <a:r>
              <a:t/>
            </a:r>
            <a:endParaRPr b="1">
              <a:solidFill>
                <a:schemeClr val="dk1"/>
              </a:solidFill>
            </a:endParaRPr>
          </a:p>
        </p:txBody>
      </p:sp>
      <p:sp>
        <p:nvSpPr>
          <p:cNvPr id="270" name="Google Shape;270;g33ea7a0b6e9_2_2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3ea7a0b6e9_2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Now, looking at this Kaplan-Meier survival curve, we can see how long patients stay free of complications after a transplant, based on whether the donor and recipient are the same sex or different."</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"From the graph, we observe that Male-to-Male (M-M) transplants have the best long-term survival, followed by Female-to-Female (F-F). On the other hand, opposite-sex transplants—Male-to-Female (M-F) and Female-to-Male (F-M)—show a steeper drop, meaning these patients experience complications sooner."</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"This pattern suggests that same-sex transplants may lead to better survival outcomes over time. Understanding this could help doctors make more informed decisions when selecting the best donor for a patient."</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"Overall, this analysis gives us valuable insights into how sex-matching might influence recovery, without requiring deep medical expertise. It highlights an important factor that could be considered in improving transplant success.</a:t>
            </a:r>
            <a:endParaRPr b="1">
              <a:solidFill>
                <a:schemeClr val="dk1"/>
              </a:solidFill>
            </a:endParaRPr>
          </a:p>
        </p:txBody>
      </p:sp>
      <p:sp>
        <p:nvSpPr>
          <p:cNvPr id="287" name="Google Shape;287;g33ea7a0b6e9_2_2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3ea7a0b6e9_2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Next, we have this table, which shows how Event-Free Survival (EFS) rates and average survival times differ across racial groups. This helps us understand whether some groups tend to have better or worse outcomes after a transplant."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"Looking at the data, we can see that White patients have the highest EFS rate at 62.55%, while patients from multiple racial backgrounds have the lowest at 46.58%. The average time before complications also varies between groups, showing that survival times aren’t the same for everyone."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"This suggests that different factors, such as access to medical care, donor availability, or other health conditions, may influence these outcomes."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"By identifying these patterns, we can work toward improving transplant success for all patients, making treatments more effective and equitable."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 this table, 0 means the patient experienced a complication or relapse, while 1 means they remained event-free after the transplant.</a:t>
            </a:r>
            <a:endParaRPr b="1">
              <a:solidFill>
                <a:schemeClr val="dk1"/>
              </a:solidFill>
            </a:endParaRPr>
          </a:p>
          <a:p>
            <a:pPr indent="0" lvl="0" marL="0" rtl="0" algn="l">
              <a:spcBef>
                <a:spcPts val="1200"/>
              </a:spcBef>
              <a:spcAft>
                <a:spcPts val="0"/>
              </a:spcAft>
              <a:buNone/>
            </a:pPr>
            <a:r>
              <a:t/>
            </a:r>
            <a:endParaRPr b="1">
              <a:solidFill>
                <a:schemeClr val="dk1"/>
              </a:solidFill>
            </a:endParaRPr>
          </a:p>
        </p:txBody>
      </p:sp>
      <p:sp>
        <p:nvSpPr>
          <p:cNvPr id="304" name="Google Shape;304;g33ea7a0b6e9_2_2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3ea7a0b6e9_2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Who will this analysis be the most helpful for? In order to answer that question we divided our stakeholder int 5 subcategories with the top three categories being Healthcare Providers, Patients &amp; Patient Advocacy Groups and Academic Institutions. Healthcare providers can use this data to make informed clinical decisions.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My aunt is a doctor and I asked her about her opinions on the most important features - to which she </a:t>
            </a:r>
            <a:r>
              <a:rPr lang="en"/>
              <a:t>replied</a:t>
            </a:r>
            <a:r>
              <a:rPr lang="en"/>
              <a:t> that it just depends on the patient. One group of variables may be perfect for some and not be useful at all for the others. So we really think that this can help healthcare providers tailor treatments to individual patients and improve their care based on probable </a:t>
            </a:r>
            <a:r>
              <a:rPr lang="en"/>
              <a:t>survival</a:t>
            </a:r>
            <a:r>
              <a:rPr lang="en"/>
              <a:t> outcomes. Similarly, this can help patients better understand their treatment options and why they are being treated so.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academic institutions, this will be  great case study </a:t>
            </a:r>
            <a:r>
              <a:rPr lang="en"/>
              <a:t>because</a:t>
            </a:r>
            <a:r>
              <a:rPr lang="en"/>
              <a:t> achieving high accuracy is really important but at the same time really hard to achieve with so many interrelated </a:t>
            </a:r>
            <a:r>
              <a:rPr lang="en"/>
              <a:t>variables</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Lastly, we believe that this analysis can be used by medical researchers and bioinformaticians and analysts to </a:t>
            </a:r>
            <a:r>
              <a:rPr lang="en"/>
              <a:t>further</a:t>
            </a:r>
            <a:r>
              <a:rPr lang="en"/>
              <a:t> develop the model with a subject matter expert and analyze how it also addresses health equity in terms of fairness and bias in predictive models.</a:t>
            </a:r>
            <a:endParaRPr/>
          </a:p>
          <a:p>
            <a:pPr indent="0" lvl="0" marL="0" rtl="0" algn="l">
              <a:spcBef>
                <a:spcPts val="0"/>
              </a:spcBef>
              <a:spcAft>
                <a:spcPts val="0"/>
              </a:spcAft>
              <a:buNone/>
            </a:pPr>
            <a:r>
              <a:t/>
            </a:r>
            <a:endParaRPr/>
          </a:p>
        </p:txBody>
      </p:sp>
      <p:sp>
        <p:nvSpPr>
          <p:cNvPr id="324" name="Google Shape;324;g33ea7a0b6e9_2_2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3ea7a0b6e9_2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our analytical approach, we started by preprocessing and cleaning our dataset followed by experimenting with model training and tuning. </a:t>
            </a:r>
            <a:endParaRPr/>
          </a:p>
          <a:p>
            <a:pPr indent="0" lvl="0" marL="0" rtl="0" algn="l">
              <a:spcBef>
                <a:spcPts val="0"/>
              </a:spcBef>
              <a:spcAft>
                <a:spcPts val="0"/>
              </a:spcAft>
              <a:buNone/>
            </a:pPr>
            <a:r>
              <a:rPr lang="en"/>
              <a:t>We spend much of our time on feature engineering to make sure our data is </a:t>
            </a:r>
            <a:r>
              <a:rPr lang="en"/>
              <a:t>reliable with over 28 thousand rows of data and</a:t>
            </a:r>
            <a:r>
              <a:rPr lang="en"/>
              <a:t> were able to achieve similar results from three different machine learning models. After which we diverted our focus on getting a higher concordance index to make better predictions.</a:t>
            </a:r>
            <a:endParaRPr/>
          </a:p>
        </p:txBody>
      </p:sp>
      <p:sp>
        <p:nvSpPr>
          <p:cNvPr id="339" name="Google Shape;339;g33ea7a0b6e9_2_2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3ea7a0b6e9_2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initially had a total of 60 features with 35 categorical and 25 numerical fields. </a:t>
            </a:r>
            <a:endParaRPr/>
          </a:p>
          <a:p>
            <a:pPr indent="0" lvl="0" marL="0" rtl="0" algn="l">
              <a:spcBef>
                <a:spcPts val="0"/>
              </a:spcBef>
              <a:spcAft>
                <a:spcPts val="0"/>
              </a:spcAft>
              <a:buNone/>
            </a:pPr>
            <a:br>
              <a:rPr lang="en"/>
            </a:br>
            <a:r>
              <a:rPr lang="en"/>
              <a:t>In this example, we handled the nulls in and added them in a separate unknown category. These null values aren’t evenly distributed across efs and ranked them as -1. We did the same across all ordinal values. We used a </a:t>
            </a:r>
            <a:r>
              <a:rPr lang="en"/>
              <a:t>predefined</a:t>
            </a:r>
            <a:r>
              <a:rPr lang="en"/>
              <a:t> mapping strategy to convert our simpler categorical data into numerical data while handling missing values as -1 as well. We also used one hot encoding to provide binary (0-1) values for categorical features which had high cardinality (over 5 different values). We standardized our numerical data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After conducting one hot encoding and ordinal encoding our total features were 132 and because we did not have an SME, we decided to include all features into our models and backtrack them to find the most important features.</a:t>
            </a:r>
            <a:endParaRPr/>
          </a:p>
        </p:txBody>
      </p:sp>
      <p:sp>
        <p:nvSpPr>
          <p:cNvPr id="370" name="Google Shape;370;g33ea7a0b6e9_2_30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3ea7a0b6e9_2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three models we focused on were CoxPH, XGBoost and DeepSurv. All three models are popularly used within the medical fields to predict patient outcomes. </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were able to achieve a concordance index of 67% which means that our model was 67% accurating in predicting patient survival time post cell transplant procedures and also provided the top 30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started with the simplest modelling technique which is the CoxPH model and finetuning it with a L1 value set to 0.01, this resulted in 66% accuracy, so we went one step ahead and tried a more robust XGBoost model which is known to handle datasets where feature importance is not known earlier. This gave us a 67% accuracy as well as top features with their importance as a %.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do want to mention that the competition is now closed and I believe the winner was able to achieve 70% accuracy so we believe that there is a lot of room for improvement but being able to achieve 67% was a good start. </a:t>
            </a:r>
            <a:r>
              <a:rPr lang="en">
                <a:solidFill>
                  <a:schemeClr val="dk1"/>
                </a:solidFill>
              </a:rPr>
              <a:t>We finally tried the DeepSurv model to utilize some deep learning insights to see if we can further improve our accuracy score.</a:t>
            </a:r>
            <a:endParaRPr/>
          </a:p>
          <a:p>
            <a:pPr indent="0" lvl="0" marL="0" rtl="0" algn="l">
              <a:spcBef>
                <a:spcPts val="0"/>
              </a:spcBef>
              <a:spcAft>
                <a:spcPts val="0"/>
              </a:spcAft>
              <a:buNone/>
            </a:pPr>
            <a:r>
              <a:t/>
            </a:r>
            <a:endParaRPr/>
          </a:p>
        </p:txBody>
      </p:sp>
      <p:sp>
        <p:nvSpPr>
          <p:cNvPr id="389" name="Google Shape;389;g33ea7a0b6e9_2_3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3ea7a0b6e9_2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3ea7a0b6e9_2_3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3ea7a0b6e9_2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g33ea7a0b6e9_2_3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3ea7a0b6e9_2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g33ea7a0b6e9_2_3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3ea7a0b6e9_2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33ea7a0b6e9_2_3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e3fb7c7ee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g2e3fb7c7eed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jp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2.jpg"/><Relationship Id="rId7"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6.png"/><Relationship Id="rId6"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3.png"/><Relationship Id="rId6"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4.png"/><Relationship Id="rId6" Type="http://schemas.openxmlformats.org/officeDocument/2006/relationships/image" Target="../media/image2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9.png"/><Relationship Id="rId7"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0.png"/><Relationship Id="rId7"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6.png"/><Relationship Id="rId6" Type="http://schemas.openxmlformats.org/officeDocument/2006/relationships/image" Target="../media/image3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3.png"/><Relationship Id="rId7" Type="http://schemas.openxmlformats.org/officeDocument/2006/relationships/image" Target="../media/image32.png"/><Relationship Id="rId8" Type="http://schemas.openxmlformats.org/officeDocument/2006/relationships/hyperlink" Target="https://www.kaggle.com/competitions/equity-post-HCT-survival-predictions/discussion/56655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16.png"/><Relationship Id="rId7"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1.png"/><Relationship Id="rId5"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8414192" y="1181929"/>
            <a:ext cx="1272216" cy="1272217"/>
          </a:xfrm>
          <a:custGeom>
            <a:rect b="b" l="l" r="r" t="t"/>
            <a:pathLst>
              <a:path extrusionOk="0" h="2544433" w="2544433">
                <a:moveTo>
                  <a:pt x="0" y="0"/>
                </a:moveTo>
                <a:lnTo>
                  <a:pt x="2544433" y="0"/>
                </a:lnTo>
                <a:lnTo>
                  <a:pt x="2544433" y="2544433"/>
                </a:lnTo>
                <a:lnTo>
                  <a:pt x="0" y="2544433"/>
                </a:lnTo>
                <a:lnTo>
                  <a:pt x="0" y="0"/>
                </a:lnTo>
                <a:close/>
              </a:path>
            </a:pathLst>
          </a:custGeom>
          <a:blipFill rotWithShape="1">
            <a:blip r:embed="rId3">
              <a:alphaModFix/>
            </a:blip>
            <a:stretch>
              <a:fillRect b="0" l="0" r="0" t="0"/>
            </a:stretch>
          </a:blipFill>
          <a:ln>
            <a:noFill/>
          </a:ln>
        </p:spPr>
      </p:sp>
      <p:sp>
        <p:nvSpPr>
          <p:cNvPr id="130" name="Google Shape;130;p25"/>
          <p:cNvSpPr/>
          <p:nvPr/>
        </p:nvSpPr>
        <p:spPr>
          <a:xfrm>
            <a:off x="5144225" y="1757986"/>
            <a:ext cx="5728085" cy="3078626"/>
          </a:xfrm>
          <a:custGeom>
            <a:rect b="b" l="l" r="r" t="t"/>
            <a:pathLst>
              <a:path extrusionOk="0" h="2887980" w="5373370">
                <a:moveTo>
                  <a:pt x="5373370" y="621030"/>
                </a:moveTo>
                <a:cubicBezTo>
                  <a:pt x="5373370" y="963930"/>
                  <a:pt x="5095240" y="1242060"/>
                  <a:pt x="4752340" y="1242060"/>
                </a:cubicBezTo>
                <a:lnTo>
                  <a:pt x="3628390" y="1242060"/>
                </a:lnTo>
                <a:cubicBezTo>
                  <a:pt x="3602990" y="1242060"/>
                  <a:pt x="3582670" y="1263650"/>
                  <a:pt x="3582670" y="1289050"/>
                </a:cubicBezTo>
                <a:cubicBezTo>
                  <a:pt x="3582670" y="1380490"/>
                  <a:pt x="3562350" y="1466850"/>
                  <a:pt x="3528060" y="1545590"/>
                </a:cubicBezTo>
                <a:cubicBezTo>
                  <a:pt x="3506470" y="1592580"/>
                  <a:pt x="3540760" y="1645920"/>
                  <a:pt x="3592830" y="1645920"/>
                </a:cubicBezTo>
                <a:cubicBezTo>
                  <a:pt x="3935730" y="1645920"/>
                  <a:pt x="4213860" y="1924050"/>
                  <a:pt x="4213860" y="2266950"/>
                </a:cubicBezTo>
                <a:cubicBezTo>
                  <a:pt x="4213860" y="2609850"/>
                  <a:pt x="3935730" y="2887980"/>
                  <a:pt x="3592830" y="2887980"/>
                </a:cubicBezTo>
                <a:lnTo>
                  <a:pt x="1252220" y="2887980"/>
                </a:lnTo>
                <a:cubicBezTo>
                  <a:pt x="909320" y="2887980"/>
                  <a:pt x="631190" y="2609850"/>
                  <a:pt x="631190" y="2266950"/>
                </a:cubicBezTo>
                <a:cubicBezTo>
                  <a:pt x="631190" y="2175510"/>
                  <a:pt x="651510" y="2089150"/>
                  <a:pt x="685800" y="2010410"/>
                </a:cubicBezTo>
                <a:cubicBezTo>
                  <a:pt x="707390" y="1963420"/>
                  <a:pt x="673100" y="1910080"/>
                  <a:pt x="621030" y="1910080"/>
                </a:cubicBezTo>
                <a:cubicBezTo>
                  <a:pt x="278130" y="1910080"/>
                  <a:pt x="0" y="1631950"/>
                  <a:pt x="0" y="1289050"/>
                </a:cubicBezTo>
                <a:cubicBezTo>
                  <a:pt x="0" y="946150"/>
                  <a:pt x="278130" y="668020"/>
                  <a:pt x="621030" y="668020"/>
                </a:cubicBezTo>
                <a:lnTo>
                  <a:pt x="1744980" y="668020"/>
                </a:lnTo>
                <a:cubicBezTo>
                  <a:pt x="1770380" y="668020"/>
                  <a:pt x="1790700" y="647700"/>
                  <a:pt x="1790700" y="622300"/>
                </a:cubicBezTo>
                <a:lnTo>
                  <a:pt x="1790700" y="621030"/>
                </a:lnTo>
                <a:cubicBezTo>
                  <a:pt x="1790700" y="278130"/>
                  <a:pt x="2068830" y="0"/>
                  <a:pt x="2411730" y="0"/>
                </a:cubicBezTo>
                <a:lnTo>
                  <a:pt x="4751070" y="0"/>
                </a:lnTo>
                <a:cubicBezTo>
                  <a:pt x="5095240" y="0"/>
                  <a:pt x="5373370" y="278130"/>
                  <a:pt x="5373370" y="621030"/>
                </a:cubicBezTo>
                <a:close/>
              </a:path>
            </a:pathLst>
          </a:custGeom>
          <a:blipFill rotWithShape="1">
            <a:blip r:embed="rId4">
              <a:alphaModFix amt="76000"/>
            </a:blip>
            <a:stretch>
              <a:fillRect b="0" l="-70867" r="0"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nvGrpSpPr>
          <p:cNvPr id="131" name="Google Shape;131;p25"/>
          <p:cNvGrpSpPr/>
          <p:nvPr/>
        </p:nvGrpSpPr>
        <p:grpSpPr>
          <a:xfrm>
            <a:off x="-568260" y="1563560"/>
            <a:ext cx="1297185" cy="2384536"/>
            <a:chOff x="0" y="-47625"/>
            <a:chExt cx="683291" cy="1256052"/>
          </a:xfrm>
        </p:grpSpPr>
        <p:sp>
          <p:nvSpPr>
            <p:cNvPr id="132" name="Google Shape;132;p25"/>
            <p:cNvSpPr/>
            <p:nvPr/>
          </p:nvSpPr>
          <p:spPr>
            <a:xfrm>
              <a:off x="0" y="0"/>
              <a:ext cx="683291" cy="1208427"/>
            </a:xfrm>
            <a:custGeom>
              <a:rect b="b" l="l" r="r" t="t"/>
              <a:pathLst>
                <a:path extrusionOk="0" h="1208427" w="683291">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alpha val="63922"/>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3" name="Google Shape;133;p25"/>
            <p:cNvSpPr txBox="1"/>
            <p:nvPr/>
          </p:nvSpPr>
          <p:spPr>
            <a:xfrm>
              <a:off x="0" y="-47625"/>
              <a:ext cx="683291" cy="1256052"/>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4" name="Google Shape;134;p25"/>
          <p:cNvSpPr/>
          <p:nvPr/>
        </p:nvSpPr>
        <p:spPr>
          <a:xfrm>
            <a:off x="514350" y="-1261156"/>
            <a:ext cx="2057400" cy="20574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135" name="Google Shape;135;p25"/>
          <p:cNvSpPr/>
          <p:nvPr/>
        </p:nvSpPr>
        <p:spPr>
          <a:xfrm>
            <a:off x="5890852" y="1245423"/>
            <a:ext cx="512564" cy="512564"/>
          </a:xfrm>
          <a:custGeom>
            <a:rect b="b" l="l" r="r" t="t"/>
            <a:pathLst>
              <a:path extrusionOk="0" h="1025128" w="1025128">
                <a:moveTo>
                  <a:pt x="0" y="0"/>
                </a:moveTo>
                <a:lnTo>
                  <a:pt x="1025127" y="0"/>
                </a:lnTo>
                <a:lnTo>
                  <a:pt x="1025127" y="1025127"/>
                </a:lnTo>
                <a:lnTo>
                  <a:pt x="0" y="1025127"/>
                </a:lnTo>
                <a:lnTo>
                  <a:pt x="0" y="0"/>
                </a:lnTo>
                <a:close/>
              </a:path>
            </a:pathLst>
          </a:custGeom>
          <a:blipFill rotWithShape="1">
            <a:blip r:embed="rId5">
              <a:alphaModFix/>
            </a:blip>
            <a:stretch>
              <a:fillRect b="0" l="0" r="0" t="0"/>
            </a:stretch>
          </a:blipFill>
          <a:ln>
            <a:noFill/>
          </a:ln>
        </p:spPr>
      </p:sp>
      <p:sp>
        <p:nvSpPr>
          <p:cNvPr id="136" name="Google Shape;136;p25"/>
          <p:cNvSpPr/>
          <p:nvPr/>
        </p:nvSpPr>
        <p:spPr>
          <a:xfrm>
            <a:off x="3921903" y="4124309"/>
            <a:ext cx="2057400" cy="20574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137" name="Google Shape;137;p25"/>
          <p:cNvSpPr/>
          <p:nvPr/>
        </p:nvSpPr>
        <p:spPr>
          <a:xfrm>
            <a:off x="7304159" y="-176170"/>
            <a:ext cx="580415" cy="406291"/>
          </a:xfrm>
          <a:custGeom>
            <a:rect b="b" l="l" r="r" t="t"/>
            <a:pathLst>
              <a:path extrusionOk="0" h="812581" w="1160831">
                <a:moveTo>
                  <a:pt x="0" y="0"/>
                </a:moveTo>
                <a:lnTo>
                  <a:pt x="1160831" y="0"/>
                </a:lnTo>
                <a:lnTo>
                  <a:pt x="1160831" y="812582"/>
                </a:lnTo>
                <a:lnTo>
                  <a:pt x="0" y="812582"/>
                </a:lnTo>
                <a:lnTo>
                  <a:pt x="0" y="0"/>
                </a:lnTo>
                <a:close/>
              </a:path>
            </a:pathLst>
          </a:custGeom>
          <a:blipFill rotWithShape="1">
            <a:blip r:embed="rId6">
              <a:alphaModFix/>
            </a:blip>
            <a:stretch>
              <a:fillRect b="0" l="0" r="0" t="0"/>
            </a:stretch>
          </a:blipFill>
          <a:ln>
            <a:noFill/>
          </a:ln>
        </p:spPr>
      </p:sp>
      <p:sp>
        <p:nvSpPr>
          <p:cNvPr id="138" name="Google Shape;138;p25"/>
          <p:cNvSpPr/>
          <p:nvPr/>
        </p:nvSpPr>
        <p:spPr>
          <a:xfrm>
            <a:off x="2940913" y="4924047"/>
            <a:ext cx="1419994" cy="438907"/>
          </a:xfrm>
          <a:custGeom>
            <a:rect b="b" l="l" r="r" t="t"/>
            <a:pathLst>
              <a:path extrusionOk="0" h="877815" w="2839989">
                <a:moveTo>
                  <a:pt x="0" y="0"/>
                </a:moveTo>
                <a:lnTo>
                  <a:pt x="2839989" y="0"/>
                </a:lnTo>
                <a:lnTo>
                  <a:pt x="2839989" y="877814"/>
                </a:lnTo>
                <a:lnTo>
                  <a:pt x="0" y="877814"/>
                </a:lnTo>
                <a:lnTo>
                  <a:pt x="0" y="0"/>
                </a:lnTo>
                <a:close/>
              </a:path>
            </a:pathLst>
          </a:custGeom>
          <a:blipFill rotWithShape="1">
            <a:blip r:embed="rId7">
              <a:alphaModFix amt="52999"/>
            </a:blip>
            <a:stretch>
              <a:fillRect b="0" l="0" r="0" t="0"/>
            </a:stretch>
          </a:blipFill>
          <a:ln>
            <a:noFill/>
          </a:ln>
        </p:spPr>
      </p:sp>
      <p:sp>
        <p:nvSpPr>
          <p:cNvPr id="139" name="Google Shape;139;p25"/>
          <p:cNvSpPr txBox="1"/>
          <p:nvPr/>
        </p:nvSpPr>
        <p:spPr>
          <a:xfrm>
            <a:off x="953716" y="1453538"/>
            <a:ext cx="6239400" cy="1805700"/>
          </a:xfrm>
          <a:prstGeom prst="rect">
            <a:avLst/>
          </a:prstGeom>
          <a:noFill/>
          <a:ln>
            <a:noFill/>
          </a:ln>
        </p:spPr>
        <p:txBody>
          <a:bodyPr anchorCtr="0" anchor="t" bIns="0" lIns="0" spcFirstLastPara="1" rIns="0" wrap="square" tIns="0">
            <a:spAutoFit/>
          </a:bodyPr>
          <a:lstStyle/>
          <a:p>
            <a:pPr indent="0" lvl="0" marL="0" marR="0" rtl="0" algn="l">
              <a:lnSpc>
                <a:spcPct val="103007"/>
              </a:lnSpc>
              <a:spcBef>
                <a:spcPts val="0"/>
              </a:spcBef>
              <a:spcAft>
                <a:spcPts val="0"/>
              </a:spcAft>
              <a:buNone/>
            </a:pPr>
            <a:r>
              <a:rPr b="1" i="0" lang="en" sz="4100" u="none" cap="none" strike="noStrike">
                <a:solidFill>
                  <a:srgbClr val="0E2F5F"/>
                </a:solidFill>
                <a:latin typeface="Barlow Condensed Black"/>
                <a:ea typeface="Barlow Condensed Black"/>
                <a:cs typeface="Barlow Condensed Black"/>
                <a:sym typeface="Barlow Condensed Black"/>
              </a:rPr>
              <a:t>POST-HCT SURGERY SURVIVAL: </a:t>
            </a:r>
            <a:endParaRPr sz="500"/>
          </a:p>
          <a:p>
            <a:pPr indent="0" lvl="0" marL="0" marR="0" rtl="0" algn="just">
              <a:lnSpc>
                <a:spcPct val="103003"/>
              </a:lnSpc>
              <a:spcBef>
                <a:spcPts val="0"/>
              </a:spcBef>
              <a:spcAft>
                <a:spcPts val="0"/>
              </a:spcAft>
              <a:buNone/>
            </a:pPr>
            <a:r>
              <a:rPr b="1" i="0" lang="en" sz="3600" u="none" cap="none" strike="noStrike">
                <a:solidFill>
                  <a:srgbClr val="0E2F5F"/>
                </a:solidFill>
                <a:latin typeface="Barlow Condensed Black"/>
                <a:ea typeface="Barlow Condensed Black"/>
                <a:cs typeface="Barlow Condensed Black"/>
                <a:sym typeface="Barlow Condensed Black"/>
              </a:rPr>
              <a:t>Analysis and Prediction</a:t>
            </a:r>
            <a:endParaRPr sz="500"/>
          </a:p>
          <a:p>
            <a:pPr indent="0" lvl="0" marL="0" marR="0" rtl="0" algn="just">
              <a:lnSpc>
                <a:spcPct val="171944"/>
              </a:lnSpc>
              <a:spcBef>
                <a:spcPts val="0"/>
              </a:spcBef>
              <a:spcAft>
                <a:spcPts val="0"/>
              </a:spcAft>
              <a:buNone/>
            </a:pPr>
            <a:r>
              <a:t/>
            </a:r>
            <a:endParaRPr b="1" i="0" sz="3800" u="none" cap="none" strike="noStrike">
              <a:solidFill>
                <a:srgbClr val="0E2F5F"/>
              </a:solidFill>
              <a:latin typeface="Barlow Condensed Black"/>
              <a:ea typeface="Barlow Condensed Black"/>
              <a:cs typeface="Barlow Condensed Black"/>
              <a:sym typeface="Barlow Condensed Black"/>
            </a:endParaRPr>
          </a:p>
        </p:txBody>
      </p:sp>
      <p:sp>
        <p:nvSpPr>
          <p:cNvPr id="140" name="Google Shape;140;p25"/>
          <p:cNvSpPr txBox="1"/>
          <p:nvPr/>
        </p:nvSpPr>
        <p:spPr>
          <a:xfrm>
            <a:off x="1179542" y="3277860"/>
            <a:ext cx="3657600" cy="261600"/>
          </a:xfrm>
          <a:prstGeom prst="rect">
            <a:avLst/>
          </a:prstGeom>
          <a:noFill/>
          <a:ln>
            <a:noFill/>
          </a:ln>
        </p:spPr>
        <p:txBody>
          <a:bodyPr anchorCtr="0" anchor="t" bIns="0" lIns="0" spcFirstLastPara="1" rIns="0" wrap="square" tIns="0">
            <a:spAutoFit/>
          </a:bodyPr>
          <a:lstStyle/>
          <a:p>
            <a:pPr indent="0" lvl="0" marL="0" marR="0" rtl="0" algn="l">
              <a:lnSpc>
                <a:spcPct val="131000"/>
              </a:lnSpc>
              <a:spcBef>
                <a:spcPts val="0"/>
              </a:spcBef>
              <a:spcAft>
                <a:spcPts val="0"/>
              </a:spcAft>
              <a:buNone/>
            </a:pPr>
            <a:r>
              <a:rPr b="1" i="0" lang="en" sz="1700" u="none" cap="none" strike="noStrike">
                <a:solidFill>
                  <a:srgbClr val="021828"/>
                </a:solidFill>
                <a:latin typeface="Arial"/>
                <a:ea typeface="Arial"/>
                <a:cs typeface="Arial"/>
                <a:sym typeface="Arial"/>
              </a:rPr>
              <a:t>Group 521</a:t>
            </a:r>
            <a:endParaRPr sz="400"/>
          </a:p>
        </p:txBody>
      </p:sp>
      <p:sp>
        <p:nvSpPr>
          <p:cNvPr id="141" name="Google Shape;141;p25"/>
          <p:cNvSpPr txBox="1"/>
          <p:nvPr/>
        </p:nvSpPr>
        <p:spPr>
          <a:xfrm>
            <a:off x="1479399" y="3691425"/>
            <a:ext cx="1692000" cy="1354500"/>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1" i="0" lang="en" sz="1100" u="none" cap="none" strike="noStrike">
                <a:solidFill>
                  <a:srgbClr val="000000"/>
                </a:solidFill>
                <a:latin typeface="Arial"/>
                <a:ea typeface="Arial"/>
                <a:cs typeface="Arial"/>
                <a:sym typeface="Arial"/>
              </a:rPr>
              <a:t>- Behafarin Emam</a:t>
            </a:r>
            <a:endParaRPr sz="700"/>
          </a:p>
          <a:p>
            <a:pPr indent="0" lvl="0" marL="0" marR="0" rtl="0" algn="l">
              <a:lnSpc>
                <a:spcPct val="140009"/>
              </a:lnSpc>
              <a:spcBef>
                <a:spcPts val="0"/>
              </a:spcBef>
              <a:spcAft>
                <a:spcPts val="0"/>
              </a:spcAft>
              <a:buNone/>
            </a:pPr>
            <a:r>
              <a:rPr b="1" i="0" lang="en" sz="1100" u="none" cap="none" strike="noStrike">
                <a:solidFill>
                  <a:srgbClr val="000000"/>
                </a:solidFill>
                <a:latin typeface="Arial"/>
                <a:ea typeface="Arial"/>
                <a:cs typeface="Arial"/>
                <a:sym typeface="Arial"/>
              </a:rPr>
              <a:t> - Likhita Nallapati</a:t>
            </a:r>
            <a:endParaRPr sz="700"/>
          </a:p>
          <a:p>
            <a:pPr indent="0" lvl="0" marL="0" marR="0" rtl="0" algn="l">
              <a:lnSpc>
                <a:spcPct val="140009"/>
              </a:lnSpc>
              <a:spcBef>
                <a:spcPts val="0"/>
              </a:spcBef>
              <a:spcAft>
                <a:spcPts val="0"/>
              </a:spcAft>
              <a:buNone/>
            </a:pPr>
            <a:r>
              <a:rPr b="1" i="0" lang="en" sz="1100" u="none" cap="none" strike="noStrike">
                <a:solidFill>
                  <a:srgbClr val="000000"/>
                </a:solidFill>
                <a:latin typeface="Arial"/>
                <a:ea typeface="Arial"/>
                <a:cs typeface="Arial"/>
                <a:sym typeface="Arial"/>
              </a:rPr>
              <a:t> - Shriya Rawal</a:t>
            </a:r>
            <a:endParaRPr sz="700"/>
          </a:p>
          <a:p>
            <a:pPr indent="0" lvl="0" marL="0" marR="0" rtl="0" algn="l">
              <a:lnSpc>
                <a:spcPct val="140009"/>
              </a:lnSpc>
              <a:spcBef>
                <a:spcPts val="0"/>
              </a:spcBef>
              <a:spcAft>
                <a:spcPts val="0"/>
              </a:spcAft>
              <a:buNone/>
            </a:pPr>
            <a:r>
              <a:rPr b="1" i="0" lang="en" sz="1100" u="none" cap="none" strike="noStrike">
                <a:solidFill>
                  <a:srgbClr val="000000"/>
                </a:solidFill>
                <a:latin typeface="Arial"/>
                <a:ea typeface="Arial"/>
                <a:cs typeface="Arial"/>
                <a:sym typeface="Arial"/>
              </a:rPr>
              <a:t> - Ameen Aghazadeh</a:t>
            </a:r>
            <a:endParaRPr sz="700"/>
          </a:p>
          <a:p>
            <a:pPr indent="0" lvl="0" marL="0" marR="0" rtl="0" algn="l">
              <a:lnSpc>
                <a:spcPct val="140009"/>
              </a:lnSpc>
              <a:spcBef>
                <a:spcPts val="0"/>
              </a:spcBef>
              <a:spcAft>
                <a:spcPts val="0"/>
              </a:spcAft>
              <a:buNone/>
            </a:pPr>
            <a:r>
              <a:rPr b="1" i="0" lang="en" sz="1100" u="none" cap="none" strike="noStrike">
                <a:solidFill>
                  <a:srgbClr val="000000"/>
                </a:solidFill>
                <a:latin typeface="Arial"/>
                <a:ea typeface="Arial"/>
                <a:cs typeface="Arial"/>
                <a:sym typeface="Arial"/>
              </a:rPr>
              <a:t> </a:t>
            </a:r>
            <a:endParaRPr sz="700"/>
          </a:p>
          <a:p>
            <a:pPr indent="0" lvl="0" marL="0" marR="0" rtl="0" algn="ctr">
              <a:lnSpc>
                <a:spcPct val="133518"/>
              </a:lnSpc>
              <a:spcBef>
                <a:spcPts val="0"/>
              </a:spcBef>
              <a:spcAft>
                <a:spcPts val="0"/>
              </a:spcAft>
              <a:buNone/>
            </a:pPr>
            <a:r>
              <a:t/>
            </a:r>
            <a:endParaRPr b="1" i="0" sz="11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grpSp>
        <p:nvGrpSpPr>
          <p:cNvPr id="146" name="Google Shape;146;p26"/>
          <p:cNvGrpSpPr/>
          <p:nvPr/>
        </p:nvGrpSpPr>
        <p:grpSpPr>
          <a:xfrm>
            <a:off x="514400" y="2006875"/>
            <a:ext cx="2884838" cy="3184184"/>
            <a:chOff x="0" y="-47625"/>
            <a:chExt cx="1488104" cy="1600173"/>
          </a:xfrm>
        </p:grpSpPr>
        <p:sp>
          <p:nvSpPr>
            <p:cNvPr id="147" name="Google Shape;147;p26"/>
            <p:cNvSpPr/>
            <p:nvPr/>
          </p:nvSpPr>
          <p:spPr>
            <a:xfrm>
              <a:off x="0" y="0"/>
              <a:ext cx="1488104" cy="1552548"/>
            </a:xfrm>
            <a:custGeom>
              <a:rect b="b" l="l" r="r" t="t"/>
              <a:pathLst>
                <a:path extrusionOk="0" h="1552548" w="1488104">
                  <a:moveTo>
                    <a:pt x="0" y="0"/>
                  </a:moveTo>
                  <a:lnTo>
                    <a:pt x="1488104" y="0"/>
                  </a:lnTo>
                  <a:lnTo>
                    <a:pt x="1488104" y="1552548"/>
                  </a:lnTo>
                  <a:lnTo>
                    <a:pt x="0" y="1552548"/>
                  </a:lnTo>
                  <a:close/>
                </a:path>
              </a:pathLst>
            </a:custGeom>
            <a:solidFill>
              <a:srgbClr val="E1EDFC"/>
            </a:solidFill>
            <a:ln>
              <a:noFill/>
            </a:ln>
          </p:spPr>
        </p:sp>
        <p:sp>
          <p:nvSpPr>
            <p:cNvPr id="148" name="Google Shape;148;p26"/>
            <p:cNvSpPr txBox="1"/>
            <p:nvPr/>
          </p:nvSpPr>
          <p:spPr>
            <a:xfrm>
              <a:off x="0" y="-47625"/>
              <a:ext cx="1488104"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9" name="Google Shape;149;p26"/>
          <p:cNvSpPr/>
          <p:nvPr/>
        </p:nvSpPr>
        <p:spPr>
          <a:xfrm>
            <a:off x="6551539" y="4702245"/>
            <a:ext cx="1381960" cy="441256"/>
          </a:xfrm>
          <a:custGeom>
            <a:rect b="b" l="l" r="r" t="t"/>
            <a:pathLst>
              <a:path extrusionOk="0" h="882511" w="2763919">
                <a:moveTo>
                  <a:pt x="0" y="0"/>
                </a:moveTo>
                <a:lnTo>
                  <a:pt x="2763919" y="0"/>
                </a:lnTo>
                <a:lnTo>
                  <a:pt x="2763919" y="882511"/>
                </a:lnTo>
                <a:lnTo>
                  <a:pt x="0" y="882511"/>
                </a:lnTo>
                <a:lnTo>
                  <a:pt x="0" y="0"/>
                </a:lnTo>
                <a:close/>
              </a:path>
            </a:pathLst>
          </a:custGeom>
          <a:blipFill rotWithShape="1">
            <a:blip r:embed="rId3">
              <a:alphaModFix/>
            </a:blip>
            <a:stretch>
              <a:fillRect b="0" l="0" r="0" t="0"/>
            </a:stretch>
          </a:blipFill>
          <a:ln>
            <a:noFill/>
          </a:ln>
        </p:spPr>
      </p:sp>
      <p:sp>
        <p:nvSpPr>
          <p:cNvPr id="150" name="Google Shape;150;p26"/>
          <p:cNvSpPr/>
          <p:nvPr/>
        </p:nvSpPr>
        <p:spPr>
          <a:xfrm>
            <a:off x="7367014" y="3366514"/>
            <a:ext cx="2525272" cy="2525272"/>
          </a:xfrm>
          <a:custGeom>
            <a:rect b="b" l="l" r="r" t="t"/>
            <a:pathLst>
              <a:path extrusionOk="0" h="5050544" w="5050544">
                <a:moveTo>
                  <a:pt x="0" y="0"/>
                </a:moveTo>
                <a:lnTo>
                  <a:pt x="5050544" y="0"/>
                </a:lnTo>
                <a:lnTo>
                  <a:pt x="5050544" y="5050544"/>
                </a:lnTo>
                <a:lnTo>
                  <a:pt x="0" y="5050544"/>
                </a:lnTo>
                <a:lnTo>
                  <a:pt x="0" y="0"/>
                </a:lnTo>
                <a:close/>
              </a:path>
            </a:pathLst>
          </a:custGeom>
          <a:blipFill rotWithShape="1">
            <a:blip r:embed="rId4">
              <a:alphaModFix/>
            </a:blip>
            <a:stretch>
              <a:fillRect b="0" l="0" r="0" t="0"/>
            </a:stretch>
          </a:blipFill>
          <a:ln>
            <a:noFill/>
          </a:ln>
        </p:spPr>
      </p:sp>
      <p:sp>
        <p:nvSpPr>
          <p:cNvPr id="151" name="Google Shape;151;p26"/>
          <p:cNvSpPr/>
          <p:nvPr/>
        </p:nvSpPr>
        <p:spPr>
          <a:xfrm>
            <a:off x="8242442" y="1293631"/>
            <a:ext cx="512564" cy="512564"/>
          </a:xfrm>
          <a:custGeom>
            <a:rect b="b" l="l" r="r" t="t"/>
            <a:pathLst>
              <a:path extrusionOk="0" h="1025128" w="1025128">
                <a:moveTo>
                  <a:pt x="0" y="0"/>
                </a:moveTo>
                <a:lnTo>
                  <a:pt x="1025128" y="0"/>
                </a:lnTo>
                <a:lnTo>
                  <a:pt x="1025128" y="1025128"/>
                </a:lnTo>
                <a:lnTo>
                  <a:pt x="0" y="1025128"/>
                </a:lnTo>
                <a:lnTo>
                  <a:pt x="0" y="0"/>
                </a:lnTo>
                <a:close/>
              </a:path>
            </a:pathLst>
          </a:custGeom>
          <a:blipFill rotWithShape="1">
            <a:blip r:embed="rId4">
              <a:alphaModFix/>
            </a:blip>
            <a:stretch>
              <a:fillRect b="0" l="0" r="0" t="0"/>
            </a:stretch>
          </a:blipFill>
          <a:ln>
            <a:noFill/>
          </a:ln>
        </p:spPr>
      </p:sp>
      <p:sp>
        <p:nvSpPr>
          <p:cNvPr id="152" name="Google Shape;152;p26"/>
          <p:cNvSpPr/>
          <p:nvPr/>
        </p:nvSpPr>
        <p:spPr>
          <a:xfrm>
            <a:off x="7631624" y="1438815"/>
            <a:ext cx="741744" cy="229267"/>
          </a:xfrm>
          <a:custGeom>
            <a:rect b="b" l="l" r="r" t="t"/>
            <a:pathLst>
              <a:path extrusionOk="0" h="458533" w="1483489">
                <a:moveTo>
                  <a:pt x="0" y="0"/>
                </a:moveTo>
                <a:lnTo>
                  <a:pt x="1483489" y="0"/>
                </a:lnTo>
                <a:lnTo>
                  <a:pt x="1483489" y="458533"/>
                </a:lnTo>
                <a:lnTo>
                  <a:pt x="0" y="458533"/>
                </a:lnTo>
                <a:lnTo>
                  <a:pt x="0" y="0"/>
                </a:lnTo>
                <a:close/>
              </a:path>
            </a:pathLst>
          </a:custGeom>
          <a:blipFill rotWithShape="1">
            <a:blip r:embed="rId5">
              <a:alphaModFix/>
            </a:blip>
            <a:stretch>
              <a:fillRect b="0" l="0" r="0" t="0"/>
            </a:stretch>
          </a:blipFill>
          <a:ln>
            <a:noFill/>
          </a:ln>
        </p:spPr>
      </p:sp>
      <p:sp>
        <p:nvSpPr>
          <p:cNvPr id="153" name="Google Shape;153;p26"/>
          <p:cNvSpPr/>
          <p:nvPr/>
        </p:nvSpPr>
        <p:spPr>
          <a:xfrm>
            <a:off x="429650" y="1147625"/>
            <a:ext cx="3034727" cy="1362099"/>
          </a:xfrm>
          <a:custGeom>
            <a:rect b="b" l="l" r="r" t="t"/>
            <a:pathLst>
              <a:path extrusionOk="0" h="2724197" w="5646004">
                <a:moveTo>
                  <a:pt x="0" y="0"/>
                </a:moveTo>
                <a:lnTo>
                  <a:pt x="5646004" y="0"/>
                </a:lnTo>
                <a:lnTo>
                  <a:pt x="5646004" y="2724197"/>
                </a:lnTo>
                <a:lnTo>
                  <a:pt x="0" y="2724197"/>
                </a:lnTo>
                <a:lnTo>
                  <a:pt x="0" y="0"/>
                </a:lnTo>
                <a:close/>
              </a:path>
            </a:pathLst>
          </a:custGeom>
          <a:blipFill rotWithShape="1">
            <a:blip r:embed="rId6">
              <a:alphaModFix/>
            </a:blip>
            <a:stretch>
              <a:fillRect b="-16146" l="-624" r="-450" t="-33421"/>
            </a:stretch>
          </a:blipFill>
          <a:ln>
            <a:noFill/>
          </a:ln>
        </p:spPr>
      </p:sp>
      <p:grpSp>
        <p:nvGrpSpPr>
          <p:cNvPr id="154" name="Google Shape;154;p26"/>
          <p:cNvGrpSpPr/>
          <p:nvPr/>
        </p:nvGrpSpPr>
        <p:grpSpPr>
          <a:xfrm>
            <a:off x="3264234" y="979752"/>
            <a:ext cx="609025" cy="627758"/>
            <a:chOff x="0" y="0"/>
            <a:chExt cx="788546" cy="812800"/>
          </a:xfrm>
        </p:grpSpPr>
        <p:sp>
          <p:nvSpPr>
            <p:cNvPr id="155" name="Google Shape;155;p26"/>
            <p:cNvSpPr/>
            <p:nvPr/>
          </p:nvSpPr>
          <p:spPr>
            <a:xfrm>
              <a:off x="0" y="0"/>
              <a:ext cx="788546" cy="812800"/>
            </a:xfrm>
            <a:custGeom>
              <a:rect b="b" l="l" r="r" t="t"/>
              <a:pathLst>
                <a:path extrusionOk="0" h="812800" w="788546">
                  <a:moveTo>
                    <a:pt x="394273" y="0"/>
                  </a:moveTo>
                  <a:cubicBezTo>
                    <a:pt x="176522" y="0"/>
                    <a:pt x="0" y="181951"/>
                    <a:pt x="0" y="406400"/>
                  </a:cubicBezTo>
                  <a:cubicBezTo>
                    <a:pt x="0" y="630849"/>
                    <a:pt x="176522" y="812800"/>
                    <a:pt x="394273" y="812800"/>
                  </a:cubicBezTo>
                  <a:cubicBezTo>
                    <a:pt x="612024" y="812800"/>
                    <a:pt x="788546" y="630849"/>
                    <a:pt x="788546" y="406400"/>
                  </a:cubicBezTo>
                  <a:cubicBezTo>
                    <a:pt x="788546" y="181951"/>
                    <a:pt x="612024" y="0"/>
                    <a:pt x="394273"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6" name="Google Shape;156;p26"/>
            <p:cNvSpPr txBox="1"/>
            <p:nvPr/>
          </p:nvSpPr>
          <p:spPr>
            <a:xfrm>
              <a:off x="73926" y="28575"/>
              <a:ext cx="640694"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7" name="Google Shape;157;p26"/>
          <p:cNvSpPr/>
          <p:nvPr/>
        </p:nvSpPr>
        <p:spPr>
          <a:xfrm>
            <a:off x="3471081" y="1147618"/>
            <a:ext cx="195332" cy="292026"/>
          </a:xfrm>
          <a:custGeom>
            <a:rect b="b" l="l" r="r" t="t"/>
            <a:pathLst>
              <a:path extrusionOk="0" h="584053" w="390663">
                <a:moveTo>
                  <a:pt x="0" y="0"/>
                </a:moveTo>
                <a:lnTo>
                  <a:pt x="390662" y="0"/>
                </a:lnTo>
                <a:lnTo>
                  <a:pt x="390662" y="584053"/>
                </a:lnTo>
                <a:lnTo>
                  <a:pt x="0" y="584053"/>
                </a:lnTo>
                <a:lnTo>
                  <a:pt x="0" y="0"/>
                </a:lnTo>
                <a:close/>
              </a:path>
            </a:pathLst>
          </a:custGeom>
          <a:blipFill rotWithShape="1">
            <a:blip r:embed="rId7">
              <a:alphaModFix/>
            </a:blip>
            <a:stretch>
              <a:fillRect b="0" l="0" r="0" t="0"/>
            </a:stretch>
          </a:blipFill>
          <a:ln>
            <a:noFill/>
          </a:ln>
        </p:spPr>
      </p:sp>
      <p:sp>
        <p:nvSpPr>
          <p:cNvPr id="158" name="Google Shape;158;p26"/>
          <p:cNvSpPr txBox="1"/>
          <p:nvPr/>
        </p:nvSpPr>
        <p:spPr>
          <a:xfrm>
            <a:off x="3779175" y="1941025"/>
            <a:ext cx="4856100" cy="1736400"/>
          </a:xfrm>
          <a:prstGeom prst="rect">
            <a:avLst/>
          </a:prstGeom>
          <a:noFill/>
          <a:ln>
            <a:noFill/>
          </a:ln>
        </p:spPr>
        <p:txBody>
          <a:bodyPr anchorCtr="0" anchor="t" bIns="0" lIns="0" spcFirstLastPara="1" rIns="0" wrap="square" tIns="0">
            <a:spAutoFit/>
          </a:bodyPr>
          <a:lstStyle/>
          <a:p>
            <a:pPr indent="-127000" lvl="1" marL="254000" marR="0" rtl="0" algn="just">
              <a:lnSpc>
                <a:spcPct val="140000"/>
              </a:lnSpc>
              <a:spcBef>
                <a:spcPts val="0"/>
              </a:spcBef>
              <a:spcAft>
                <a:spcPts val="0"/>
              </a:spcAft>
              <a:buClr>
                <a:srgbClr val="021828"/>
              </a:buClr>
              <a:buSzPts val="1200"/>
              <a:buFont typeface="Arial"/>
              <a:buChar char="•"/>
            </a:pPr>
            <a:r>
              <a:rPr b="1" i="0" lang="en" sz="1200" u="none" cap="none" strike="noStrike">
                <a:solidFill>
                  <a:srgbClr val="021828"/>
                </a:solidFill>
                <a:latin typeface="Arial"/>
                <a:ea typeface="Arial"/>
                <a:cs typeface="Arial"/>
                <a:sym typeface="Arial"/>
              </a:rPr>
              <a:t>Inspired by  </a:t>
            </a:r>
            <a:r>
              <a:rPr b="1" i="0" lang="en" sz="1200" u="sng" cap="none" strike="noStrike">
                <a:solidFill>
                  <a:srgbClr val="021828"/>
                </a:solidFill>
                <a:latin typeface="Arial"/>
                <a:ea typeface="Arial"/>
                <a:cs typeface="Arial"/>
                <a:sym typeface="Arial"/>
              </a:rPr>
              <a:t>Kaggle Competition</a:t>
            </a:r>
            <a:r>
              <a:rPr b="1" i="0" lang="en" sz="1200" u="none" cap="none" strike="noStrike">
                <a:solidFill>
                  <a:srgbClr val="021828"/>
                </a:solidFill>
                <a:latin typeface="Arial"/>
                <a:ea typeface="Arial"/>
                <a:cs typeface="Arial"/>
                <a:sym typeface="Arial"/>
              </a:rPr>
              <a:t> on Post-Hematopoietic Cell Transplantation (HCT) survival predictions</a:t>
            </a:r>
            <a:endParaRPr sz="700"/>
          </a:p>
          <a:p>
            <a:pPr indent="0" lvl="0" marL="0" marR="0" rtl="0" algn="just">
              <a:lnSpc>
                <a:spcPct val="140000"/>
              </a:lnSpc>
              <a:spcBef>
                <a:spcPts val="0"/>
              </a:spcBef>
              <a:spcAft>
                <a:spcPts val="0"/>
              </a:spcAft>
              <a:buNone/>
            </a:pPr>
            <a:r>
              <a:t/>
            </a:r>
            <a:endParaRPr b="1" i="0" sz="1200" u="none" cap="none" strike="noStrike">
              <a:solidFill>
                <a:srgbClr val="021828"/>
              </a:solidFill>
              <a:latin typeface="Arial"/>
              <a:ea typeface="Arial"/>
              <a:cs typeface="Arial"/>
              <a:sym typeface="Arial"/>
            </a:endParaRPr>
          </a:p>
          <a:p>
            <a:pPr indent="-127000" lvl="1" marL="254000" marR="0" rtl="0" algn="just">
              <a:lnSpc>
                <a:spcPct val="140000"/>
              </a:lnSpc>
              <a:spcBef>
                <a:spcPts val="0"/>
              </a:spcBef>
              <a:spcAft>
                <a:spcPts val="0"/>
              </a:spcAft>
              <a:buClr>
                <a:srgbClr val="021828"/>
              </a:buClr>
              <a:buSzPts val="1200"/>
              <a:buFont typeface="Arial"/>
              <a:buChar char="•"/>
            </a:pPr>
            <a:r>
              <a:rPr b="1" lang="en" sz="1200">
                <a:solidFill>
                  <a:srgbClr val="021828"/>
                </a:solidFill>
              </a:rPr>
              <a:t>Our objective is to identify the factors that most significantly affect survival outcomes post-transplant, which can help tailor treatment plans and improve patient prognosis.</a:t>
            </a:r>
            <a:endParaRPr sz="700"/>
          </a:p>
          <a:p>
            <a:pPr indent="0" lvl="0" marL="0" marR="0" rtl="0" algn="just">
              <a:lnSpc>
                <a:spcPct val="128333"/>
              </a:lnSpc>
              <a:spcBef>
                <a:spcPts val="0"/>
              </a:spcBef>
              <a:spcAft>
                <a:spcPts val="0"/>
              </a:spcAft>
              <a:buNone/>
            </a:pPr>
            <a:r>
              <a:t/>
            </a:r>
            <a:endParaRPr b="1" i="0" sz="1200" u="none" cap="none" strike="noStrike">
              <a:solidFill>
                <a:srgbClr val="021828"/>
              </a:solidFill>
              <a:latin typeface="Arial"/>
              <a:ea typeface="Arial"/>
              <a:cs typeface="Arial"/>
              <a:sym typeface="Arial"/>
            </a:endParaRPr>
          </a:p>
        </p:txBody>
      </p:sp>
      <p:sp>
        <p:nvSpPr>
          <p:cNvPr id="159" name="Google Shape;159;p26"/>
          <p:cNvSpPr txBox="1"/>
          <p:nvPr/>
        </p:nvSpPr>
        <p:spPr>
          <a:xfrm>
            <a:off x="4014881" y="1004745"/>
            <a:ext cx="2452492" cy="548704"/>
          </a:xfrm>
          <a:prstGeom prst="rect">
            <a:avLst/>
          </a:prstGeom>
          <a:noFill/>
          <a:ln>
            <a:noFill/>
          </a:ln>
        </p:spPr>
        <p:txBody>
          <a:bodyPr anchorCtr="0" anchor="t" bIns="0" lIns="0" spcFirstLastPara="1" rIns="0" wrap="square" tIns="0">
            <a:spAutoFit/>
          </a:bodyPr>
          <a:lstStyle/>
          <a:p>
            <a:pPr indent="0" lvl="0" marL="0" marR="0" rtl="0" algn="l">
              <a:lnSpc>
                <a:spcPct val="127004"/>
              </a:lnSpc>
              <a:spcBef>
                <a:spcPts val="0"/>
              </a:spcBef>
              <a:spcAft>
                <a:spcPts val="0"/>
              </a:spcAft>
              <a:buNone/>
            </a:pPr>
            <a:r>
              <a:rPr b="1" i="0" lang="en" sz="3100" u="none" cap="none" strike="noStrike">
                <a:solidFill>
                  <a:srgbClr val="0E2F5F"/>
                </a:solidFill>
                <a:latin typeface="Arial"/>
                <a:ea typeface="Arial"/>
                <a:cs typeface="Arial"/>
                <a:sym typeface="Arial"/>
              </a:rPr>
              <a:t>Overview</a:t>
            </a:r>
            <a:endParaRPr sz="700"/>
          </a:p>
        </p:txBody>
      </p:sp>
      <p:sp>
        <p:nvSpPr>
          <p:cNvPr id="160" name="Google Shape;160;p26"/>
          <p:cNvSpPr txBox="1"/>
          <p:nvPr/>
        </p:nvSpPr>
        <p:spPr>
          <a:xfrm>
            <a:off x="514350" y="2675550"/>
            <a:ext cx="2825100" cy="2181000"/>
          </a:xfrm>
          <a:prstGeom prst="rect">
            <a:avLst/>
          </a:prstGeom>
          <a:noFill/>
          <a:ln>
            <a:noFill/>
          </a:ln>
        </p:spPr>
        <p:txBody>
          <a:bodyPr anchorCtr="0" anchor="t" bIns="0" lIns="0" spcFirstLastPara="1" rIns="0" wrap="square" tIns="0">
            <a:spAutoFit/>
          </a:bodyPr>
          <a:lstStyle/>
          <a:p>
            <a:pPr indent="0" lvl="0" marL="0" marR="0" rtl="0" algn="ctr">
              <a:lnSpc>
                <a:spcPct val="140049"/>
              </a:lnSpc>
              <a:spcBef>
                <a:spcPts val="0"/>
              </a:spcBef>
              <a:spcAft>
                <a:spcPts val="0"/>
              </a:spcAft>
              <a:buNone/>
            </a:pPr>
            <a:r>
              <a:rPr b="1" i="0" lang="en" sz="1200" cap="none" strike="noStrike">
                <a:solidFill>
                  <a:srgbClr val="000000"/>
                </a:solidFill>
                <a:latin typeface="Arial"/>
                <a:ea typeface="Arial"/>
                <a:cs typeface="Arial"/>
                <a:sym typeface="Arial"/>
              </a:rPr>
              <a:t>What is Hematopoietic Stem Cell Transplantation ?</a:t>
            </a:r>
            <a:endParaRPr b="1" sz="1200"/>
          </a:p>
          <a:p>
            <a:pPr indent="-101600" lvl="1" marL="215900" marR="0" rtl="0" algn="l">
              <a:lnSpc>
                <a:spcPct val="140127"/>
              </a:lnSpc>
              <a:spcBef>
                <a:spcPts val="0"/>
              </a:spcBef>
              <a:spcAft>
                <a:spcPts val="0"/>
              </a:spcAft>
              <a:buClr>
                <a:srgbClr val="000000"/>
              </a:buClr>
              <a:buSzPts val="1000"/>
              <a:buFont typeface="Arial"/>
              <a:buChar char="•"/>
            </a:pPr>
            <a:r>
              <a:rPr b="1" i="0" lang="en" sz="1000" u="none" cap="none" strike="noStrike">
                <a:solidFill>
                  <a:srgbClr val="000000"/>
                </a:solidFill>
                <a:latin typeface="Arial"/>
                <a:ea typeface="Arial"/>
                <a:cs typeface="Arial"/>
                <a:sym typeface="Arial"/>
              </a:rPr>
              <a:t>HCT is a medical procedure that replaces damaged or diseased blood-forming cells with healthy ones</a:t>
            </a:r>
            <a:endParaRPr sz="700"/>
          </a:p>
          <a:p>
            <a:pPr indent="0" lvl="0" marL="0" marR="0" rtl="0" algn="l">
              <a:lnSpc>
                <a:spcPct val="140058"/>
              </a:lnSpc>
              <a:spcBef>
                <a:spcPts val="0"/>
              </a:spcBef>
              <a:spcAft>
                <a:spcPts val="0"/>
              </a:spcAft>
              <a:buNone/>
            </a:pPr>
            <a:r>
              <a:t/>
            </a:r>
            <a:endParaRPr b="1" i="0" sz="1000" u="none" cap="none" strike="noStrike">
              <a:solidFill>
                <a:srgbClr val="000000"/>
              </a:solidFill>
              <a:latin typeface="Arial"/>
              <a:ea typeface="Arial"/>
              <a:cs typeface="Arial"/>
              <a:sym typeface="Arial"/>
            </a:endParaRPr>
          </a:p>
          <a:p>
            <a:pPr indent="-101600" lvl="1" marL="215900" marR="0" rtl="0" algn="l">
              <a:lnSpc>
                <a:spcPct val="140127"/>
              </a:lnSpc>
              <a:spcBef>
                <a:spcPts val="0"/>
              </a:spcBef>
              <a:spcAft>
                <a:spcPts val="0"/>
              </a:spcAft>
              <a:buClr>
                <a:srgbClr val="000000"/>
              </a:buClr>
              <a:buSzPts val="1000"/>
              <a:buFont typeface="Arial"/>
              <a:buChar char="•"/>
            </a:pPr>
            <a:r>
              <a:rPr b="1" i="0" lang="en" sz="1000" u="none" cap="none" strike="noStrike">
                <a:solidFill>
                  <a:srgbClr val="000000"/>
                </a:solidFill>
                <a:latin typeface="Arial"/>
                <a:ea typeface="Arial"/>
                <a:cs typeface="Arial"/>
                <a:sym typeface="Arial"/>
              </a:rPr>
              <a:t>This procedure is vital for treating hematological diseases such as leukemia, lymphoma, and certain blood disorders.</a:t>
            </a:r>
            <a:endParaRPr sz="700"/>
          </a:p>
          <a:p>
            <a:pPr indent="0" lvl="0" marL="0" marR="0" rtl="0" algn="ctr">
              <a:lnSpc>
                <a:spcPct val="126380"/>
              </a:lnSpc>
              <a:spcBef>
                <a:spcPts val="0"/>
              </a:spcBef>
              <a:spcAft>
                <a:spcPts val="0"/>
              </a:spcAft>
              <a:buNone/>
            </a:pPr>
            <a:r>
              <a:t/>
            </a:r>
            <a:endParaRPr b="1" i="0" sz="1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grpSp>
        <p:nvGrpSpPr>
          <p:cNvPr id="165" name="Google Shape;165;p27"/>
          <p:cNvGrpSpPr/>
          <p:nvPr/>
        </p:nvGrpSpPr>
        <p:grpSpPr>
          <a:xfrm>
            <a:off x="468342" y="2850433"/>
            <a:ext cx="519137" cy="609110"/>
            <a:chOff x="0" y="-47625"/>
            <a:chExt cx="274792" cy="322417"/>
          </a:xfrm>
        </p:grpSpPr>
        <p:sp>
          <p:nvSpPr>
            <p:cNvPr id="166" name="Google Shape;166;p27"/>
            <p:cNvSpPr/>
            <p:nvPr/>
          </p:nvSpPr>
          <p:spPr>
            <a:xfrm>
              <a:off x="0" y="0"/>
              <a:ext cx="274792" cy="274792"/>
            </a:xfrm>
            <a:custGeom>
              <a:rect b="b" l="l" r="r" t="t"/>
              <a:pathLst>
                <a:path extrusionOk="0" h="274792" w="274792">
                  <a:moveTo>
                    <a:pt x="74566" y="0"/>
                  </a:moveTo>
                  <a:lnTo>
                    <a:pt x="200226" y="0"/>
                  </a:lnTo>
                  <a:cubicBezTo>
                    <a:pt x="220002" y="0"/>
                    <a:pt x="238968" y="7856"/>
                    <a:pt x="252952" y="21840"/>
                  </a:cubicBezTo>
                  <a:cubicBezTo>
                    <a:pt x="266936" y="35824"/>
                    <a:pt x="274792" y="54790"/>
                    <a:pt x="274792" y="74566"/>
                  </a:cubicBezTo>
                  <a:lnTo>
                    <a:pt x="274792" y="200226"/>
                  </a:lnTo>
                  <a:cubicBezTo>
                    <a:pt x="274792" y="220002"/>
                    <a:pt x="266936" y="238968"/>
                    <a:pt x="252952" y="252952"/>
                  </a:cubicBezTo>
                  <a:cubicBezTo>
                    <a:pt x="238968" y="266936"/>
                    <a:pt x="220002" y="274792"/>
                    <a:pt x="200226" y="274792"/>
                  </a:cubicBezTo>
                  <a:lnTo>
                    <a:pt x="74566" y="274792"/>
                  </a:lnTo>
                  <a:cubicBezTo>
                    <a:pt x="54790" y="274792"/>
                    <a:pt x="35824" y="266936"/>
                    <a:pt x="21840" y="252952"/>
                  </a:cubicBezTo>
                  <a:cubicBezTo>
                    <a:pt x="7856" y="238968"/>
                    <a:pt x="0" y="220002"/>
                    <a:pt x="0" y="200226"/>
                  </a:cubicBezTo>
                  <a:lnTo>
                    <a:pt x="0" y="74566"/>
                  </a:lnTo>
                  <a:cubicBezTo>
                    <a:pt x="0" y="54790"/>
                    <a:pt x="7856" y="35824"/>
                    <a:pt x="21840" y="21840"/>
                  </a:cubicBezTo>
                  <a:cubicBezTo>
                    <a:pt x="35824" y="7856"/>
                    <a:pt x="54790" y="0"/>
                    <a:pt x="74566"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7" name="Google Shape;167;p27"/>
            <p:cNvSpPr txBox="1"/>
            <p:nvPr/>
          </p:nvSpPr>
          <p:spPr>
            <a:xfrm>
              <a:off x="0" y="-47625"/>
              <a:ext cx="274792" cy="322417"/>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68" name="Google Shape;168;p27"/>
          <p:cNvGrpSpPr/>
          <p:nvPr/>
        </p:nvGrpSpPr>
        <p:grpSpPr>
          <a:xfrm>
            <a:off x="468342" y="3464113"/>
            <a:ext cx="519137" cy="609110"/>
            <a:chOff x="0" y="-47625"/>
            <a:chExt cx="274792" cy="322417"/>
          </a:xfrm>
        </p:grpSpPr>
        <p:sp>
          <p:nvSpPr>
            <p:cNvPr id="169" name="Google Shape;169;p27"/>
            <p:cNvSpPr/>
            <p:nvPr/>
          </p:nvSpPr>
          <p:spPr>
            <a:xfrm>
              <a:off x="0" y="0"/>
              <a:ext cx="274792" cy="274792"/>
            </a:xfrm>
            <a:custGeom>
              <a:rect b="b" l="l" r="r" t="t"/>
              <a:pathLst>
                <a:path extrusionOk="0" h="274792" w="274792">
                  <a:moveTo>
                    <a:pt x="74566" y="0"/>
                  </a:moveTo>
                  <a:lnTo>
                    <a:pt x="200226" y="0"/>
                  </a:lnTo>
                  <a:cubicBezTo>
                    <a:pt x="220002" y="0"/>
                    <a:pt x="238968" y="7856"/>
                    <a:pt x="252952" y="21840"/>
                  </a:cubicBezTo>
                  <a:cubicBezTo>
                    <a:pt x="266936" y="35824"/>
                    <a:pt x="274792" y="54790"/>
                    <a:pt x="274792" y="74566"/>
                  </a:cubicBezTo>
                  <a:lnTo>
                    <a:pt x="274792" y="200226"/>
                  </a:lnTo>
                  <a:cubicBezTo>
                    <a:pt x="274792" y="220002"/>
                    <a:pt x="266936" y="238968"/>
                    <a:pt x="252952" y="252952"/>
                  </a:cubicBezTo>
                  <a:cubicBezTo>
                    <a:pt x="238968" y="266936"/>
                    <a:pt x="220002" y="274792"/>
                    <a:pt x="200226" y="274792"/>
                  </a:cubicBezTo>
                  <a:lnTo>
                    <a:pt x="74566" y="274792"/>
                  </a:lnTo>
                  <a:cubicBezTo>
                    <a:pt x="54790" y="274792"/>
                    <a:pt x="35824" y="266936"/>
                    <a:pt x="21840" y="252952"/>
                  </a:cubicBezTo>
                  <a:cubicBezTo>
                    <a:pt x="7856" y="238968"/>
                    <a:pt x="0" y="220002"/>
                    <a:pt x="0" y="200226"/>
                  </a:cubicBezTo>
                  <a:lnTo>
                    <a:pt x="0" y="74566"/>
                  </a:lnTo>
                  <a:cubicBezTo>
                    <a:pt x="0" y="54790"/>
                    <a:pt x="7856" y="35824"/>
                    <a:pt x="21840" y="21840"/>
                  </a:cubicBezTo>
                  <a:cubicBezTo>
                    <a:pt x="35824" y="7856"/>
                    <a:pt x="54790" y="0"/>
                    <a:pt x="74566"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0" name="Google Shape;170;p27"/>
            <p:cNvSpPr txBox="1"/>
            <p:nvPr/>
          </p:nvSpPr>
          <p:spPr>
            <a:xfrm>
              <a:off x="0" y="-47625"/>
              <a:ext cx="274792" cy="322417"/>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71" name="Google Shape;171;p27"/>
          <p:cNvGrpSpPr/>
          <p:nvPr/>
        </p:nvGrpSpPr>
        <p:grpSpPr>
          <a:xfrm>
            <a:off x="468342" y="4077793"/>
            <a:ext cx="519137" cy="609110"/>
            <a:chOff x="0" y="-47625"/>
            <a:chExt cx="274792" cy="322417"/>
          </a:xfrm>
        </p:grpSpPr>
        <p:sp>
          <p:nvSpPr>
            <p:cNvPr id="172" name="Google Shape;172;p27"/>
            <p:cNvSpPr/>
            <p:nvPr/>
          </p:nvSpPr>
          <p:spPr>
            <a:xfrm>
              <a:off x="0" y="0"/>
              <a:ext cx="274792" cy="274792"/>
            </a:xfrm>
            <a:custGeom>
              <a:rect b="b" l="l" r="r" t="t"/>
              <a:pathLst>
                <a:path extrusionOk="0" h="274792" w="274792">
                  <a:moveTo>
                    <a:pt x="74566" y="0"/>
                  </a:moveTo>
                  <a:lnTo>
                    <a:pt x="200226" y="0"/>
                  </a:lnTo>
                  <a:cubicBezTo>
                    <a:pt x="220002" y="0"/>
                    <a:pt x="238968" y="7856"/>
                    <a:pt x="252952" y="21840"/>
                  </a:cubicBezTo>
                  <a:cubicBezTo>
                    <a:pt x="266936" y="35824"/>
                    <a:pt x="274792" y="54790"/>
                    <a:pt x="274792" y="74566"/>
                  </a:cubicBezTo>
                  <a:lnTo>
                    <a:pt x="274792" y="200226"/>
                  </a:lnTo>
                  <a:cubicBezTo>
                    <a:pt x="274792" y="220002"/>
                    <a:pt x="266936" y="238968"/>
                    <a:pt x="252952" y="252952"/>
                  </a:cubicBezTo>
                  <a:cubicBezTo>
                    <a:pt x="238968" y="266936"/>
                    <a:pt x="220002" y="274792"/>
                    <a:pt x="200226" y="274792"/>
                  </a:cubicBezTo>
                  <a:lnTo>
                    <a:pt x="74566" y="274792"/>
                  </a:lnTo>
                  <a:cubicBezTo>
                    <a:pt x="54790" y="274792"/>
                    <a:pt x="35824" y="266936"/>
                    <a:pt x="21840" y="252952"/>
                  </a:cubicBezTo>
                  <a:cubicBezTo>
                    <a:pt x="7856" y="238968"/>
                    <a:pt x="0" y="220002"/>
                    <a:pt x="0" y="200226"/>
                  </a:cubicBezTo>
                  <a:lnTo>
                    <a:pt x="0" y="74566"/>
                  </a:lnTo>
                  <a:cubicBezTo>
                    <a:pt x="0" y="54790"/>
                    <a:pt x="7856" y="35824"/>
                    <a:pt x="21840" y="21840"/>
                  </a:cubicBezTo>
                  <a:cubicBezTo>
                    <a:pt x="35824" y="7856"/>
                    <a:pt x="54790" y="0"/>
                    <a:pt x="74566"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3" name="Google Shape;173;p27"/>
            <p:cNvSpPr txBox="1"/>
            <p:nvPr/>
          </p:nvSpPr>
          <p:spPr>
            <a:xfrm>
              <a:off x="0" y="-47625"/>
              <a:ext cx="274792" cy="322417"/>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74" name="Google Shape;174;p27"/>
          <p:cNvGrpSpPr/>
          <p:nvPr/>
        </p:nvGrpSpPr>
        <p:grpSpPr>
          <a:xfrm>
            <a:off x="7433075" y="1196723"/>
            <a:ext cx="2414898" cy="3993552"/>
            <a:chOff x="0" y="-47625"/>
            <a:chExt cx="1272070" cy="1600173"/>
          </a:xfrm>
        </p:grpSpPr>
        <p:sp>
          <p:nvSpPr>
            <p:cNvPr id="175" name="Google Shape;175;p27"/>
            <p:cNvSpPr/>
            <p:nvPr/>
          </p:nvSpPr>
          <p:spPr>
            <a:xfrm>
              <a:off x="0" y="0"/>
              <a:ext cx="1272070" cy="1552548"/>
            </a:xfrm>
            <a:custGeom>
              <a:rect b="b" l="l" r="r" t="t"/>
              <a:pathLst>
                <a:path extrusionOk="0" h="1552548" w="1272070">
                  <a:moveTo>
                    <a:pt x="94572" y="0"/>
                  </a:moveTo>
                  <a:lnTo>
                    <a:pt x="1177498" y="0"/>
                  </a:lnTo>
                  <a:cubicBezTo>
                    <a:pt x="1229729" y="0"/>
                    <a:pt x="1272070" y="42341"/>
                    <a:pt x="1272070" y="94572"/>
                  </a:cubicBezTo>
                  <a:lnTo>
                    <a:pt x="1272070" y="1457976"/>
                  </a:lnTo>
                  <a:cubicBezTo>
                    <a:pt x="1272070" y="1483058"/>
                    <a:pt x="1262106" y="1507113"/>
                    <a:pt x="1244371" y="1524848"/>
                  </a:cubicBezTo>
                  <a:cubicBezTo>
                    <a:pt x="1226635" y="1542584"/>
                    <a:pt x="1202580" y="1552548"/>
                    <a:pt x="1177498" y="1552548"/>
                  </a:cubicBezTo>
                  <a:lnTo>
                    <a:pt x="94572" y="1552548"/>
                  </a:lnTo>
                  <a:cubicBezTo>
                    <a:pt x="69490" y="1552548"/>
                    <a:pt x="45435" y="1542584"/>
                    <a:pt x="27700" y="1524848"/>
                  </a:cubicBezTo>
                  <a:cubicBezTo>
                    <a:pt x="9964" y="1507113"/>
                    <a:pt x="0" y="1483058"/>
                    <a:pt x="0" y="1457976"/>
                  </a:cubicBezTo>
                  <a:lnTo>
                    <a:pt x="0" y="94572"/>
                  </a:lnTo>
                  <a:cubicBezTo>
                    <a:pt x="0" y="69490"/>
                    <a:pt x="9964" y="45435"/>
                    <a:pt x="27700" y="27700"/>
                  </a:cubicBezTo>
                  <a:cubicBezTo>
                    <a:pt x="45435" y="9964"/>
                    <a:pt x="69490" y="0"/>
                    <a:pt x="94572" y="0"/>
                  </a:cubicBezTo>
                  <a:close/>
                </a:path>
              </a:pathLst>
            </a:custGeom>
            <a:solidFill>
              <a:srgbClr val="E1EDF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6" name="Google Shape;176;p27"/>
            <p:cNvSpPr txBox="1"/>
            <p:nvPr/>
          </p:nvSpPr>
          <p:spPr>
            <a:xfrm>
              <a:off x="0" y="-47625"/>
              <a:ext cx="1272070"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77" name="Google Shape;177;p27"/>
          <p:cNvSpPr/>
          <p:nvPr/>
        </p:nvSpPr>
        <p:spPr>
          <a:xfrm>
            <a:off x="4302637" y="2850433"/>
            <a:ext cx="4719864" cy="2241577"/>
          </a:xfrm>
          <a:custGeom>
            <a:rect b="b" l="l" r="r" t="t"/>
            <a:pathLst>
              <a:path extrusionOk="0" h="959990" w="2021355">
                <a:moveTo>
                  <a:pt x="13119" y="0"/>
                </a:moveTo>
                <a:lnTo>
                  <a:pt x="2008237" y="0"/>
                </a:lnTo>
                <a:cubicBezTo>
                  <a:pt x="2011716" y="0"/>
                  <a:pt x="2015053" y="1382"/>
                  <a:pt x="2017513" y="3842"/>
                </a:cubicBezTo>
                <a:cubicBezTo>
                  <a:pt x="2019973" y="6303"/>
                  <a:pt x="2021355" y="9639"/>
                  <a:pt x="2021355" y="13119"/>
                </a:cubicBezTo>
                <a:lnTo>
                  <a:pt x="2021355" y="946871"/>
                </a:lnTo>
                <a:cubicBezTo>
                  <a:pt x="2021355" y="950351"/>
                  <a:pt x="2019973" y="953687"/>
                  <a:pt x="2017513" y="956148"/>
                </a:cubicBezTo>
                <a:cubicBezTo>
                  <a:pt x="2015053" y="958608"/>
                  <a:pt x="2011716" y="959990"/>
                  <a:pt x="2008237" y="959990"/>
                </a:cubicBezTo>
                <a:lnTo>
                  <a:pt x="13119" y="959990"/>
                </a:lnTo>
                <a:cubicBezTo>
                  <a:pt x="9639" y="959990"/>
                  <a:pt x="6303" y="958608"/>
                  <a:pt x="3842" y="956148"/>
                </a:cubicBezTo>
                <a:cubicBezTo>
                  <a:pt x="1382" y="953687"/>
                  <a:pt x="0" y="950351"/>
                  <a:pt x="0" y="946871"/>
                </a:cubicBezTo>
                <a:lnTo>
                  <a:pt x="0" y="13119"/>
                </a:lnTo>
                <a:cubicBezTo>
                  <a:pt x="0" y="9639"/>
                  <a:pt x="1382" y="6303"/>
                  <a:pt x="3842" y="3842"/>
                </a:cubicBezTo>
                <a:cubicBezTo>
                  <a:pt x="6303" y="1382"/>
                  <a:pt x="9639" y="0"/>
                  <a:pt x="13119" y="0"/>
                </a:cubicBezTo>
                <a:close/>
              </a:path>
            </a:pathLst>
          </a:custGeom>
          <a:blipFill rotWithShape="1">
            <a:blip r:embed="rId3">
              <a:alphaModFix/>
            </a:blip>
            <a:stretch>
              <a:fillRect b="0" l="-522" r="-522"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8" name="Google Shape;178;p27"/>
          <p:cNvSpPr/>
          <p:nvPr/>
        </p:nvSpPr>
        <p:spPr>
          <a:xfrm>
            <a:off x="7536276" y="1196727"/>
            <a:ext cx="613230" cy="189544"/>
          </a:xfrm>
          <a:custGeom>
            <a:rect b="b" l="l" r="r" t="t"/>
            <a:pathLst>
              <a:path extrusionOk="0" h="379088" w="1226460">
                <a:moveTo>
                  <a:pt x="0" y="0"/>
                </a:moveTo>
                <a:lnTo>
                  <a:pt x="1226459" y="0"/>
                </a:lnTo>
                <a:lnTo>
                  <a:pt x="1226459" y="379087"/>
                </a:lnTo>
                <a:lnTo>
                  <a:pt x="0" y="379087"/>
                </a:lnTo>
                <a:lnTo>
                  <a:pt x="0" y="0"/>
                </a:lnTo>
                <a:close/>
              </a:path>
            </a:pathLst>
          </a:custGeom>
          <a:blipFill rotWithShape="1">
            <a:blip r:embed="rId4">
              <a:alphaModFix/>
            </a:blip>
            <a:stretch>
              <a:fillRect b="0" l="0" r="0" t="0"/>
            </a:stretch>
          </a:blipFill>
          <a:ln>
            <a:noFill/>
          </a:ln>
        </p:spPr>
      </p:sp>
      <p:sp>
        <p:nvSpPr>
          <p:cNvPr id="179" name="Google Shape;179;p27"/>
          <p:cNvSpPr/>
          <p:nvPr/>
        </p:nvSpPr>
        <p:spPr>
          <a:xfrm>
            <a:off x="8149493" y="514350"/>
            <a:ext cx="480157" cy="480158"/>
          </a:xfrm>
          <a:custGeom>
            <a:rect b="b" l="l" r="r" t="t"/>
            <a:pathLst>
              <a:path extrusionOk="0" h="960315" w="960315">
                <a:moveTo>
                  <a:pt x="0" y="0"/>
                </a:moveTo>
                <a:lnTo>
                  <a:pt x="960315" y="0"/>
                </a:lnTo>
                <a:lnTo>
                  <a:pt x="960315" y="960315"/>
                </a:lnTo>
                <a:lnTo>
                  <a:pt x="0" y="960315"/>
                </a:lnTo>
                <a:lnTo>
                  <a:pt x="0" y="0"/>
                </a:lnTo>
                <a:close/>
              </a:path>
            </a:pathLst>
          </a:custGeom>
          <a:blipFill rotWithShape="1">
            <a:blip r:embed="rId5">
              <a:alphaModFix/>
            </a:blip>
            <a:stretch>
              <a:fillRect b="0" l="0" r="0" t="0"/>
            </a:stretch>
          </a:blipFill>
          <a:ln>
            <a:noFill/>
          </a:ln>
        </p:spPr>
      </p:sp>
      <p:grpSp>
        <p:nvGrpSpPr>
          <p:cNvPr id="180" name="Google Shape;180;p27"/>
          <p:cNvGrpSpPr/>
          <p:nvPr/>
        </p:nvGrpSpPr>
        <p:grpSpPr>
          <a:xfrm>
            <a:off x="254170" y="378269"/>
            <a:ext cx="630593" cy="649989"/>
            <a:chOff x="0" y="0"/>
            <a:chExt cx="788546" cy="812800"/>
          </a:xfrm>
        </p:grpSpPr>
        <p:sp>
          <p:nvSpPr>
            <p:cNvPr id="181" name="Google Shape;181;p27"/>
            <p:cNvSpPr/>
            <p:nvPr/>
          </p:nvSpPr>
          <p:spPr>
            <a:xfrm>
              <a:off x="0" y="0"/>
              <a:ext cx="788546" cy="812800"/>
            </a:xfrm>
            <a:custGeom>
              <a:rect b="b" l="l" r="r" t="t"/>
              <a:pathLst>
                <a:path extrusionOk="0" h="812800" w="788546">
                  <a:moveTo>
                    <a:pt x="394273" y="0"/>
                  </a:moveTo>
                  <a:cubicBezTo>
                    <a:pt x="176522" y="0"/>
                    <a:pt x="0" y="181951"/>
                    <a:pt x="0" y="406400"/>
                  </a:cubicBezTo>
                  <a:cubicBezTo>
                    <a:pt x="0" y="630849"/>
                    <a:pt x="176522" y="812800"/>
                    <a:pt x="394273" y="812800"/>
                  </a:cubicBezTo>
                  <a:cubicBezTo>
                    <a:pt x="612024" y="812800"/>
                    <a:pt x="788546" y="630849"/>
                    <a:pt x="788546" y="406400"/>
                  </a:cubicBezTo>
                  <a:cubicBezTo>
                    <a:pt x="788546" y="181951"/>
                    <a:pt x="612024" y="0"/>
                    <a:pt x="394273"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2" name="Google Shape;182;p27"/>
            <p:cNvSpPr txBox="1"/>
            <p:nvPr/>
          </p:nvSpPr>
          <p:spPr>
            <a:xfrm>
              <a:off x="73926" y="28575"/>
              <a:ext cx="640694"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83" name="Google Shape;183;p27"/>
          <p:cNvSpPr/>
          <p:nvPr/>
        </p:nvSpPr>
        <p:spPr>
          <a:xfrm>
            <a:off x="468342" y="552079"/>
            <a:ext cx="202249" cy="302368"/>
          </a:xfrm>
          <a:custGeom>
            <a:rect b="b" l="l" r="r" t="t"/>
            <a:pathLst>
              <a:path extrusionOk="0" h="604736" w="404497">
                <a:moveTo>
                  <a:pt x="0" y="0"/>
                </a:moveTo>
                <a:lnTo>
                  <a:pt x="404498" y="0"/>
                </a:lnTo>
                <a:lnTo>
                  <a:pt x="404498" y="604736"/>
                </a:lnTo>
                <a:lnTo>
                  <a:pt x="0" y="604736"/>
                </a:lnTo>
                <a:lnTo>
                  <a:pt x="0" y="0"/>
                </a:lnTo>
                <a:close/>
              </a:path>
            </a:pathLst>
          </a:custGeom>
          <a:blipFill rotWithShape="1">
            <a:blip r:embed="rId6">
              <a:alphaModFix/>
            </a:blip>
            <a:stretch>
              <a:fillRect b="0" l="0" r="0" t="0"/>
            </a:stretch>
          </a:blipFill>
          <a:ln>
            <a:noFill/>
          </a:ln>
        </p:spPr>
      </p:sp>
      <p:sp>
        <p:nvSpPr>
          <p:cNvPr id="184" name="Google Shape;184;p27"/>
          <p:cNvSpPr/>
          <p:nvPr/>
        </p:nvSpPr>
        <p:spPr>
          <a:xfrm>
            <a:off x="5667675" y="1459975"/>
            <a:ext cx="2281854" cy="1458890"/>
          </a:xfrm>
          <a:custGeom>
            <a:rect b="b" l="l" r="r" t="t"/>
            <a:pathLst>
              <a:path extrusionOk="0" h="2917780" w="4563708">
                <a:moveTo>
                  <a:pt x="0" y="0"/>
                </a:moveTo>
                <a:lnTo>
                  <a:pt x="4563707" y="0"/>
                </a:lnTo>
                <a:lnTo>
                  <a:pt x="4563707" y="2917781"/>
                </a:lnTo>
                <a:lnTo>
                  <a:pt x="0" y="2917781"/>
                </a:lnTo>
                <a:lnTo>
                  <a:pt x="0" y="0"/>
                </a:lnTo>
                <a:close/>
              </a:path>
            </a:pathLst>
          </a:custGeom>
          <a:blipFill rotWithShape="1">
            <a:blip r:embed="rId7">
              <a:alphaModFix/>
            </a:blip>
            <a:stretch>
              <a:fillRect b="-35051" l="-4720" r="-119285" t="-3698"/>
            </a:stretch>
          </a:blipFill>
          <a:ln>
            <a:noFill/>
          </a:ln>
        </p:spPr>
      </p:sp>
      <p:sp>
        <p:nvSpPr>
          <p:cNvPr id="185" name="Google Shape;185;p27"/>
          <p:cNvSpPr txBox="1"/>
          <p:nvPr/>
        </p:nvSpPr>
        <p:spPr>
          <a:xfrm>
            <a:off x="1036025" y="447675"/>
            <a:ext cx="6094500" cy="354000"/>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1" i="0" lang="en" sz="2300" u="none" cap="none" strike="noStrike">
                <a:solidFill>
                  <a:srgbClr val="0E2F5F"/>
                </a:solidFill>
                <a:latin typeface="Arial"/>
                <a:ea typeface="Arial"/>
                <a:cs typeface="Arial"/>
                <a:sym typeface="Arial"/>
              </a:rPr>
              <a:t>Performance Metric</a:t>
            </a:r>
            <a:r>
              <a:rPr b="1" lang="en" sz="2300">
                <a:solidFill>
                  <a:srgbClr val="0E2F5F"/>
                </a:solidFill>
              </a:rPr>
              <a:t> - Concordance Index</a:t>
            </a:r>
            <a:endParaRPr sz="500"/>
          </a:p>
        </p:txBody>
      </p:sp>
      <p:sp>
        <p:nvSpPr>
          <p:cNvPr id="186" name="Google Shape;186;p27"/>
          <p:cNvSpPr txBox="1"/>
          <p:nvPr/>
        </p:nvSpPr>
        <p:spPr>
          <a:xfrm>
            <a:off x="468350" y="2561325"/>
            <a:ext cx="4319700" cy="939000"/>
          </a:xfrm>
          <a:prstGeom prst="rect">
            <a:avLst/>
          </a:prstGeom>
          <a:noFill/>
          <a:ln>
            <a:noFill/>
          </a:ln>
        </p:spPr>
        <p:txBody>
          <a:bodyPr anchorCtr="0" anchor="t" bIns="0" lIns="0" spcFirstLastPara="1" rIns="0" wrap="square" tIns="0">
            <a:spAutoFit/>
          </a:bodyPr>
          <a:lstStyle/>
          <a:p>
            <a:pPr indent="0" lvl="0" marL="0" marR="0" rtl="0" algn="just">
              <a:lnSpc>
                <a:spcPct val="140042"/>
              </a:lnSpc>
              <a:spcBef>
                <a:spcPts val="0"/>
              </a:spcBef>
              <a:spcAft>
                <a:spcPts val="0"/>
              </a:spcAft>
              <a:buNone/>
            </a:pPr>
            <a:r>
              <a:rPr b="1" i="0" lang="en" sz="1200" u="none" cap="none" strike="noStrike">
                <a:solidFill>
                  <a:srgbClr val="021828"/>
                </a:solidFill>
                <a:latin typeface="Arial"/>
                <a:ea typeface="Arial"/>
                <a:cs typeface="Arial"/>
                <a:sym typeface="Arial"/>
              </a:rPr>
              <a:t>The concordance index is a value between 0 and 1 where:</a:t>
            </a:r>
            <a:endParaRPr sz="1200"/>
          </a:p>
          <a:p>
            <a:pPr indent="0" lvl="0" marL="0" marR="0" rtl="0" algn="just">
              <a:lnSpc>
                <a:spcPct val="140042"/>
              </a:lnSpc>
              <a:spcBef>
                <a:spcPts val="0"/>
              </a:spcBef>
              <a:spcAft>
                <a:spcPts val="0"/>
              </a:spcAft>
              <a:buNone/>
            </a:pPr>
            <a:r>
              <a:t/>
            </a:r>
            <a:endParaRPr b="1" i="0" sz="1200" u="none" cap="none" strike="noStrike">
              <a:solidFill>
                <a:srgbClr val="021828"/>
              </a:solidFill>
              <a:latin typeface="Arial"/>
              <a:ea typeface="Arial"/>
              <a:cs typeface="Arial"/>
              <a:sym typeface="Arial"/>
            </a:endParaRPr>
          </a:p>
          <a:p>
            <a:pPr indent="0" lvl="0" marL="0" marR="0" rtl="0" algn="just">
              <a:lnSpc>
                <a:spcPct val="128347"/>
              </a:lnSpc>
              <a:spcBef>
                <a:spcPts val="0"/>
              </a:spcBef>
              <a:spcAft>
                <a:spcPts val="0"/>
              </a:spcAft>
              <a:buNone/>
            </a:pPr>
            <a:r>
              <a:t/>
            </a:r>
            <a:endParaRPr b="1" i="0" sz="1200" u="none" cap="none" strike="noStrike">
              <a:solidFill>
                <a:srgbClr val="021828"/>
              </a:solidFill>
              <a:latin typeface="Arial"/>
              <a:ea typeface="Arial"/>
              <a:cs typeface="Arial"/>
              <a:sym typeface="Arial"/>
            </a:endParaRPr>
          </a:p>
          <a:p>
            <a:pPr indent="0" lvl="0" marL="0" marR="0" rtl="0" algn="just">
              <a:lnSpc>
                <a:spcPct val="128347"/>
              </a:lnSpc>
              <a:spcBef>
                <a:spcPts val="0"/>
              </a:spcBef>
              <a:spcAft>
                <a:spcPts val="0"/>
              </a:spcAft>
              <a:buNone/>
            </a:pPr>
            <a:r>
              <a:t/>
            </a:r>
            <a:endParaRPr b="1" i="0" sz="1200" u="none" cap="none" strike="noStrike">
              <a:solidFill>
                <a:srgbClr val="021828"/>
              </a:solidFill>
              <a:latin typeface="Arial"/>
              <a:ea typeface="Arial"/>
              <a:cs typeface="Arial"/>
              <a:sym typeface="Arial"/>
            </a:endParaRPr>
          </a:p>
        </p:txBody>
      </p:sp>
      <p:sp>
        <p:nvSpPr>
          <p:cNvPr id="187" name="Google Shape;187;p27"/>
          <p:cNvSpPr txBox="1"/>
          <p:nvPr/>
        </p:nvSpPr>
        <p:spPr>
          <a:xfrm>
            <a:off x="1124455" y="3018206"/>
            <a:ext cx="25491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 sz="1000" u="none" cap="none" strike="noStrike">
                <a:solidFill>
                  <a:srgbClr val="0E2F5F"/>
                </a:solidFill>
                <a:latin typeface="Bree Serif"/>
                <a:ea typeface="Bree Serif"/>
                <a:cs typeface="Bree Serif"/>
                <a:sym typeface="Bree Serif"/>
              </a:rPr>
              <a:t>is the expected result from random predictions</a:t>
            </a:r>
            <a:endParaRPr sz="700">
              <a:latin typeface="Bree Serif"/>
              <a:ea typeface="Bree Serif"/>
              <a:cs typeface="Bree Serif"/>
              <a:sym typeface="Bree Serif"/>
            </a:endParaRPr>
          </a:p>
        </p:txBody>
      </p:sp>
      <p:sp>
        <p:nvSpPr>
          <p:cNvPr id="188" name="Google Shape;188;p27"/>
          <p:cNvSpPr txBox="1"/>
          <p:nvPr/>
        </p:nvSpPr>
        <p:spPr>
          <a:xfrm>
            <a:off x="1124455" y="3631875"/>
            <a:ext cx="25491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 sz="1000" u="none" cap="none" strike="noStrike">
                <a:solidFill>
                  <a:srgbClr val="0E2F5F"/>
                </a:solidFill>
                <a:latin typeface="Bree Serif"/>
                <a:ea typeface="Bree Serif"/>
                <a:cs typeface="Bree Serif"/>
                <a:sym typeface="Bree Serif"/>
              </a:rPr>
              <a:t>is a perfect concordance : </a:t>
            </a:r>
            <a:r>
              <a:rPr b="1" lang="en" sz="1000">
                <a:solidFill>
                  <a:srgbClr val="0E2F5F"/>
                </a:solidFill>
                <a:latin typeface="Bree Serif"/>
                <a:ea typeface="Bree Serif"/>
                <a:cs typeface="Bree Serif"/>
                <a:sym typeface="Bree Serif"/>
              </a:rPr>
              <a:t>meaning the model can accurately rank all patients by risk.</a:t>
            </a:r>
            <a:endParaRPr sz="700">
              <a:latin typeface="Bree Serif"/>
              <a:ea typeface="Bree Serif"/>
              <a:cs typeface="Bree Serif"/>
              <a:sym typeface="Bree Serif"/>
            </a:endParaRPr>
          </a:p>
        </p:txBody>
      </p:sp>
      <p:sp>
        <p:nvSpPr>
          <p:cNvPr id="189" name="Google Shape;189;p27"/>
          <p:cNvSpPr txBox="1"/>
          <p:nvPr/>
        </p:nvSpPr>
        <p:spPr>
          <a:xfrm>
            <a:off x="1124455" y="4245567"/>
            <a:ext cx="25491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 sz="1000" u="none" cap="none" strike="noStrike">
                <a:solidFill>
                  <a:srgbClr val="0E2F5F"/>
                </a:solidFill>
                <a:latin typeface="Bree Serif"/>
                <a:ea typeface="Bree Serif"/>
                <a:cs typeface="Bree Serif"/>
                <a:sym typeface="Bree Serif"/>
              </a:rPr>
              <a:t>is perfect anti-concordance (multiply predictions with -1 to get 1.0)</a:t>
            </a:r>
            <a:endParaRPr sz="700">
              <a:latin typeface="Bree Serif"/>
              <a:ea typeface="Bree Serif"/>
              <a:cs typeface="Bree Serif"/>
              <a:sym typeface="Bree Serif"/>
            </a:endParaRPr>
          </a:p>
        </p:txBody>
      </p:sp>
      <p:sp>
        <p:nvSpPr>
          <p:cNvPr id="190" name="Google Shape;190;p27"/>
          <p:cNvSpPr txBox="1"/>
          <p:nvPr/>
        </p:nvSpPr>
        <p:spPr>
          <a:xfrm>
            <a:off x="468341" y="3056999"/>
            <a:ext cx="519000" cy="215400"/>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1" i="0" lang="en" sz="1400" u="none" cap="none" strike="noStrike">
                <a:solidFill>
                  <a:srgbClr val="FFFFFF"/>
                </a:solidFill>
                <a:latin typeface="Arial"/>
                <a:ea typeface="Arial"/>
                <a:cs typeface="Arial"/>
                <a:sym typeface="Arial"/>
              </a:rPr>
              <a:t>0.5</a:t>
            </a:r>
            <a:endParaRPr sz="700"/>
          </a:p>
        </p:txBody>
      </p:sp>
      <p:sp>
        <p:nvSpPr>
          <p:cNvPr id="191" name="Google Shape;191;p27"/>
          <p:cNvSpPr txBox="1"/>
          <p:nvPr/>
        </p:nvSpPr>
        <p:spPr>
          <a:xfrm>
            <a:off x="468341" y="3670679"/>
            <a:ext cx="519000" cy="215400"/>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1" i="0" lang="en" sz="1400" u="none" cap="none" strike="noStrike">
                <a:solidFill>
                  <a:srgbClr val="FFFFFF"/>
                </a:solidFill>
                <a:latin typeface="Arial"/>
                <a:ea typeface="Arial"/>
                <a:cs typeface="Arial"/>
                <a:sym typeface="Arial"/>
              </a:rPr>
              <a:t>1.0</a:t>
            </a:r>
            <a:endParaRPr sz="700"/>
          </a:p>
        </p:txBody>
      </p:sp>
      <p:sp>
        <p:nvSpPr>
          <p:cNvPr id="192" name="Google Shape;192;p27"/>
          <p:cNvSpPr txBox="1"/>
          <p:nvPr/>
        </p:nvSpPr>
        <p:spPr>
          <a:xfrm>
            <a:off x="468341" y="4286320"/>
            <a:ext cx="519000" cy="215400"/>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1" i="0" lang="en" sz="1400" u="none" cap="none" strike="noStrike">
                <a:solidFill>
                  <a:srgbClr val="FFFFFF"/>
                </a:solidFill>
                <a:latin typeface="Arial"/>
                <a:ea typeface="Arial"/>
                <a:cs typeface="Arial"/>
                <a:sym typeface="Arial"/>
              </a:rPr>
              <a:t>0.0</a:t>
            </a:r>
            <a:endParaRPr sz="700"/>
          </a:p>
        </p:txBody>
      </p:sp>
      <p:sp>
        <p:nvSpPr>
          <p:cNvPr id="193" name="Google Shape;193;p27"/>
          <p:cNvSpPr txBox="1"/>
          <p:nvPr/>
        </p:nvSpPr>
        <p:spPr>
          <a:xfrm>
            <a:off x="560475" y="1141200"/>
            <a:ext cx="5107200" cy="10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rPr>
              <a:t>C-index assesses the degree of agreement between the predicted risk scores generated by our model and the actual observed outcomes.</a:t>
            </a:r>
            <a:endParaRPr b="1" sz="1100">
              <a:solidFill>
                <a:schemeClr val="dk1"/>
              </a:solidFill>
            </a:endParaRPr>
          </a:p>
          <a:p>
            <a:pPr indent="0" lvl="0" marL="0" rtl="0" algn="l">
              <a:spcBef>
                <a:spcPts val="0"/>
              </a:spcBef>
              <a:spcAft>
                <a:spcPts val="0"/>
              </a:spcAft>
              <a:buClr>
                <a:srgbClr val="000000"/>
              </a:buClr>
              <a:buSzPts val="1100"/>
              <a:buFont typeface="Arial"/>
              <a:buNone/>
            </a:pPr>
            <a:r>
              <a:t/>
            </a:r>
            <a:endParaRPr b="1" sz="1100">
              <a:solidFill>
                <a:schemeClr val="dk1"/>
              </a:solidFill>
            </a:endParaRPr>
          </a:p>
          <a:p>
            <a:pPr indent="0" lvl="0" marL="0" rtl="0" algn="l">
              <a:spcBef>
                <a:spcPts val="0"/>
              </a:spcBef>
              <a:spcAft>
                <a:spcPts val="0"/>
              </a:spcAft>
              <a:buNone/>
            </a:pPr>
            <a:r>
              <a:rPr b="1" lang="en" sz="1100">
                <a:solidFill>
                  <a:schemeClr val="dk1"/>
                </a:solidFill>
              </a:rPr>
              <a:t>CI </a:t>
            </a:r>
            <a:r>
              <a:rPr b="1" lang="en" sz="1100">
                <a:solidFill>
                  <a:schemeClr val="dk1"/>
                </a:solidFill>
              </a:rPr>
              <a:t>measures the inverse relationship between risk scores and survival times. </a:t>
            </a:r>
            <a:endParaRPr b="1"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Higher risk scores should correspond to shorter survival times and vice versa.</a:t>
            </a:r>
            <a:endParaRPr b="1" sz="1100">
              <a:solidFill>
                <a:schemeClr val="dk1"/>
              </a:solidFill>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grpSp>
        <p:nvGrpSpPr>
          <p:cNvPr id="198" name="Google Shape;198;p28"/>
          <p:cNvGrpSpPr/>
          <p:nvPr/>
        </p:nvGrpSpPr>
        <p:grpSpPr>
          <a:xfrm>
            <a:off x="0" y="1300773"/>
            <a:ext cx="9144000" cy="3037828"/>
            <a:chOff x="0" y="-47625"/>
            <a:chExt cx="4816593" cy="1600173"/>
          </a:xfrm>
        </p:grpSpPr>
        <p:sp>
          <p:nvSpPr>
            <p:cNvPr id="199" name="Google Shape;199;p28"/>
            <p:cNvSpPr/>
            <p:nvPr/>
          </p:nvSpPr>
          <p:spPr>
            <a:xfrm>
              <a:off x="0" y="0"/>
              <a:ext cx="4816592" cy="1552548"/>
            </a:xfrm>
            <a:custGeom>
              <a:rect b="b" l="l" r="r" t="t"/>
              <a:pathLst>
                <a:path extrusionOk="0" h="1552548" w="4816592">
                  <a:moveTo>
                    <a:pt x="0" y="0"/>
                  </a:moveTo>
                  <a:lnTo>
                    <a:pt x="4816592" y="0"/>
                  </a:lnTo>
                  <a:lnTo>
                    <a:pt x="4816592" y="1552548"/>
                  </a:lnTo>
                  <a:lnTo>
                    <a:pt x="0" y="1552548"/>
                  </a:lnTo>
                  <a:close/>
                </a:path>
              </a:pathLst>
            </a:custGeom>
            <a:solidFill>
              <a:srgbClr val="E1EDFC"/>
            </a:solidFill>
            <a:ln>
              <a:noFill/>
            </a:ln>
          </p:spPr>
        </p:sp>
        <p:sp>
          <p:nvSpPr>
            <p:cNvPr id="200" name="Google Shape;200;p28"/>
            <p:cNvSpPr txBox="1"/>
            <p:nvPr/>
          </p:nvSpPr>
          <p:spPr>
            <a:xfrm>
              <a:off x="0" y="-47625"/>
              <a:ext cx="4816593"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01" name="Google Shape;201;p28"/>
          <p:cNvGrpSpPr/>
          <p:nvPr/>
        </p:nvGrpSpPr>
        <p:grpSpPr>
          <a:xfrm>
            <a:off x="3400473" y="1163757"/>
            <a:ext cx="2436574" cy="666411"/>
            <a:chOff x="0" y="-47625"/>
            <a:chExt cx="1283463" cy="351032"/>
          </a:xfrm>
        </p:grpSpPr>
        <p:sp>
          <p:nvSpPr>
            <p:cNvPr id="202" name="Google Shape;202;p28"/>
            <p:cNvSpPr/>
            <p:nvPr/>
          </p:nvSpPr>
          <p:spPr>
            <a:xfrm>
              <a:off x="0" y="0"/>
              <a:ext cx="1283463" cy="303407"/>
            </a:xfrm>
            <a:custGeom>
              <a:rect b="b" l="l" r="r" t="t"/>
              <a:pathLst>
                <a:path extrusionOk="0" h="303407" w="1283463">
                  <a:moveTo>
                    <a:pt x="81023" y="0"/>
                  </a:moveTo>
                  <a:lnTo>
                    <a:pt x="1202440" y="0"/>
                  </a:lnTo>
                  <a:cubicBezTo>
                    <a:pt x="1247187" y="0"/>
                    <a:pt x="1283463" y="36275"/>
                    <a:pt x="1283463" y="81023"/>
                  </a:cubicBezTo>
                  <a:lnTo>
                    <a:pt x="1283463" y="222383"/>
                  </a:lnTo>
                  <a:cubicBezTo>
                    <a:pt x="1283463" y="243872"/>
                    <a:pt x="1274926" y="264481"/>
                    <a:pt x="1259732" y="279676"/>
                  </a:cubicBezTo>
                  <a:cubicBezTo>
                    <a:pt x="1244537" y="294870"/>
                    <a:pt x="1223928" y="303407"/>
                    <a:pt x="1202440" y="303407"/>
                  </a:cubicBezTo>
                  <a:lnTo>
                    <a:pt x="81023" y="303407"/>
                  </a:lnTo>
                  <a:cubicBezTo>
                    <a:pt x="36275" y="303407"/>
                    <a:pt x="0" y="267131"/>
                    <a:pt x="0" y="222383"/>
                  </a:cubicBezTo>
                  <a:lnTo>
                    <a:pt x="0" y="81023"/>
                  </a:lnTo>
                  <a:cubicBezTo>
                    <a:pt x="0" y="36275"/>
                    <a:pt x="36275" y="0"/>
                    <a:pt x="81023"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3" name="Google Shape;203;p28"/>
            <p:cNvSpPr txBox="1"/>
            <p:nvPr/>
          </p:nvSpPr>
          <p:spPr>
            <a:xfrm>
              <a:off x="0" y="-47625"/>
              <a:ext cx="1283463" cy="351032"/>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04" name="Google Shape;204;p28"/>
          <p:cNvGrpSpPr/>
          <p:nvPr/>
        </p:nvGrpSpPr>
        <p:grpSpPr>
          <a:xfrm>
            <a:off x="3306954" y="2119330"/>
            <a:ext cx="2530092" cy="1089492"/>
            <a:chOff x="0" y="-47625"/>
            <a:chExt cx="1332724" cy="573889"/>
          </a:xfrm>
        </p:grpSpPr>
        <p:sp>
          <p:nvSpPr>
            <p:cNvPr id="205" name="Google Shape;205;p28"/>
            <p:cNvSpPr/>
            <p:nvPr/>
          </p:nvSpPr>
          <p:spPr>
            <a:xfrm>
              <a:off x="0" y="0"/>
              <a:ext cx="1332724" cy="526264"/>
            </a:xfrm>
            <a:custGeom>
              <a:rect b="b" l="l" r="r" t="t"/>
              <a:pathLst>
                <a:path extrusionOk="0" h="526264" w="133272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3A577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6" name="Google Shape;206;p28"/>
            <p:cNvSpPr txBox="1"/>
            <p:nvPr/>
          </p:nvSpPr>
          <p:spPr>
            <a:xfrm>
              <a:off x="0" y="-47625"/>
              <a:ext cx="1332724" cy="573889"/>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rPr b="1" i="0" lang="en" sz="1400" u="none" cap="none" strike="noStrike">
                  <a:solidFill>
                    <a:srgbClr val="FFFFFF"/>
                  </a:solidFill>
                  <a:latin typeface="Arial"/>
                  <a:ea typeface="Arial"/>
                  <a:cs typeface="Arial"/>
                  <a:sym typeface="Arial"/>
                </a:rPr>
                <a:t>28,800 Rows </a:t>
              </a:r>
              <a:endParaRPr sz="700"/>
            </a:p>
            <a:p>
              <a:pPr indent="0" lvl="0" marL="0" marR="0" rtl="0" algn="ctr">
                <a:lnSpc>
                  <a:spcPct val="140000"/>
                </a:lnSpc>
                <a:spcBef>
                  <a:spcPts val="0"/>
                </a:spcBef>
                <a:spcAft>
                  <a:spcPts val="0"/>
                </a:spcAft>
                <a:buNone/>
              </a:pPr>
              <a:r>
                <a:rPr b="1" i="0" lang="en" sz="1400" u="none" cap="none" strike="noStrike">
                  <a:solidFill>
                    <a:srgbClr val="FFFFFF"/>
                  </a:solidFill>
                  <a:latin typeface="Arial"/>
                  <a:ea typeface="Arial"/>
                  <a:cs typeface="Arial"/>
                  <a:sym typeface="Arial"/>
                </a:rPr>
                <a:t>60 Columns</a:t>
              </a:r>
              <a:endParaRPr sz="700"/>
            </a:p>
          </p:txBody>
        </p:sp>
      </p:grpSp>
      <p:sp>
        <p:nvSpPr>
          <p:cNvPr id="207" name="Google Shape;207;p28"/>
          <p:cNvSpPr/>
          <p:nvPr/>
        </p:nvSpPr>
        <p:spPr>
          <a:xfrm>
            <a:off x="2252791" y="1842996"/>
            <a:ext cx="791939" cy="554357"/>
          </a:xfrm>
          <a:custGeom>
            <a:rect b="b" l="l" r="r" t="t"/>
            <a:pathLst>
              <a:path extrusionOk="0" h="1108714" w="1583878">
                <a:moveTo>
                  <a:pt x="0" y="0"/>
                </a:moveTo>
                <a:lnTo>
                  <a:pt x="1583878" y="0"/>
                </a:lnTo>
                <a:lnTo>
                  <a:pt x="1583878" y="1108714"/>
                </a:lnTo>
                <a:lnTo>
                  <a:pt x="0" y="1108714"/>
                </a:lnTo>
                <a:lnTo>
                  <a:pt x="0" y="0"/>
                </a:lnTo>
                <a:close/>
              </a:path>
            </a:pathLst>
          </a:custGeom>
          <a:blipFill rotWithShape="1">
            <a:blip r:embed="rId3">
              <a:alphaModFix/>
            </a:blip>
            <a:stretch>
              <a:fillRect b="0" l="0" r="0" t="0"/>
            </a:stretch>
          </a:blipFill>
          <a:ln>
            <a:noFill/>
          </a:ln>
        </p:spPr>
      </p:sp>
      <p:sp>
        <p:nvSpPr>
          <p:cNvPr id="208" name="Google Shape;208;p28"/>
          <p:cNvSpPr/>
          <p:nvPr/>
        </p:nvSpPr>
        <p:spPr>
          <a:xfrm>
            <a:off x="6099271" y="1830168"/>
            <a:ext cx="791939" cy="554357"/>
          </a:xfrm>
          <a:custGeom>
            <a:rect b="b" l="l" r="r" t="t"/>
            <a:pathLst>
              <a:path extrusionOk="0" h="1108714" w="1583878">
                <a:moveTo>
                  <a:pt x="0" y="0"/>
                </a:moveTo>
                <a:lnTo>
                  <a:pt x="1583878" y="0"/>
                </a:lnTo>
                <a:lnTo>
                  <a:pt x="1583878" y="1108715"/>
                </a:lnTo>
                <a:lnTo>
                  <a:pt x="0" y="1108715"/>
                </a:lnTo>
                <a:lnTo>
                  <a:pt x="0" y="0"/>
                </a:lnTo>
                <a:close/>
              </a:path>
            </a:pathLst>
          </a:custGeom>
          <a:blipFill rotWithShape="1">
            <a:blip r:embed="rId3">
              <a:alphaModFix/>
            </a:blip>
            <a:stretch>
              <a:fillRect b="0" l="0" r="0" t="0"/>
            </a:stretch>
          </a:blipFill>
          <a:ln>
            <a:noFill/>
          </a:ln>
        </p:spPr>
      </p:sp>
      <p:sp>
        <p:nvSpPr>
          <p:cNvPr id="209" name="Google Shape;209;p28"/>
          <p:cNvSpPr/>
          <p:nvPr/>
        </p:nvSpPr>
        <p:spPr>
          <a:xfrm>
            <a:off x="3810504" y="3417640"/>
            <a:ext cx="1522993" cy="1522993"/>
          </a:xfrm>
          <a:custGeom>
            <a:rect b="b" l="l" r="r" t="t"/>
            <a:pathLst>
              <a:path extrusionOk="0" h="3045985" w="3045985">
                <a:moveTo>
                  <a:pt x="0" y="0"/>
                </a:moveTo>
                <a:lnTo>
                  <a:pt x="3045984" y="0"/>
                </a:lnTo>
                <a:lnTo>
                  <a:pt x="3045984" y="3045984"/>
                </a:lnTo>
                <a:lnTo>
                  <a:pt x="0" y="3045984"/>
                </a:lnTo>
                <a:lnTo>
                  <a:pt x="0" y="0"/>
                </a:lnTo>
                <a:close/>
              </a:path>
            </a:pathLst>
          </a:custGeom>
          <a:blipFill rotWithShape="1">
            <a:blip r:embed="rId4">
              <a:alphaModFix/>
            </a:blip>
            <a:stretch>
              <a:fillRect b="0" l="0" r="0" t="0"/>
            </a:stretch>
          </a:blipFill>
          <a:ln>
            <a:noFill/>
          </a:ln>
        </p:spPr>
      </p:sp>
      <p:sp>
        <p:nvSpPr>
          <p:cNvPr id="210" name="Google Shape;210;p28"/>
          <p:cNvSpPr txBox="1"/>
          <p:nvPr/>
        </p:nvSpPr>
        <p:spPr>
          <a:xfrm>
            <a:off x="2196630" y="274583"/>
            <a:ext cx="4944300" cy="446400"/>
          </a:xfrm>
          <a:prstGeom prst="rect">
            <a:avLst/>
          </a:prstGeom>
          <a:noFill/>
          <a:ln>
            <a:noFill/>
          </a:ln>
        </p:spPr>
        <p:txBody>
          <a:bodyPr anchorCtr="0" anchor="t" bIns="0" lIns="0" spcFirstLastPara="1" rIns="0" wrap="square" tIns="0">
            <a:spAutoFit/>
          </a:bodyPr>
          <a:lstStyle/>
          <a:p>
            <a:pPr indent="0" lvl="0" marL="0" marR="0" rtl="0" algn="ctr">
              <a:lnSpc>
                <a:spcPct val="126990"/>
              </a:lnSpc>
              <a:spcBef>
                <a:spcPts val="0"/>
              </a:spcBef>
              <a:spcAft>
                <a:spcPts val="0"/>
              </a:spcAft>
              <a:buNone/>
            </a:pPr>
            <a:r>
              <a:rPr b="1" i="0" lang="en" sz="2900" u="none" cap="none" strike="noStrike">
                <a:solidFill>
                  <a:srgbClr val="0E2F5F"/>
                </a:solidFill>
                <a:latin typeface="Arial"/>
                <a:ea typeface="Arial"/>
                <a:cs typeface="Arial"/>
                <a:sym typeface="Arial"/>
              </a:rPr>
              <a:t>Dataset Analysis</a:t>
            </a:r>
            <a:endParaRPr sz="700"/>
          </a:p>
        </p:txBody>
      </p:sp>
      <p:sp>
        <p:nvSpPr>
          <p:cNvPr id="211" name="Google Shape;211;p28"/>
          <p:cNvSpPr txBox="1"/>
          <p:nvPr/>
        </p:nvSpPr>
        <p:spPr>
          <a:xfrm>
            <a:off x="3435877" y="1345413"/>
            <a:ext cx="2365766" cy="945697"/>
          </a:xfrm>
          <a:prstGeom prst="rect">
            <a:avLst/>
          </a:prstGeom>
          <a:noFill/>
          <a:ln>
            <a:noFill/>
          </a:ln>
        </p:spPr>
        <p:txBody>
          <a:bodyPr anchorCtr="0" anchor="t" bIns="0" lIns="0" spcFirstLastPara="1" rIns="0" wrap="square" tIns="0">
            <a:spAutoFit/>
          </a:bodyPr>
          <a:lstStyle/>
          <a:p>
            <a:pPr indent="0" lvl="0" marL="0" marR="0" rtl="0" algn="ctr">
              <a:lnSpc>
                <a:spcPct val="139965"/>
              </a:lnSpc>
              <a:spcBef>
                <a:spcPts val="0"/>
              </a:spcBef>
              <a:spcAft>
                <a:spcPts val="0"/>
              </a:spcAft>
              <a:buNone/>
            </a:pPr>
            <a:r>
              <a:rPr b="1" i="0" lang="en" sz="1200" u="none" cap="none" strike="noStrike">
                <a:solidFill>
                  <a:srgbClr val="FFFFFF"/>
                </a:solidFill>
                <a:latin typeface="Arial"/>
                <a:ea typeface="Arial"/>
                <a:cs typeface="Arial"/>
                <a:sym typeface="Arial"/>
              </a:rPr>
              <a:t>Demographics</a:t>
            </a:r>
            <a:endParaRPr sz="700"/>
          </a:p>
          <a:p>
            <a:pPr indent="0" lvl="0" marL="0" marR="0" rtl="0" algn="ctr">
              <a:lnSpc>
                <a:spcPct val="139960"/>
              </a:lnSpc>
              <a:spcBef>
                <a:spcPts val="0"/>
              </a:spcBef>
              <a:spcAft>
                <a:spcPts val="0"/>
              </a:spcAft>
              <a:buNone/>
            </a:pPr>
            <a:r>
              <a:rPr b="1" i="0" lang="en" sz="1000" u="none" cap="none" strike="noStrike">
                <a:solidFill>
                  <a:srgbClr val="FFFFFF"/>
                </a:solidFill>
                <a:latin typeface="Arial"/>
                <a:ea typeface="Arial"/>
                <a:cs typeface="Arial"/>
                <a:sym typeface="Arial"/>
              </a:rPr>
              <a:t>- ethnicity and race group </a:t>
            </a:r>
            <a:endParaRPr sz="700"/>
          </a:p>
          <a:p>
            <a:pPr indent="0" lvl="0" marL="0" marR="0" rtl="0" algn="ctr">
              <a:lnSpc>
                <a:spcPct val="228571"/>
              </a:lnSpc>
              <a:spcBef>
                <a:spcPts val="0"/>
              </a:spcBef>
              <a:spcAft>
                <a:spcPts val="0"/>
              </a:spcAft>
              <a:buNone/>
            </a:pPr>
            <a:r>
              <a:t/>
            </a:r>
            <a:endParaRPr b="1" i="0" sz="1000" u="none" cap="none" strike="noStrike">
              <a:solidFill>
                <a:srgbClr val="FFFFFF"/>
              </a:solidFill>
              <a:latin typeface="Arial"/>
              <a:ea typeface="Arial"/>
              <a:cs typeface="Arial"/>
              <a:sym typeface="Arial"/>
            </a:endParaRPr>
          </a:p>
          <a:p>
            <a:pPr indent="0" lvl="0" marL="0" marR="0" rtl="0" algn="ctr">
              <a:lnSpc>
                <a:spcPct val="228571"/>
              </a:lnSpc>
              <a:spcBef>
                <a:spcPts val="0"/>
              </a:spcBef>
              <a:spcAft>
                <a:spcPts val="0"/>
              </a:spcAft>
              <a:buNone/>
            </a:pPr>
            <a:r>
              <a:t/>
            </a:r>
            <a:endParaRPr b="1" i="0" sz="1000" u="none" cap="none" strike="noStrike">
              <a:solidFill>
                <a:srgbClr val="FFFFFF"/>
              </a:solidFill>
              <a:latin typeface="Arial"/>
              <a:ea typeface="Arial"/>
              <a:cs typeface="Arial"/>
              <a:sym typeface="Arial"/>
            </a:endParaRPr>
          </a:p>
        </p:txBody>
      </p:sp>
      <p:grpSp>
        <p:nvGrpSpPr>
          <p:cNvPr id="212" name="Google Shape;212;p28"/>
          <p:cNvGrpSpPr/>
          <p:nvPr/>
        </p:nvGrpSpPr>
        <p:grpSpPr>
          <a:xfrm>
            <a:off x="359754" y="2029761"/>
            <a:ext cx="2380463" cy="808100"/>
            <a:chOff x="0" y="-47625"/>
            <a:chExt cx="1253906" cy="425666"/>
          </a:xfrm>
        </p:grpSpPr>
        <p:sp>
          <p:nvSpPr>
            <p:cNvPr id="213" name="Google Shape;213;p28"/>
            <p:cNvSpPr/>
            <p:nvPr/>
          </p:nvSpPr>
          <p:spPr>
            <a:xfrm>
              <a:off x="0" y="0"/>
              <a:ext cx="1253906" cy="378041"/>
            </a:xfrm>
            <a:custGeom>
              <a:rect b="b" l="l" r="r" t="t"/>
              <a:pathLst>
                <a:path extrusionOk="0" h="378041" w="1253906">
                  <a:moveTo>
                    <a:pt x="82933" y="0"/>
                  </a:moveTo>
                  <a:lnTo>
                    <a:pt x="1170973" y="0"/>
                  </a:lnTo>
                  <a:cubicBezTo>
                    <a:pt x="1216776" y="0"/>
                    <a:pt x="1253906" y="37130"/>
                    <a:pt x="1253906" y="82933"/>
                  </a:cubicBezTo>
                  <a:lnTo>
                    <a:pt x="1253906" y="295108"/>
                  </a:lnTo>
                  <a:cubicBezTo>
                    <a:pt x="1253906" y="340910"/>
                    <a:pt x="1216776" y="378041"/>
                    <a:pt x="1170973" y="378041"/>
                  </a:cubicBezTo>
                  <a:lnTo>
                    <a:pt x="82933" y="378041"/>
                  </a:lnTo>
                  <a:cubicBezTo>
                    <a:pt x="37130" y="378041"/>
                    <a:pt x="0" y="340910"/>
                    <a:pt x="0" y="295108"/>
                  </a:cubicBezTo>
                  <a:lnTo>
                    <a:pt x="0" y="82933"/>
                  </a:lnTo>
                  <a:cubicBezTo>
                    <a:pt x="0" y="37130"/>
                    <a:pt x="37130" y="0"/>
                    <a:pt x="82933"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4" name="Google Shape;214;p28"/>
            <p:cNvSpPr txBox="1"/>
            <p:nvPr/>
          </p:nvSpPr>
          <p:spPr>
            <a:xfrm>
              <a:off x="0" y="-47625"/>
              <a:ext cx="1253906" cy="425666"/>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15" name="Google Shape;215;p28"/>
          <p:cNvSpPr txBox="1"/>
          <p:nvPr/>
        </p:nvSpPr>
        <p:spPr>
          <a:xfrm>
            <a:off x="514350" y="2192329"/>
            <a:ext cx="1997577" cy="516954"/>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1" i="0" lang="en" sz="1100" u="none" cap="none" strike="noStrike">
                <a:solidFill>
                  <a:srgbClr val="FFFFFF"/>
                </a:solidFill>
                <a:latin typeface="Arial"/>
                <a:ea typeface="Arial"/>
                <a:cs typeface="Arial"/>
                <a:sym typeface="Arial"/>
              </a:rPr>
              <a:t>Treatment details</a:t>
            </a:r>
            <a:endParaRPr sz="700"/>
          </a:p>
          <a:p>
            <a:pPr indent="0" lvl="0" marL="0" marR="0" rtl="0" algn="ctr">
              <a:lnSpc>
                <a:spcPct val="140021"/>
              </a:lnSpc>
              <a:spcBef>
                <a:spcPts val="0"/>
              </a:spcBef>
              <a:spcAft>
                <a:spcPts val="0"/>
              </a:spcAft>
              <a:buNone/>
            </a:pPr>
            <a:r>
              <a:rPr b="1" i="0" lang="en" sz="900" u="none" cap="none" strike="noStrike">
                <a:solidFill>
                  <a:srgbClr val="FFFFFF"/>
                </a:solidFill>
                <a:latin typeface="Arial"/>
                <a:ea typeface="Arial"/>
                <a:cs typeface="Arial"/>
                <a:sym typeface="Arial"/>
              </a:rPr>
              <a:t>- HLA match, graft type, and conditioning intensity</a:t>
            </a:r>
            <a:endParaRPr sz="700"/>
          </a:p>
        </p:txBody>
      </p:sp>
      <p:grpSp>
        <p:nvGrpSpPr>
          <p:cNvPr id="216" name="Google Shape;216;p28"/>
          <p:cNvGrpSpPr/>
          <p:nvPr/>
        </p:nvGrpSpPr>
        <p:grpSpPr>
          <a:xfrm>
            <a:off x="6403775" y="2013451"/>
            <a:ext cx="2380415" cy="905008"/>
            <a:chOff x="0" y="-47625"/>
            <a:chExt cx="1253906" cy="425666"/>
          </a:xfrm>
        </p:grpSpPr>
        <p:sp>
          <p:nvSpPr>
            <p:cNvPr id="217" name="Google Shape;217;p28"/>
            <p:cNvSpPr/>
            <p:nvPr/>
          </p:nvSpPr>
          <p:spPr>
            <a:xfrm>
              <a:off x="0" y="0"/>
              <a:ext cx="1253906" cy="378041"/>
            </a:xfrm>
            <a:custGeom>
              <a:rect b="b" l="l" r="r" t="t"/>
              <a:pathLst>
                <a:path extrusionOk="0" h="378041" w="1253906">
                  <a:moveTo>
                    <a:pt x="82933" y="0"/>
                  </a:moveTo>
                  <a:lnTo>
                    <a:pt x="1170973" y="0"/>
                  </a:lnTo>
                  <a:cubicBezTo>
                    <a:pt x="1216776" y="0"/>
                    <a:pt x="1253906" y="37130"/>
                    <a:pt x="1253906" y="82933"/>
                  </a:cubicBezTo>
                  <a:lnTo>
                    <a:pt x="1253906" y="295108"/>
                  </a:lnTo>
                  <a:cubicBezTo>
                    <a:pt x="1253906" y="340910"/>
                    <a:pt x="1216776" y="378041"/>
                    <a:pt x="1170973" y="378041"/>
                  </a:cubicBezTo>
                  <a:lnTo>
                    <a:pt x="82933" y="378041"/>
                  </a:lnTo>
                  <a:cubicBezTo>
                    <a:pt x="37130" y="378041"/>
                    <a:pt x="0" y="340910"/>
                    <a:pt x="0" y="295108"/>
                  </a:cubicBezTo>
                  <a:lnTo>
                    <a:pt x="0" y="82933"/>
                  </a:lnTo>
                  <a:cubicBezTo>
                    <a:pt x="0" y="37130"/>
                    <a:pt x="37130" y="0"/>
                    <a:pt x="82933"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8" name="Google Shape;218;p28"/>
            <p:cNvSpPr txBox="1"/>
            <p:nvPr/>
          </p:nvSpPr>
          <p:spPr>
            <a:xfrm>
              <a:off x="0" y="-47625"/>
              <a:ext cx="1253906" cy="425666"/>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19" name="Google Shape;219;p28"/>
          <p:cNvSpPr txBox="1"/>
          <p:nvPr/>
        </p:nvSpPr>
        <p:spPr>
          <a:xfrm>
            <a:off x="6461375" y="2119325"/>
            <a:ext cx="2410500" cy="97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1200" u="none" cap="none" strike="noStrike">
                <a:solidFill>
                  <a:srgbClr val="FFFFFF"/>
                </a:solidFill>
                <a:latin typeface="Arial"/>
                <a:ea typeface="Arial"/>
                <a:cs typeface="Arial"/>
                <a:sym typeface="Arial"/>
              </a:rPr>
              <a:t>Medical History</a:t>
            </a:r>
            <a:endParaRPr sz="700"/>
          </a:p>
          <a:p>
            <a:pPr indent="0" lvl="0" marL="0" marR="0" rtl="0" algn="ctr">
              <a:lnSpc>
                <a:spcPct val="140033"/>
              </a:lnSpc>
              <a:spcBef>
                <a:spcPts val="0"/>
              </a:spcBef>
              <a:spcAft>
                <a:spcPts val="0"/>
              </a:spcAft>
              <a:buNone/>
            </a:pPr>
            <a:r>
              <a:rPr b="1" i="0" lang="en" sz="900" u="none" cap="none" strike="noStrike">
                <a:solidFill>
                  <a:srgbClr val="FFFFFF"/>
                </a:solidFill>
                <a:latin typeface="Arial"/>
                <a:ea typeface="Arial"/>
                <a:cs typeface="Arial"/>
                <a:sym typeface="Arial"/>
              </a:rPr>
              <a:t>- comorbidity scores, prior tumors, pre-existing conditions: diabetes and cardiac issues</a:t>
            </a:r>
            <a:endParaRPr sz="700"/>
          </a:p>
          <a:p>
            <a:pPr indent="0" lvl="0" marL="0" marR="0" rtl="0" algn="ctr">
              <a:lnSpc>
                <a:spcPct val="179458"/>
              </a:lnSpc>
              <a:spcBef>
                <a:spcPts val="0"/>
              </a:spcBef>
              <a:spcAft>
                <a:spcPts val="0"/>
              </a:spcAft>
              <a:buNone/>
            </a:pPr>
            <a:r>
              <a:t/>
            </a:r>
            <a:endParaRPr b="1" i="0" sz="900" u="none" cap="none" strike="noStrike">
              <a:solidFill>
                <a:srgbClr val="FFFFFF"/>
              </a:solidFill>
              <a:latin typeface="Arial"/>
              <a:ea typeface="Arial"/>
              <a:cs typeface="Arial"/>
              <a:sym typeface="Arial"/>
            </a:endParaRPr>
          </a:p>
        </p:txBody>
      </p:sp>
      <p:grpSp>
        <p:nvGrpSpPr>
          <p:cNvPr id="220" name="Google Shape;220;p28"/>
          <p:cNvGrpSpPr/>
          <p:nvPr/>
        </p:nvGrpSpPr>
        <p:grpSpPr>
          <a:xfrm>
            <a:off x="664267" y="3230682"/>
            <a:ext cx="2380463" cy="808100"/>
            <a:chOff x="0" y="-47625"/>
            <a:chExt cx="1253906" cy="425666"/>
          </a:xfrm>
        </p:grpSpPr>
        <p:sp>
          <p:nvSpPr>
            <p:cNvPr id="221" name="Google Shape;221;p28"/>
            <p:cNvSpPr/>
            <p:nvPr/>
          </p:nvSpPr>
          <p:spPr>
            <a:xfrm>
              <a:off x="0" y="0"/>
              <a:ext cx="1253906" cy="378041"/>
            </a:xfrm>
            <a:custGeom>
              <a:rect b="b" l="l" r="r" t="t"/>
              <a:pathLst>
                <a:path extrusionOk="0" h="378041" w="1253906">
                  <a:moveTo>
                    <a:pt x="82933" y="0"/>
                  </a:moveTo>
                  <a:lnTo>
                    <a:pt x="1170973" y="0"/>
                  </a:lnTo>
                  <a:cubicBezTo>
                    <a:pt x="1216776" y="0"/>
                    <a:pt x="1253906" y="37130"/>
                    <a:pt x="1253906" y="82933"/>
                  </a:cubicBezTo>
                  <a:lnTo>
                    <a:pt x="1253906" y="295108"/>
                  </a:lnTo>
                  <a:cubicBezTo>
                    <a:pt x="1253906" y="340910"/>
                    <a:pt x="1216776" y="378041"/>
                    <a:pt x="1170973" y="378041"/>
                  </a:cubicBezTo>
                  <a:lnTo>
                    <a:pt x="82933" y="378041"/>
                  </a:lnTo>
                  <a:cubicBezTo>
                    <a:pt x="37130" y="378041"/>
                    <a:pt x="0" y="340910"/>
                    <a:pt x="0" y="295108"/>
                  </a:cubicBezTo>
                  <a:lnTo>
                    <a:pt x="0" y="82933"/>
                  </a:lnTo>
                  <a:cubicBezTo>
                    <a:pt x="0" y="37130"/>
                    <a:pt x="37130" y="0"/>
                    <a:pt x="82933"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2" name="Google Shape;222;p28"/>
            <p:cNvSpPr txBox="1"/>
            <p:nvPr/>
          </p:nvSpPr>
          <p:spPr>
            <a:xfrm>
              <a:off x="0" y="-47625"/>
              <a:ext cx="1253906" cy="425666"/>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23" name="Google Shape;223;p28"/>
          <p:cNvGrpSpPr/>
          <p:nvPr/>
        </p:nvGrpSpPr>
        <p:grpSpPr>
          <a:xfrm>
            <a:off x="6113900" y="3230675"/>
            <a:ext cx="2365744" cy="866315"/>
            <a:chOff x="0" y="-47625"/>
            <a:chExt cx="1253906" cy="425666"/>
          </a:xfrm>
        </p:grpSpPr>
        <p:sp>
          <p:nvSpPr>
            <p:cNvPr id="224" name="Google Shape;224;p28"/>
            <p:cNvSpPr/>
            <p:nvPr/>
          </p:nvSpPr>
          <p:spPr>
            <a:xfrm>
              <a:off x="0" y="0"/>
              <a:ext cx="1253906" cy="378041"/>
            </a:xfrm>
            <a:custGeom>
              <a:rect b="b" l="l" r="r" t="t"/>
              <a:pathLst>
                <a:path extrusionOk="0" h="378041" w="1253906">
                  <a:moveTo>
                    <a:pt x="82933" y="0"/>
                  </a:moveTo>
                  <a:lnTo>
                    <a:pt x="1170973" y="0"/>
                  </a:lnTo>
                  <a:cubicBezTo>
                    <a:pt x="1216776" y="0"/>
                    <a:pt x="1253906" y="37130"/>
                    <a:pt x="1253906" y="82933"/>
                  </a:cubicBezTo>
                  <a:lnTo>
                    <a:pt x="1253906" y="295108"/>
                  </a:lnTo>
                  <a:cubicBezTo>
                    <a:pt x="1253906" y="340910"/>
                    <a:pt x="1216776" y="378041"/>
                    <a:pt x="1170973" y="378041"/>
                  </a:cubicBezTo>
                  <a:lnTo>
                    <a:pt x="82933" y="378041"/>
                  </a:lnTo>
                  <a:cubicBezTo>
                    <a:pt x="37130" y="378041"/>
                    <a:pt x="0" y="340910"/>
                    <a:pt x="0" y="295108"/>
                  </a:cubicBezTo>
                  <a:lnTo>
                    <a:pt x="0" y="82933"/>
                  </a:lnTo>
                  <a:cubicBezTo>
                    <a:pt x="0" y="37130"/>
                    <a:pt x="37130" y="0"/>
                    <a:pt x="82933"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5" name="Google Shape;225;p28"/>
            <p:cNvSpPr txBox="1"/>
            <p:nvPr/>
          </p:nvSpPr>
          <p:spPr>
            <a:xfrm>
              <a:off x="0" y="-47625"/>
              <a:ext cx="1253906" cy="425666"/>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26" name="Google Shape;226;p28"/>
          <p:cNvSpPr txBox="1"/>
          <p:nvPr/>
        </p:nvSpPr>
        <p:spPr>
          <a:xfrm>
            <a:off x="855710" y="3393828"/>
            <a:ext cx="1997577" cy="84521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1200" u="none" cap="none" strike="noStrike">
                <a:solidFill>
                  <a:srgbClr val="FFFFFF"/>
                </a:solidFill>
                <a:latin typeface="Arial"/>
                <a:ea typeface="Arial"/>
                <a:cs typeface="Arial"/>
                <a:sym typeface="Arial"/>
              </a:rPr>
              <a:t>Sex-Match</a:t>
            </a:r>
            <a:endParaRPr sz="700"/>
          </a:p>
          <a:p>
            <a:pPr indent="0" lvl="0" marL="0" marR="0" rtl="0" algn="ctr">
              <a:lnSpc>
                <a:spcPct val="140021"/>
              </a:lnSpc>
              <a:spcBef>
                <a:spcPts val="0"/>
              </a:spcBef>
              <a:spcAft>
                <a:spcPts val="0"/>
              </a:spcAft>
              <a:buNone/>
            </a:pPr>
            <a:r>
              <a:rPr b="1" i="0" lang="en" sz="900" u="none" cap="none" strike="noStrike">
                <a:solidFill>
                  <a:srgbClr val="FFFFFF"/>
                </a:solidFill>
                <a:latin typeface="Arial"/>
                <a:ea typeface="Arial"/>
                <a:cs typeface="Arial"/>
                <a:sym typeface="Arial"/>
              </a:rPr>
              <a:t>-Donor and recipient biological sex compatibility and donor age</a:t>
            </a:r>
            <a:endParaRPr sz="700"/>
          </a:p>
          <a:p>
            <a:pPr indent="0" lvl="0" marL="0" marR="0" rtl="0" algn="ctr">
              <a:lnSpc>
                <a:spcPct val="140021"/>
              </a:lnSpc>
              <a:spcBef>
                <a:spcPts val="0"/>
              </a:spcBef>
              <a:spcAft>
                <a:spcPts val="0"/>
              </a:spcAft>
              <a:buNone/>
            </a:pPr>
            <a:r>
              <a:t/>
            </a:r>
            <a:endParaRPr b="1" i="0" sz="900" u="none" cap="none" strike="noStrike">
              <a:solidFill>
                <a:srgbClr val="FFFFFF"/>
              </a:solidFill>
              <a:latin typeface="Arial"/>
              <a:ea typeface="Arial"/>
              <a:cs typeface="Arial"/>
              <a:sym typeface="Arial"/>
            </a:endParaRPr>
          </a:p>
          <a:p>
            <a:pPr indent="0" lvl="0" marL="0" marR="0" rtl="0" algn="ctr">
              <a:lnSpc>
                <a:spcPct val="140021"/>
              </a:lnSpc>
              <a:spcBef>
                <a:spcPts val="0"/>
              </a:spcBef>
              <a:spcAft>
                <a:spcPts val="0"/>
              </a:spcAft>
              <a:buNone/>
            </a:pPr>
            <a:r>
              <a:t/>
            </a:r>
            <a:endParaRPr b="1" i="0" sz="900" u="none" cap="none" strike="noStrike">
              <a:solidFill>
                <a:srgbClr val="FFFFFF"/>
              </a:solidFill>
              <a:latin typeface="Arial"/>
              <a:ea typeface="Arial"/>
              <a:cs typeface="Arial"/>
              <a:sym typeface="Arial"/>
            </a:endParaRPr>
          </a:p>
        </p:txBody>
      </p:sp>
      <p:sp>
        <p:nvSpPr>
          <p:cNvPr id="227" name="Google Shape;227;p28"/>
          <p:cNvSpPr txBox="1"/>
          <p:nvPr/>
        </p:nvSpPr>
        <p:spPr>
          <a:xfrm>
            <a:off x="6339625" y="3326838"/>
            <a:ext cx="1914300" cy="936000"/>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b="1" i="0" lang="en" sz="1200" u="none" cap="none" strike="noStrike">
                <a:solidFill>
                  <a:srgbClr val="FFFFFF"/>
                </a:solidFill>
                <a:latin typeface="Arial"/>
                <a:ea typeface="Arial"/>
                <a:cs typeface="Arial"/>
                <a:sym typeface="Arial"/>
              </a:rPr>
              <a:t>Outcome variables</a:t>
            </a:r>
            <a:endParaRPr sz="700"/>
          </a:p>
          <a:p>
            <a:pPr indent="0" lvl="0" marL="0" marR="0" rtl="0" algn="ctr">
              <a:lnSpc>
                <a:spcPct val="140058"/>
              </a:lnSpc>
              <a:spcBef>
                <a:spcPts val="0"/>
              </a:spcBef>
              <a:spcAft>
                <a:spcPts val="0"/>
              </a:spcAft>
              <a:buNone/>
            </a:pPr>
            <a:r>
              <a:rPr b="1" i="0" lang="en" sz="900" u="none" cap="none" strike="noStrike">
                <a:solidFill>
                  <a:srgbClr val="FFFFFF"/>
                </a:solidFill>
                <a:latin typeface="Arial"/>
                <a:ea typeface="Arial"/>
                <a:cs typeface="Arial"/>
                <a:sym typeface="Arial"/>
              </a:rPr>
              <a:t>-</a:t>
            </a:r>
            <a:r>
              <a:rPr b="1" i="0" lang="en" sz="800" u="none" cap="none" strike="noStrike">
                <a:solidFill>
                  <a:srgbClr val="FFFFFF"/>
                </a:solidFill>
                <a:latin typeface="Arial"/>
                <a:ea typeface="Arial"/>
                <a:cs typeface="Arial"/>
                <a:sym typeface="Arial"/>
              </a:rPr>
              <a:t> Event-Free Survival &amp; EFS time</a:t>
            </a:r>
            <a:endParaRPr sz="600"/>
          </a:p>
          <a:p>
            <a:pPr indent="0" lvl="0" marL="0" marR="0" rtl="0" algn="ctr">
              <a:lnSpc>
                <a:spcPct val="140058"/>
              </a:lnSpc>
              <a:spcBef>
                <a:spcPts val="0"/>
              </a:spcBef>
              <a:spcAft>
                <a:spcPts val="0"/>
              </a:spcAft>
              <a:buNone/>
            </a:pPr>
            <a:r>
              <a:rPr b="1" i="0" lang="en" sz="800" u="none" cap="none" strike="noStrike">
                <a:solidFill>
                  <a:srgbClr val="FFFFFF"/>
                </a:solidFill>
                <a:latin typeface="Arial"/>
                <a:ea typeface="Arial"/>
                <a:cs typeface="Arial"/>
                <a:sym typeface="Arial"/>
              </a:rPr>
              <a:t>representing survival status and time to an event or censoring.</a:t>
            </a:r>
            <a:endParaRPr sz="600"/>
          </a:p>
          <a:p>
            <a:pPr indent="0" lvl="0" marL="0" marR="0" rtl="0" algn="ctr">
              <a:lnSpc>
                <a:spcPct val="105926"/>
              </a:lnSpc>
              <a:spcBef>
                <a:spcPts val="0"/>
              </a:spcBef>
              <a:spcAft>
                <a:spcPts val="0"/>
              </a:spcAft>
              <a:buNone/>
            </a:pPr>
            <a:r>
              <a:t/>
            </a:r>
            <a:endParaRPr b="1" i="0" sz="900" u="none" cap="none" strike="noStrike">
              <a:solidFill>
                <a:srgbClr val="FFFFFF"/>
              </a:solidFill>
              <a:latin typeface="Arial"/>
              <a:ea typeface="Arial"/>
              <a:cs typeface="Arial"/>
              <a:sym typeface="Arial"/>
            </a:endParaRPr>
          </a:p>
        </p:txBody>
      </p:sp>
      <p:grpSp>
        <p:nvGrpSpPr>
          <p:cNvPr id="228" name="Google Shape;228;p28"/>
          <p:cNvGrpSpPr/>
          <p:nvPr/>
        </p:nvGrpSpPr>
        <p:grpSpPr>
          <a:xfrm>
            <a:off x="2511924" y="245639"/>
            <a:ext cx="448604" cy="516941"/>
            <a:chOff x="0" y="0"/>
            <a:chExt cx="788546" cy="812800"/>
          </a:xfrm>
        </p:grpSpPr>
        <p:sp>
          <p:nvSpPr>
            <p:cNvPr id="229" name="Google Shape;229;p28"/>
            <p:cNvSpPr/>
            <p:nvPr/>
          </p:nvSpPr>
          <p:spPr>
            <a:xfrm>
              <a:off x="0" y="0"/>
              <a:ext cx="788546" cy="812800"/>
            </a:xfrm>
            <a:custGeom>
              <a:rect b="b" l="l" r="r" t="t"/>
              <a:pathLst>
                <a:path extrusionOk="0" h="812800" w="788546">
                  <a:moveTo>
                    <a:pt x="394273" y="0"/>
                  </a:moveTo>
                  <a:cubicBezTo>
                    <a:pt x="176522" y="0"/>
                    <a:pt x="0" y="181951"/>
                    <a:pt x="0" y="406400"/>
                  </a:cubicBezTo>
                  <a:cubicBezTo>
                    <a:pt x="0" y="630849"/>
                    <a:pt x="176522" y="812800"/>
                    <a:pt x="394273" y="812800"/>
                  </a:cubicBezTo>
                  <a:cubicBezTo>
                    <a:pt x="612024" y="812800"/>
                    <a:pt x="788546" y="630849"/>
                    <a:pt x="788546" y="406400"/>
                  </a:cubicBezTo>
                  <a:cubicBezTo>
                    <a:pt x="788546" y="181951"/>
                    <a:pt x="612024" y="0"/>
                    <a:pt x="394273"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0" name="Google Shape;230;p28"/>
            <p:cNvSpPr txBox="1"/>
            <p:nvPr/>
          </p:nvSpPr>
          <p:spPr>
            <a:xfrm>
              <a:off x="73926" y="28575"/>
              <a:ext cx="640694"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31" name="Google Shape;231;p28"/>
          <p:cNvSpPr/>
          <p:nvPr/>
        </p:nvSpPr>
        <p:spPr>
          <a:xfrm>
            <a:off x="2685550" y="400400"/>
            <a:ext cx="101356" cy="207423"/>
          </a:xfrm>
          <a:custGeom>
            <a:rect b="b" l="l" r="r" t="t"/>
            <a:pathLst>
              <a:path extrusionOk="0" h="496822" w="332315">
                <a:moveTo>
                  <a:pt x="0" y="0"/>
                </a:moveTo>
                <a:lnTo>
                  <a:pt x="332315" y="0"/>
                </a:lnTo>
                <a:lnTo>
                  <a:pt x="332315" y="496822"/>
                </a:lnTo>
                <a:lnTo>
                  <a:pt x="0" y="496822"/>
                </a:lnTo>
                <a:lnTo>
                  <a:pt x="0" y="0"/>
                </a:lnTo>
                <a:close/>
              </a:path>
            </a:pathLst>
          </a:custGeom>
          <a:blipFill rotWithShape="1">
            <a:blip r:embed="rId5">
              <a:alphaModFix/>
            </a:blip>
            <a:stretch>
              <a:fillRect b="0" l="0" r="0" t="0"/>
            </a:stretch>
          </a:blipFill>
          <a:ln>
            <a:noFill/>
          </a:ln>
        </p:spPr>
      </p:sp>
      <p:sp>
        <p:nvSpPr>
          <p:cNvPr id="232" name="Google Shape;232;p28"/>
          <p:cNvSpPr txBox="1"/>
          <p:nvPr/>
        </p:nvSpPr>
        <p:spPr>
          <a:xfrm>
            <a:off x="2252791" y="923563"/>
            <a:ext cx="4944300" cy="153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1000" u="none" cap="none" strike="noStrike">
                <a:solidFill>
                  <a:srgbClr val="000000"/>
                </a:solidFill>
                <a:latin typeface="Arial"/>
                <a:ea typeface="Arial"/>
                <a:cs typeface="Arial"/>
                <a:sym typeface="Arial"/>
              </a:rPr>
              <a:t>This dataset is suited for both survival prediction and equity-focused analyses.</a:t>
            </a:r>
            <a:endParaRPr sz="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cxnSp>
        <p:nvCxnSpPr>
          <p:cNvPr id="237" name="Google Shape;237;p29"/>
          <p:cNvCxnSpPr/>
          <p:nvPr/>
        </p:nvCxnSpPr>
        <p:spPr>
          <a:xfrm>
            <a:off x="4346155" y="1500830"/>
            <a:ext cx="4649908" cy="0"/>
          </a:xfrm>
          <a:prstGeom prst="straightConnector1">
            <a:avLst/>
          </a:prstGeom>
          <a:noFill/>
          <a:ln cap="flat" cmpd="sng" w="38100">
            <a:solidFill>
              <a:srgbClr val="5188CC"/>
            </a:solidFill>
            <a:prstDash val="solid"/>
            <a:round/>
            <a:headEnd len="sm" w="sm" type="none"/>
            <a:tailEnd len="sm" w="sm" type="none"/>
          </a:ln>
        </p:spPr>
      </p:cxnSp>
      <p:grpSp>
        <p:nvGrpSpPr>
          <p:cNvPr id="238" name="Google Shape;238;p29"/>
          <p:cNvGrpSpPr/>
          <p:nvPr/>
        </p:nvGrpSpPr>
        <p:grpSpPr>
          <a:xfrm>
            <a:off x="4756623" y="676219"/>
            <a:ext cx="334639" cy="334639"/>
            <a:chOff x="0" y="0"/>
            <a:chExt cx="812800" cy="812800"/>
          </a:xfrm>
        </p:grpSpPr>
        <p:sp>
          <p:nvSpPr>
            <p:cNvPr id="239" name="Google Shape;239;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0" name="Google Shape;240;p29"/>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41" name="Google Shape;241;p29"/>
          <p:cNvGrpSpPr/>
          <p:nvPr/>
        </p:nvGrpSpPr>
        <p:grpSpPr>
          <a:xfrm>
            <a:off x="-197408" y="1300773"/>
            <a:ext cx="1676810" cy="3037828"/>
            <a:chOff x="0" y="-47625"/>
            <a:chExt cx="883258" cy="1600173"/>
          </a:xfrm>
        </p:grpSpPr>
        <p:sp>
          <p:nvSpPr>
            <p:cNvPr id="242" name="Google Shape;242;p29"/>
            <p:cNvSpPr/>
            <p:nvPr/>
          </p:nvSpPr>
          <p:spPr>
            <a:xfrm>
              <a:off x="0" y="0"/>
              <a:ext cx="883258" cy="1552548"/>
            </a:xfrm>
            <a:custGeom>
              <a:rect b="b" l="l" r="r" t="t"/>
              <a:pathLst>
                <a:path extrusionOk="0" h="1552548" w="883258">
                  <a:moveTo>
                    <a:pt x="136203" y="0"/>
                  </a:moveTo>
                  <a:lnTo>
                    <a:pt x="747055" y="0"/>
                  </a:lnTo>
                  <a:cubicBezTo>
                    <a:pt x="822278" y="0"/>
                    <a:pt x="883258" y="60980"/>
                    <a:pt x="883258" y="136203"/>
                  </a:cubicBezTo>
                  <a:lnTo>
                    <a:pt x="883258" y="1416345"/>
                  </a:lnTo>
                  <a:cubicBezTo>
                    <a:pt x="883258" y="1452468"/>
                    <a:pt x="868908" y="1487112"/>
                    <a:pt x="843365" y="1512655"/>
                  </a:cubicBezTo>
                  <a:cubicBezTo>
                    <a:pt x="817822" y="1538198"/>
                    <a:pt x="783178" y="1552548"/>
                    <a:pt x="747055" y="1552548"/>
                  </a:cubicBezTo>
                  <a:lnTo>
                    <a:pt x="136203" y="1552548"/>
                  </a:lnTo>
                  <a:cubicBezTo>
                    <a:pt x="100080" y="1552548"/>
                    <a:pt x="65436" y="1538198"/>
                    <a:pt x="39893" y="1512655"/>
                  </a:cubicBezTo>
                  <a:cubicBezTo>
                    <a:pt x="14350" y="1487112"/>
                    <a:pt x="0" y="1452468"/>
                    <a:pt x="0" y="1416345"/>
                  </a:cubicBezTo>
                  <a:lnTo>
                    <a:pt x="0" y="136203"/>
                  </a:lnTo>
                  <a:cubicBezTo>
                    <a:pt x="0" y="100080"/>
                    <a:pt x="14350" y="65436"/>
                    <a:pt x="39893" y="39893"/>
                  </a:cubicBezTo>
                  <a:cubicBezTo>
                    <a:pt x="65436" y="14350"/>
                    <a:pt x="100080" y="0"/>
                    <a:pt x="136203" y="0"/>
                  </a:cubicBezTo>
                  <a:close/>
                </a:path>
              </a:pathLst>
            </a:custGeom>
            <a:solidFill>
              <a:srgbClr val="E1EDF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3" name="Google Shape;243;p29"/>
            <p:cNvSpPr txBox="1"/>
            <p:nvPr/>
          </p:nvSpPr>
          <p:spPr>
            <a:xfrm>
              <a:off x="0" y="-47625"/>
              <a:ext cx="883258"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44" name="Google Shape;244;p29"/>
          <p:cNvSpPr/>
          <p:nvPr/>
        </p:nvSpPr>
        <p:spPr>
          <a:xfrm rot="5400000">
            <a:off x="4861433" y="779468"/>
            <a:ext cx="125018" cy="125018"/>
          </a:xfrm>
          <a:custGeom>
            <a:rect b="b" l="l" r="r" t="t"/>
            <a:pathLst>
              <a:path extrusionOk="0" h="250037" w="250037">
                <a:moveTo>
                  <a:pt x="0" y="0"/>
                </a:moveTo>
                <a:lnTo>
                  <a:pt x="250037" y="0"/>
                </a:lnTo>
                <a:lnTo>
                  <a:pt x="250037" y="250036"/>
                </a:lnTo>
                <a:lnTo>
                  <a:pt x="0" y="250036"/>
                </a:lnTo>
                <a:lnTo>
                  <a:pt x="0" y="0"/>
                </a:lnTo>
                <a:close/>
              </a:path>
            </a:pathLst>
          </a:custGeom>
          <a:blipFill rotWithShape="1">
            <a:blip r:embed="rId3">
              <a:alphaModFix/>
            </a:blip>
            <a:stretch>
              <a:fillRect b="0" l="0" r="0" t="0"/>
            </a:stretch>
          </a:blipFill>
          <a:ln>
            <a:noFill/>
          </a:ln>
        </p:spPr>
      </p:sp>
      <p:sp>
        <p:nvSpPr>
          <p:cNvPr id="245" name="Google Shape;245;p29"/>
          <p:cNvSpPr/>
          <p:nvPr/>
        </p:nvSpPr>
        <p:spPr>
          <a:xfrm>
            <a:off x="2022210" y="-924107"/>
            <a:ext cx="1845934" cy="1845934"/>
          </a:xfrm>
          <a:custGeom>
            <a:rect b="b" l="l" r="r" t="t"/>
            <a:pathLst>
              <a:path extrusionOk="0" h="3691868" w="3691868">
                <a:moveTo>
                  <a:pt x="0" y="0"/>
                </a:moveTo>
                <a:lnTo>
                  <a:pt x="3691867" y="0"/>
                </a:lnTo>
                <a:lnTo>
                  <a:pt x="3691867" y="3691868"/>
                </a:lnTo>
                <a:lnTo>
                  <a:pt x="0" y="3691868"/>
                </a:lnTo>
                <a:lnTo>
                  <a:pt x="0" y="0"/>
                </a:lnTo>
                <a:close/>
              </a:path>
            </a:pathLst>
          </a:custGeom>
          <a:blipFill rotWithShape="1">
            <a:blip r:embed="rId4">
              <a:alphaModFix/>
            </a:blip>
            <a:stretch>
              <a:fillRect b="0" l="0" r="0" t="0"/>
            </a:stretch>
          </a:blipFill>
          <a:ln>
            <a:noFill/>
          </a:ln>
        </p:spPr>
      </p:sp>
      <p:sp>
        <p:nvSpPr>
          <p:cNvPr id="246" name="Google Shape;246;p29"/>
          <p:cNvSpPr/>
          <p:nvPr/>
        </p:nvSpPr>
        <p:spPr>
          <a:xfrm>
            <a:off x="1698472" y="514350"/>
            <a:ext cx="323738" cy="323739"/>
          </a:xfrm>
          <a:custGeom>
            <a:rect b="b" l="l" r="r" t="t"/>
            <a:pathLst>
              <a:path extrusionOk="0" h="647477" w="647477">
                <a:moveTo>
                  <a:pt x="0" y="0"/>
                </a:moveTo>
                <a:lnTo>
                  <a:pt x="647477" y="0"/>
                </a:lnTo>
                <a:lnTo>
                  <a:pt x="647477" y="647477"/>
                </a:lnTo>
                <a:lnTo>
                  <a:pt x="0" y="647477"/>
                </a:lnTo>
                <a:lnTo>
                  <a:pt x="0" y="0"/>
                </a:lnTo>
                <a:close/>
              </a:path>
            </a:pathLst>
          </a:custGeom>
          <a:blipFill rotWithShape="1">
            <a:blip r:embed="rId5">
              <a:alphaModFix/>
            </a:blip>
            <a:stretch>
              <a:fillRect b="0" l="0" r="0" t="0"/>
            </a:stretch>
          </a:blipFill>
          <a:ln>
            <a:noFill/>
          </a:ln>
        </p:spPr>
      </p:sp>
      <p:sp>
        <p:nvSpPr>
          <p:cNvPr id="247" name="Google Shape;247;p29"/>
          <p:cNvSpPr/>
          <p:nvPr/>
        </p:nvSpPr>
        <p:spPr>
          <a:xfrm>
            <a:off x="496460" y="1758061"/>
            <a:ext cx="3849696" cy="3012387"/>
          </a:xfrm>
          <a:custGeom>
            <a:rect b="b" l="l" r="r" t="t"/>
            <a:pathLst>
              <a:path extrusionOk="0" h="6024773" w="7699391">
                <a:moveTo>
                  <a:pt x="0" y="0"/>
                </a:moveTo>
                <a:lnTo>
                  <a:pt x="7699391" y="0"/>
                </a:lnTo>
                <a:lnTo>
                  <a:pt x="7699391" y="6024773"/>
                </a:lnTo>
                <a:lnTo>
                  <a:pt x="0" y="6024773"/>
                </a:lnTo>
                <a:lnTo>
                  <a:pt x="0" y="0"/>
                </a:lnTo>
                <a:close/>
              </a:path>
            </a:pathLst>
          </a:custGeom>
          <a:blipFill rotWithShape="1">
            <a:blip r:embed="rId6">
              <a:alphaModFix/>
            </a:blip>
            <a:stretch>
              <a:fillRect b="0" l="0" r="0" t="0"/>
            </a:stretch>
          </a:blipFill>
          <a:ln>
            <a:noFill/>
          </a:ln>
        </p:spPr>
      </p:sp>
      <p:sp>
        <p:nvSpPr>
          <p:cNvPr id="248" name="Google Shape;248;p29"/>
          <p:cNvSpPr txBox="1"/>
          <p:nvPr/>
        </p:nvSpPr>
        <p:spPr>
          <a:xfrm>
            <a:off x="4820976" y="600025"/>
            <a:ext cx="4175100" cy="838500"/>
          </a:xfrm>
          <a:prstGeom prst="rect">
            <a:avLst/>
          </a:prstGeom>
          <a:noFill/>
          <a:ln>
            <a:noFill/>
          </a:ln>
        </p:spPr>
        <p:txBody>
          <a:bodyPr anchorCtr="0" anchor="t" bIns="0" lIns="0" spcFirstLastPara="1" rIns="0" wrap="square" tIns="0">
            <a:spAutoFit/>
          </a:bodyPr>
          <a:lstStyle/>
          <a:p>
            <a:pPr indent="0" lvl="0" marL="0" marR="0" rtl="0" algn="r">
              <a:lnSpc>
                <a:spcPct val="127005"/>
              </a:lnSpc>
              <a:spcBef>
                <a:spcPts val="0"/>
              </a:spcBef>
              <a:spcAft>
                <a:spcPts val="0"/>
              </a:spcAft>
              <a:buNone/>
            </a:pPr>
            <a:r>
              <a:rPr b="1" i="0" lang="en" sz="2400" u="none" cap="none" strike="noStrike">
                <a:solidFill>
                  <a:srgbClr val="0E2F5F"/>
                </a:solidFill>
                <a:latin typeface="Arial"/>
                <a:ea typeface="Arial"/>
                <a:cs typeface="Arial"/>
                <a:sym typeface="Arial"/>
              </a:rPr>
              <a:t>Distribution of Event-Free Survival Time</a:t>
            </a:r>
            <a:endParaRPr sz="500"/>
          </a:p>
        </p:txBody>
      </p:sp>
      <p:sp>
        <p:nvSpPr>
          <p:cNvPr id="249" name="Google Shape;249;p29"/>
          <p:cNvSpPr txBox="1"/>
          <p:nvPr/>
        </p:nvSpPr>
        <p:spPr>
          <a:xfrm>
            <a:off x="4820974" y="1666825"/>
            <a:ext cx="3998700" cy="4110000"/>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None/>
            </a:pPr>
            <a:r>
              <a:rPr b="1" i="0" lang="en" sz="1200" u="none" cap="none" strike="noStrike">
                <a:solidFill>
                  <a:srgbClr val="021828"/>
                </a:solidFill>
                <a:latin typeface="Arial"/>
                <a:ea typeface="Arial"/>
                <a:cs typeface="Arial"/>
                <a:sym typeface="Arial"/>
              </a:rPr>
              <a:t>- The data is </a:t>
            </a:r>
            <a:r>
              <a:rPr b="1" i="0" lang="en" sz="1200" u="none" cap="none" strike="noStrike">
                <a:solidFill>
                  <a:srgbClr val="021828"/>
                </a:solidFill>
                <a:latin typeface="Arial"/>
                <a:ea typeface="Arial"/>
                <a:cs typeface="Arial"/>
                <a:sym typeface="Arial"/>
              </a:rPr>
              <a:t>right-</a:t>
            </a:r>
            <a:r>
              <a:rPr b="1" i="0" lang="en" sz="1200" u="none" cap="none" strike="noStrike">
                <a:solidFill>
                  <a:srgbClr val="021828"/>
                </a:solidFill>
                <a:latin typeface="Arial"/>
                <a:ea typeface="Arial"/>
                <a:cs typeface="Arial"/>
                <a:sym typeface="Arial"/>
              </a:rPr>
              <a:t>skewed, with most patients experiencing events within the first two years post-HCT. </a:t>
            </a:r>
            <a:endParaRPr sz="400"/>
          </a:p>
          <a:p>
            <a:pPr indent="0" lvl="0" marL="0" marR="0" rtl="0" algn="just">
              <a:lnSpc>
                <a:spcPct val="140006"/>
              </a:lnSpc>
              <a:spcBef>
                <a:spcPts val="0"/>
              </a:spcBef>
              <a:spcAft>
                <a:spcPts val="0"/>
              </a:spcAft>
              <a:buNone/>
            </a:pPr>
            <a:r>
              <a:t/>
            </a:r>
            <a:endParaRPr b="1" i="0" sz="1200" u="none" cap="none" strike="noStrike">
              <a:solidFill>
                <a:srgbClr val="021828"/>
              </a:solidFill>
              <a:latin typeface="Arial"/>
              <a:ea typeface="Arial"/>
              <a:cs typeface="Arial"/>
              <a:sym typeface="Arial"/>
            </a:endParaRPr>
          </a:p>
          <a:p>
            <a:pPr indent="0" lvl="0" marL="0" marR="0" rtl="0" algn="just">
              <a:lnSpc>
                <a:spcPct val="140006"/>
              </a:lnSpc>
              <a:spcBef>
                <a:spcPts val="0"/>
              </a:spcBef>
              <a:spcAft>
                <a:spcPts val="0"/>
              </a:spcAft>
              <a:buNone/>
            </a:pPr>
            <a:r>
              <a:rPr b="1" i="0" lang="en" sz="1200" u="none" cap="none" strike="noStrike">
                <a:solidFill>
                  <a:srgbClr val="021828"/>
                </a:solidFill>
                <a:latin typeface="Arial"/>
                <a:ea typeface="Arial"/>
                <a:cs typeface="Arial"/>
                <a:sym typeface="Arial"/>
              </a:rPr>
              <a:t>- The events here refer to any post-op complication that they may have suffered.</a:t>
            </a:r>
            <a:endParaRPr b="1" i="0" sz="1200" u="none" cap="none" strike="noStrike">
              <a:solidFill>
                <a:srgbClr val="021828"/>
              </a:solidFill>
              <a:latin typeface="Arial"/>
              <a:ea typeface="Arial"/>
              <a:cs typeface="Arial"/>
              <a:sym typeface="Arial"/>
            </a:endParaRPr>
          </a:p>
          <a:p>
            <a:pPr indent="0" lvl="0" marL="0" marR="0" rtl="0" algn="just">
              <a:lnSpc>
                <a:spcPct val="140006"/>
              </a:lnSpc>
              <a:spcBef>
                <a:spcPts val="0"/>
              </a:spcBef>
              <a:spcAft>
                <a:spcPts val="0"/>
              </a:spcAft>
              <a:buNone/>
            </a:pPr>
            <a:r>
              <a:t/>
            </a:r>
            <a:endParaRPr b="1" sz="1200">
              <a:solidFill>
                <a:srgbClr val="021828"/>
              </a:solidFill>
            </a:endParaRPr>
          </a:p>
          <a:p>
            <a:pPr indent="0" lvl="0" marL="0" marR="0" rtl="0" algn="just">
              <a:lnSpc>
                <a:spcPct val="140006"/>
              </a:lnSpc>
              <a:spcBef>
                <a:spcPts val="0"/>
              </a:spcBef>
              <a:spcAft>
                <a:spcPts val="0"/>
              </a:spcAft>
              <a:buNone/>
            </a:pPr>
            <a:r>
              <a:rPr b="1" lang="en" sz="1200">
                <a:solidFill>
                  <a:srgbClr val="021828"/>
                </a:solidFill>
              </a:rPr>
              <a:t>- The skewed nature of the data also posed challenges for our modeling process, particularly for techniques that assume normality (like linear and logistic regression/ pca). To address this, we considered transformations and non-parametric models better suited for skewed data.</a:t>
            </a:r>
            <a:endParaRPr b="1" sz="1200">
              <a:solidFill>
                <a:srgbClr val="021828"/>
              </a:solidFill>
            </a:endParaRPr>
          </a:p>
          <a:p>
            <a:pPr indent="0" lvl="0" marL="0" marR="0" rtl="0" algn="just">
              <a:lnSpc>
                <a:spcPct val="140006"/>
              </a:lnSpc>
              <a:spcBef>
                <a:spcPts val="0"/>
              </a:spcBef>
              <a:spcAft>
                <a:spcPts val="0"/>
              </a:spcAft>
              <a:buNone/>
            </a:pPr>
            <a:r>
              <a:t/>
            </a:r>
            <a:endParaRPr b="1" sz="1200">
              <a:solidFill>
                <a:srgbClr val="021828"/>
              </a:solidFill>
            </a:endParaRPr>
          </a:p>
          <a:p>
            <a:pPr indent="0" lvl="0" marL="0" marR="0" rtl="0" algn="just">
              <a:lnSpc>
                <a:spcPct val="140006"/>
              </a:lnSpc>
              <a:spcBef>
                <a:spcPts val="0"/>
              </a:spcBef>
              <a:spcAft>
                <a:spcPts val="0"/>
              </a:spcAft>
              <a:buNone/>
            </a:pPr>
            <a:r>
              <a:t/>
            </a:r>
            <a:endParaRPr b="1" sz="1200">
              <a:solidFill>
                <a:srgbClr val="021828"/>
              </a:solidFill>
            </a:endParaRPr>
          </a:p>
          <a:p>
            <a:pPr indent="0" lvl="0" marL="0" marR="0" rtl="0" algn="just">
              <a:lnSpc>
                <a:spcPct val="140006"/>
              </a:lnSpc>
              <a:spcBef>
                <a:spcPts val="0"/>
              </a:spcBef>
              <a:spcAft>
                <a:spcPts val="0"/>
              </a:spcAft>
              <a:buNone/>
            </a:pPr>
            <a:r>
              <a:t/>
            </a:r>
            <a:endParaRPr b="1" i="0" sz="1500" u="none" cap="none" strike="noStrike">
              <a:solidFill>
                <a:srgbClr val="021828"/>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grpSp>
        <p:nvGrpSpPr>
          <p:cNvPr id="254" name="Google Shape;254;p30"/>
          <p:cNvGrpSpPr/>
          <p:nvPr/>
        </p:nvGrpSpPr>
        <p:grpSpPr>
          <a:xfrm>
            <a:off x="-279250" y="2861551"/>
            <a:ext cx="4649879" cy="1683669"/>
            <a:chOff x="0" y="-47625"/>
            <a:chExt cx="1488104" cy="1015911"/>
          </a:xfrm>
        </p:grpSpPr>
        <p:sp>
          <p:nvSpPr>
            <p:cNvPr id="255" name="Google Shape;255;p30"/>
            <p:cNvSpPr/>
            <p:nvPr/>
          </p:nvSpPr>
          <p:spPr>
            <a:xfrm>
              <a:off x="0" y="0"/>
              <a:ext cx="1488104" cy="968286"/>
            </a:xfrm>
            <a:custGeom>
              <a:rect b="b" l="l" r="r" t="t"/>
              <a:pathLst>
                <a:path extrusionOk="0" h="968286" w="1488104">
                  <a:moveTo>
                    <a:pt x="0" y="0"/>
                  </a:moveTo>
                  <a:lnTo>
                    <a:pt x="1488104" y="0"/>
                  </a:lnTo>
                  <a:lnTo>
                    <a:pt x="1488104" y="968286"/>
                  </a:lnTo>
                  <a:lnTo>
                    <a:pt x="0" y="968286"/>
                  </a:lnTo>
                  <a:close/>
                </a:path>
              </a:pathLst>
            </a:custGeom>
            <a:solidFill>
              <a:srgbClr val="E1EDFC"/>
            </a:solidFill>
            <a:ln>
              <a:noFill/>
            </a:ln>
          </p:spPr>
        </p:sp>
        <p:sp>
          <p:nvSpPr>
            <p:cNvPr id="256" name="Google Shape;256;p30"/>
            <p:cNvSpPr txBox="1"/>
            <p:nvPr/>
          </p:nvSpPr>
          <p:spPr>
            <a:xfrm>
              <a:off x="0" y="-47625"/>
              <a:ext cx="1488104" cy="1015911"/>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57" name="Google Shape;257;p30"/>
          <p:cNvSpPr/>
          <p:nvPr/>
        </p:nvSpPr>
        <p:spPr>
          <a:xfrm>
            <a:off x="7465112" y="703894"/>
            <a:ext cx="1845934" cy="1845934"/>
          </a:xfrm>
          <a:custGeom>
            <a:rect b="b" l="l" r="r" t="t"/>
            <a:pathLst>
              <a:path extrusionOk="0" h="3691868" w="3691868">
                <a:moveTo>
                  <a:pt x="0" y="0"/>
                </a:moveTo>
                <a:lnTo>
                  <a:pt x="3691868" y="0"/>
                </a:lnTo>
                <a:lnTo>
                  <a:pt x="3691868" y="3691867"/>
                </a:lnTo>
                <a:lnTo>
                  <a:pt x="0" y="3691867"/>
                </a:lnTo>
                <a:lnTo>
                  <a:pt x="0" y="0"/>
                </a:lnTo>
                <a:close/>
              </a:path>
            </a:pathLst>
          </a:custGeom>
          <a:blipFill rotWithShape="1">
            <a:blip r:embed="rId3">
              <a:alphaModFix/>
            </a:blip>
            <a:stretch>
              <a:fillRect b="0" l="0" r="0" t="0"/>
            </a:stretch>
          </a:blipFill>
          <a:ln>
            <a:noFill/>
          </a:ln>
        </p:spPr>
      </p:sp>
      <p:sp>
        <p:nvSpPr>
          <p:cNvPr id="258" name="Google Shape;258;p30"/>
          <p:cNvSpPr/>
          <p:nvPr/>
        </p:nvSpPr>
        <p:spPr>
          <a:xfrm>
            <a:off x="8031176" y="4439553"/>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259" name="Google Shape;259;p30"/>
          <p:cNvSpPr/>
          <p:nvPr/>
        </p:nvSpPr>
        <p:spPr>
          <a:xfrm>
            <a:off x="7158497" y="0"/>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260" name="Google Shape;260;p30"/>
          <p:cNvSpPr/>
          <p:nvPr/>
        </p:nvSpPr>
        <p:spPr>
          <a:xfrm>
            <a:off x="4847720" y="1539827"/>
            <a:ext cx="3724146" cy="3039835"/>
          </a:xfrm>
          <a:custGeom>
            <a:rect b="b" l="l" r="r" t="t"/>
            <a:pathLst>
              <a:path extrusionOk="0" h="6079669" w="7448292">
                <a:moveTo>
                  <a:pt x="0" y="0"/>
                </a:moveTo>
                <a:lnTo>
                  <a:pt x="7448292" y="0"/>
                </a:lnTo>
                <a:lnTo>
                  <a:pt x="7448292" y="6079668"/>
                </a:lnTo>
                <a:lnTo>
                  <a:pt x="0" y="6079668"/>
                </a:lnTo>
                <a:lnTo>
                  <a:pt x="0" y="0"/>
                </a:lnTo>
                <a:close/>
              </a:path>
            </a:pathLst>
          </a:custGeom>
          <a:blipFill rotWithShape="1">
            <a:blip r:embed="rId5">
              <a:alphaModFix/>
            </a:blip>
            <a:stretch>
              <a:fillRect b="0" l="0" r="0" t="0"/>
            </a:stretch>
          </a:blipFill>
          <a:ln>
            <a:noFill/>
          </a:ln>
        </p:spPr>
      </p:sp>
      <p:sp>
        <p:nvSpPr>
          <p:cNvPr id="261" name="Google Shape;261;p30"/>
          <p:cNvSpPr txBox="1"/>
          <p:nvPr/>
        </p:nvSpPr>
        <p:spPr>
          <a:xfrm>
            <a:off x="965742" y="428625"/>
            <a:ext cx="3628739" cy="1076784"/>
          </a:xfrm>
          <a:prstGeom prst="rect">
            <a:avLst/>
          </a:prstGeom>
          <a:noFill/>
          <a:ln>
            <a:noFill/>
          </a:ln>
        </p:spPr>
        <p:txBody>
          <a:bodyPr anchorCtr="0" anchor="t" bIns="0" lIns="0" spcFirstLastPara="1" rIns="0" wrap="square" tIns="0">
            <a:spAutoFit/>
          </a:bodyPr>
          <a:lstStyle/>
          <a:p>
            <a:pPr indent="0" lvl="0" marL="0" marR="0" rtl="0" algn="l">
              <a:lnSpc>
                <a:spcPct val="127003"/>
              </a:lnSpc>
              <a:spcBef>
                <a:spcPts val="0"/>
              </a:spcBef>
              <a:spcAft>
                <a:spcPts val="0"/>
              </a:spcAft>
              <a:buNone/>
            </a:pPr>
            <a:r>
              <a:rPr b="1" i="0" lang="en" sz="3200" u="none" cap="none" strike="noStrike">
                <a:solidFill>
                  <a:srgbClr val="0E2F5F"/>
                </a:solidFill>
                <a:latin typeface="Arial"/>
                <a:ea typeface="Arial"/>
                <a:cs typeface="Arial"/>
                <a:sym typeface="Arial"/>
              </a:rPr>
              <a:t>Pairplot </a:t>
            </a:r>
            <a:endParaRPr sz="700"/>
          </a:p>
          <a:p>
            <a:pPr indent="0" lvl="0" marL="0" marR="0" rtl="0" algn="l">
              <a:lnSpc>
                <a:spcPct val="127003"/>
              </a:lnSpc>
              <a:spcBef>
                <a:spcPts val="0"/>
              </a:spcBef>
              <a:spcAft>
                <a:spcPts val="0"/>
              </a:spcAft>
              <a:buNone/>
            </a:pPr>
            <a:r>
              <a:t/>
            </a:r>
            <a:endParaRPr b="1" i="0" sz="3200" u="none" cap="none" strike="noStrike">
              <a:solidFill>
                <a:srgbClr val="0E2F5F"/>
              </a:solidFill>
              <a:latin typeface="Arial"/>
              <a:ea typeface="Arial"/>
              <a:cs typeface="Arial"/>
              <a:sym typeface="Arial"/>
            </a:endParaRPr>
          </a:p>
        </p:txBody>
      </p:sp>
      <p:sp>
        <p:nvSpPr>
          <p:cNvPr id="262" name="Google Shape;262;p30"/>
          <p:cNvSpPr txBox="1"/>
          <p:nvPr/>
        </p:nvSpPr>
        <p:spPr>
          <a:xfrm>
            <a:off x="100050" y="1172900"/>
            <a:ext cx="3891300" cy="3519600"/>
          </a:xfrm>
          <a:prstGeom prst="rect">
            <a:avLst/>
          </a:prstGeom>
          <a:noFill/>
          <a:ln>
            <a:noFill/>
          </a:ln>
        </p:spPr>
        <p:txBody>
          <a:bodyPr anchorCtr="0" anchor="t" bIns="0" lIns="0" spcFirstLastPara="1" rIns="0" wrap="square" tIns="0">
            <a:spAutoFit/>
          </a:bodyPr>
          <a:lstStyle/>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The pairplot examines relationships between EFS time, comorbidity scores, and HLA matching (hla_match_c_high)</a:t>
            </a:r>
            <a:endParaRPr sz="500"/>
          </a:p>
          <a:p>
            <a:pPr indent="0" lvl="0" marL="0" marR="0" rtl="0" algn="just">
              <a:lnSpc>
                <a:spcPct val="140038"/>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Shows patterns in survival times based on these key factors: suggests that higher comorbidity scores may correspond to shorter EFS times.</a:t>
            </a:r>
            <a:br>
              <a:rPr b="1" i="0" lang="en" sz="1100" u="none" cap="none" strike="noStrike">
                <a:solidFill>
                  <a:srgbClr val="021828"/>
                </a:solidFill>
                <a:latin typeface="Arial"/>
                <a:ea typeface="Arial"/>
                <a:cs typeface="Arial"/>
                <a:sym typeface="Arial"/>
              </a:rPr>
            </a:br>
            <a:endParaRPr b="1" sz="1100">
              <a:solidFill>
                <a:srgbClr val="021828"/>
              </a:solidFill>
            </a:endParaRPr>
          </a:p>
          <a:p>
            <a:pPr indent="-120650" lvl="1" marL="279400" marR="0" rtl="0" algn="just">
              <a:lnSpc>
                <a:spcPct val="140038"/>
              </a:lnSpc>
              <a:spcBef>
                <a:spcPts val="0"/>
              </a:spcBef>
              <a:spcAft>
                <a:spcPts val="0"/>
              </a:spcAft>
              <a:buClr>
                <a:srgbClr val="021828"/>
              </a:buClr>
              <a:buSzPts val="1100"/>
              <a:buChar char="•"/>
            </a:pPr>
            <a:r>
              <a:rPr b="1" lang="en" sz="1100">
                <a:solidFill>
                  <a:srgbClr val="021828"/>
                </a:solidFill>
              </a:rPr>
              <a:t>But not all relationships were simple. Some factors didn’t show a clear pattern, which meant traditional models might not capture these interactions well. Because of this, we tested more advanced machine learning models, like XGBoost and DeepSurv, to improve predictions.</a:t>
            </a:r>
            <a:endParaRPr b="1" sz="1100">
              <a:solidFill>
                <a:srgbClr val="021828"/>
              </a:solidFill>
            </a:endParaRPr>
          </a:p>
          <a:p>
            <a:pPr indent="0" lvl="0" marL="0" marR="0" rtl="0" algn="just">
              <a:lnSpc>
                <a:spcPct val="114312"/>
              </a:lnSpc>
              <a:spcBef>
                <a:spcPts val="0"/>
              </a:spcBef>
              <a:spcAft>
                <a:spcPts val="0"/>
              </a:spcAft>
              <a:buNone/>
            </a:pPr>
            <a:r>
              <a:t/>
            </a:r>
            <a:endParaRPr b="1" i="0" sz="1300" u="none" cap="none" strike="noStrike">
              <a:solidFill>
                <a:srgbClr val="021828"/>
              </a:solidFill>
              <a:latin typeface="Arial"/>
              <a:ea typeface="Arial"/>
              <a:cs typeface="Arial"/>
              <a:sym typeface="Arial"/>
            </a:endParaRPr>
          </a:p>
        </p:txBody>
      </p:sp>
      <p:cxnSp>
        <p:nvCxnSpPr>
          <p:cNvPr id="263" name="Google Shape;263;p30"/>
          <p:cNvCxnSpPr/>
          <p:nvPr/>
        </p:nvCxnSpPr>
        <p:spPr>
          <a:xfrm>
            <a:off x="197726" y="1022058"/>
            <a:ext cx="4650000" cy="0"/>
          </a:xfrm>
          <a:prstGeom prst="straightConnector1">
            <a:avLst/>
          </a:prstGeom>
          <a:noFill/>
          <a:ln cap="flat" cmpd="sng" w="38100">
            <a:solidFill>
              <a:srgbClr val="5188CC"/>
            </a:solidFill>
            <a:prstDash val="solid"/>
            <a:round/>
            <a:headEnd len="sm" w="sm" type="none"/>
            <a:tailEnd len="sm" w="sm" type="none"/>
          </a:ln>
        </p:spPr>
      </p:cxnSp>
      <p:grpSp>
        <p:nvGrpSpPr>
          <p:cNvPr id="264" name="Google Shape;264;p30"/>
          <p:cNvGrpSpPr/>
          <p:nvPr/>
        </p:nvGrpSpPr>
        <p:grpSpPr>
          <a:xfrm>
            <a:off x="514350" y="536574"/>
            <a:ext cx="334639" cy="334639"/>
            <a:chOff x="0" y="0"/>
            <a:chExt cx="812800" cy="812800"/>
          </a:xfrm>
        </p:grpSpPr>
        <p:sp>
          <p:nvSpPr>
            <p:cNvPr id="265" name="Google Shape;265;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6" name="Google Shape;266;p30"/>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67" name="Google Shape;267;p30"/>
          <p:cNvSpPr/>
          <p:nvPr/>
        </p:nvSpPr>
        <p:spPr>
          <a:xfrm rot="5400000">
            <a:off x="619160" y="639823"/>
            <a:ext cx="125018" cy="125018"/>
          </a:xfrm>
          <a:custGeom>
            <a:rect b="b" l="l" r="r" t="t"/>
            <a:pathLst>
              <a:path extrusionOk="0" h="250037" w="250037">
                <a:moveTo>
                  <a:pt x="0" y="0"/>
                </a:moveTo>
                <a:lnTo>
                  <a:pt x="250037" y="0"/>
                </a:lnTo>
                <a:lnTo>
                  <a:pt x="250037" y="250037"/>
                </a:lnTo>
                <a:lnTo>
                  <a:pt x="0" y="250037"/>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cxnSp>
        <p:nvCxnSpPr>
          <p:cNvPr id="272" name="Google Shape;272;p31"/>
          <p:cNvCxnSpPr/>
          <p:nvPr/>
        </p:nvCxnSpPr>
        <p:spPr>
          <a:xfrm>
            <a:off x="4346155" y="1248330"/>
            <a:ext cx="4649908" cy="0"/>
          </a:xfrm>
          <a:prstGeom prst="straightConnector1">
            <a:avLst/>
          </a:prstGeom>
          <a:noFill/>
          <a:ln cap="flat" cmpd="sng" w="38100">
            <a:solidFill>
              <a:srgbClr val="5188CC"/>
            </a:solidFill>
            <a:prstDash val="solid"/>
            <a:round/>
            <a:headEnd len="sm" w="sm" type="none"/>
            <a:tailEnd len="sm" w="sm" type="none"/>
          </a:ln>
        </p:spPr>
      </p:cxnSp>
      <p:grpSp>
        <p:nvGrpSpPr>
          <p:cNvPr id="273" name="Google Shape;273;p31"/>
          <p:cNvGrpSpPr/>
          <p:nvPr/>
        </p:nvGrpSpPr>
        <p:grpSpPr>
          <a:xfrm>
            <a:off x="4756623" y="676219"/>
            <a:ext cx="334639" cy="334639"/>
            <a:chOff x="0" y="0"/>
            <a:chExt cx="812800" cy="812800"/>
          </a:xfrm>
        </p:grpSpPr>
        <p:sp>
          <p:nvSpPr>
            <p:cNvPr id="274" name="Google Shape;274;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5" name="Google Shape;275;p31"/>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76" name="Google Shape;276;p31"/>
          <p:cNvGrpSpPr/>
          <p:nvPr/>
        </p:nvGrpSpPr>
        <p:grpSpPr>
          <a:xfrm>
            <a:off x="-197408" y="1300773"/>
            <a:ext cx="1676810" cy="3037828"/>
            <a:chOff x="0" y="-47625"/>
            <a:chExt cx="883258" cy="1600173"/>
          </a:xfrm>
        </p:grpSpPr>
        <p:sp>
          <p:nvSpPr>
            <p:cNvPr id="277" name="Google Shape;277;p31"/>
            <p:cNvSpPr/>
            <p:nvPr/>
          </p:nvSpPr>
          <p:spPr>
            <a:xfrm>
              <a:off x="0" y="0"/>
              <a:ext cx="883258" cy="1552548"/>
            </a:xfrm>
            <a:custGeom>
              <a:rect b="b" l="l" r="r" t="t"/>
              <a:pathLst>
                <a:path extrusionOk="0" h="1552548" w="883258">
                  <a:moveTo>
                    <a:pt x="136203" y="0"/>
                  </a:moveTo>
                  <a:lnTo>
                    <a:pt x="747055" y="0"/>
                  </a:lnTo>
                  <a:cubicBezTo>
                    <a:pt x="822278" y="0"/>
                    <a:pt x="883258" y="60980"/>
                    <a:pt x="883258" y="136203"/>
                  </a:cubicBezTo>
                  <a:lnTo>
                    <a:pt x="883258" y="1416345"/>
                  </a:lnTo>
                  <a:cubicBezTo>
                    <a:pt x="883258" y="1452468"/>
                    <a:pt x="868908" y="1487112"/>
                    <a:pt x="843365" y="1512655"/>
                  </a:cubicBezTo>
                  <a:cubicBezTo>
                    <a:pt x="817822" y="1538198"/>
                    <a:pt x="783178" y="1552548"/>
                    <a:pt x="747055" y="1552548"/>
                  </a:cubicBezTo>
                  <a:lnTo>
                    <a:pt x="136203" y="1552548"/>
                  </a:lnTo>
                  <a:cubicBezTo>
                    <a:pt x="100080" y="1552548"/>
                    <a:pt x="65436" y="1538198"/>
                    <a:pt x="39893" y="1512655"/>
                  </a:cubicBezTo>
                  <a:cubicBezTo>
                    <a:pt x="14350" y="1487112"/>
                    <a:pt x="0" y="1452468"/>
                    <a:pt x="0" y="1416345"/>
                  </a:cubicBezTo>
                  <a:lnTo>
                    <a:pt x="0" y="136203"/>
                  </a:lnTo>
                  <a:cubicBezTo>
                    <a:pt x="0" y="100080"/>
                    <a:pt x="14350" y="65436"/>
                    <a:pt x="39893" y="39893"/>
                  </a:cubicBezTo>
                  <a:cubicBezTo>
                    <a:pt x="65436" y="14350"/>
                    <a:pt x="100080" y="0"/>
                    <a:pt x="136203" y="0"/>
                  </a:cubicBezTo>
                  <a:close/>
                </a:path>
              </a:pathLst>
            </a:custGeom>
            <a:solidFill>
              <a:srgbClr val="E1EDF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8" name="Google Shape;278;p31"/>
            <p:cNvSpPr txBox="1"/>
            <p:nvPr/>
          </p:nvSpPr>
          <p:spPr>
            <a:xfrm>
              <a:off x="0" y="-47625"/>
              <a:ext cx="883258"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79" name="Google Shape;279;p31"/>
          <p:cNvSpPr/>
          <p:nvPr/>
        </p:nvSpPr>
        <p:spPr>
          <a:xfrm rot="5400000">
            <a:off x="4861433" y="779468"/>
            <a:ext cx="125018" cy="125018"/>
          </a:xfrm>
          <a:custGeom>
            <a:rect b="b" l="l" r="r" t="t"/>
            <a:pathLst>
              <a:path extrusionOk="0" h="250037" w="250037">
                <a:moveTo>
                  <a:pt x="0" y="0"/>
                </a:moveTo>
                <a:lnTo>
                  <a:pt x="250037" y="0"/>
                </a:lnTo>
                <a:lnTo>
                  <a:pt x="250037" y="250036"/>
                </a:lnTo>
                <a:lnTo>
                  <a:pt x="0" y="250036"/>
                </a:lnTo>
                <a:lnTo>
                  <a:pt x="0" y="0"/>
                </a:lnTo>
                <a:close/>
              </a:path>
            </a:pathLst>
          </a:custGeom>
          <a:blipFill rotWithShape="1">
            <a:blip r:embed="rId3">
              <a:alphaModFix/>
            </a:blip>
            <a:stretch>
              <a:fillRect b="0" l="0" r="0" t="0"/>
            </a:stretch>
          </a:blipFill>
          <a:ln>
            <a:noFill/>
          </a:ln>
        </p:spPr>
      </p:sp>
      <p:sp>
        <p:nvSpPr>
          <p:cNvPr id="280" name="Google Shape;280;p31"/>
          <p:cNvSpPr/>
          <p:nvPr/>
        </p:nvSpPr>
        <p:spPr>
          <a:xfrm>
            <a:off x="2022210" y="-924107"/>
            <a:ext cx="1845934" cy="1845934"/>
          </a:xfrm>
          <a:custGeom>
            <a:rect b="b" l="l" r="r" t="t"/>
            <a:pathLst>
              <a:path extrusionOk="0" h="3691868" w="3691868">
                <a:moveTo>
                  <a:pt x="0" y="0"/>
                </a:moveTo>
                <a:lnTo>
                  <a:pt x="3691867" y="0"/>
                </a:lnTo>
                <a:lnTo>
                  <a:pt x="3691867" y="3691868"/>
                </a:lnTo>
                <a:lnTo>
                  <a:pt x="0" y="3691868"/>
                </a:lnTo>
                <a:lnTo>
                  <a:pt x="0" y="0"/>
                </a:lnTo>
                <a:close/>
              </a:path>
            </a:pathLst>
          </a:custGeom>
          <a:blipFill rotWithShape="1">
            <a:blip r:embed="rId4">
              <a:alphaModFix/>
            </a:blip>
            <a:stretch>
              <a:fillRect b="0" l="0" r="0" t="0"/>
            </a:stretch>
          </a:blipFill>
          <a:ln>
            <a:noFill/>
          </a:ln>
        </p:spPr>
      </p:sp>
      <p:sp>
        <p:nvSpPr>
          <p:cNvPr id="281" name="Google Shape;281;p31"/>
          <p:cNvSpPr/>
          <p:nvPr/>
        </p:nvSpPr>
        <p:spPr>
          <a:xfrm>
            <a:off x="1698472" y="514350"/>
            <a:ext cx="323738" cy="323739"/>
          </a:xfrm>
          <a:custGeom>
            <a:rect b="b" l="l" r="r" t="t"/>
            <a:pathLst>
              <a:path extrusionOk="0" h="647477" w="647477">
                <a:moveTo>
                  <a:pt x="0" y="0"/>
                </a:moveTo>
                <a:lnTo>
                  <a:pt x="647477" y="0"/>
                </a:lnTo>
                <a:lnTo>
                  <a:pt x="647477" y="647477"/>
                </a:lnTo>
                <a:lnTo>
                  <a:pt x="0" y="647477"/>
                </a:lnTo>
                <a:lnTo>
                  <a:pt x="0" y="0"/>
                </a:lnTo>
                <a:close/>
              </a:path>
            </a:pathLst>
          </a:custGeom>
          <a:blipFill rotWithShape="1">
            <a:blip r:embed="rId5">
              <a:alphaModFix/>
            </a:blip>
            <a:stretch>
              <a:fillRect b="0" l="0" r="0" t="0"/>
            </a:stretch>
          </a:blipFill>
          <a:ln>
            <a:noFill/>
          </a:ln>
        </p:spPr>
      </p:sp>
      <p:sp>
        <p:nvSpPr>
          <p:cNvPr id="282" name="Google Shape;282;p31"/>
          <p:cNvSpPr txBox="1"/>
          <p:nvPr/>
        </p:nvSpPr>
        <p:spPr>
          <a:xfrm>
            <a:off x="4923942" y="600019"/>
            <a:ext cx="3855338" cy="891286"/>
          </a:xfrm>
          <a:prstGeom prst="rect">
            <a:avLst/>
          </a:prstGeom>
          <a:noFill/>
          <a:ln>
            <a:noFill/>
          </a:ln>
        </p:spPr>
        <p:txBody>
          <a:bodyPr anchorCtr="0" anchor="t" bIns="0" lIns="0" spcFirstLastPara="1" rIns="0" wrap="square" tIns="0">
            <a:spAutoFit/>
          </a:bodyPr>
          <a:lstStyle/>
          <a:p>
            <a:pPr indent="0" lvl="0" marL="0" marR="0" rtl="0" algn="r">
              <a:lnSpc>
                <a:spcPct val="127005"/>
              </a:lnSpc>
              <a:spcBef>
                <a:spcPts val="0"/>
              </a:spcBef>
              <a:spcAft>
                <a:spcPts val="0"/>
              </a:spcAft>
              <a:buNone/>
            </a:pPr>
            <a:r>
              <a:rPr b="1" i="0" lang="en" sz="2600" u="none" cap="none" strike="noStrike">
                <a:solidFill>
                  <a:srgbClr val="0E2F5F"/>
                </a:solidFill>
                <a:latin typeface="Arial"/>
                <a:ea typeface="Arial"/>
                <a:cs typeface="Arial"/>
                <a:sym typeface="Arial"/>
              </a:rPr>
              <a:t>Correlation Heatmap</a:t>
            </a:r>
            <a:endParaRPr sz="700"/>
          </a:p>
          <a:p>
            <a:pPr indent="0" lvl="0" marL="0" marR="0" rtl="0" algn="r">
              <a:lnSpc>
                <a:spcPct val="127005"/>
              </a:lnSpc>
              <a:spcBef>
                <a:spcPts val="0"/>
              </a:spcBef>
              <a:spcAft>
                <a:spcPts val="0"/>
              </a:spcAft>
              <a:buNone/>
            </a:pPr>
            <a:r>
              <a:t/>
            </a:r>
            <a:endParaRPr b="1" i="0" sz="2600" u="none" cap="none" strike="noStrike">
              <a:solidFill>
                <a:srgbClr val="0E2F5F"/>
              </a:solidFill>
              <a:latin typeface="Arial"/>
              <a:ea typeface="Arial"/>
              <a:cs typeface="Arial"/>
              <a:sym typeface="Arial"/>
            </a:endParaRPr>
          </a:p>
        </p:txBody>
      </p:sp>
      <p:sp>
        <p:nvSpPr>
          <p:cNvPr id="283" name="Google Shape;283;p31"/>
          <p:cNvSpPr txBox="1"/>
          <p:nvPr/>
        </p:nvSpPr>
        <p:spPr>
          <a:xfrm>
            <a:off x="4849124" y="1592175"/>
            <a:ext cx="4005000" cy="2512500"/>
          </a:xfrm>
          <a:prstGeom prst="rect">
            <a:avLst/>
          </a:prstGeom>
          <a:noFill/>
          <a:ln>
            <a:noFill/>
          </a:ln>
        </p:spPr>
        <p:txBody>
          <a:bodyPr anchorCtr="0" anchor="t" bIns="0" lIns="0" spcFirstLastPara="1" rIns="0" wrap="square" tIns="0">
            <a:spAutoFit/>
          </a:bodyPr>
          <a:lstStyle/>
          <a:p>
            <a:pPr indent="0" lvl="0" marL="0" marR="0" rtl="0" algn="just">
              <a:lnSpc>
                <a:spcPct val="140021"/>
              </a:lnSpc>
              <a:spcBef>
                <a:spcPts val="0"/>
              </a:spcBef>
              <a:spcAft>
                <a:spcPts val="0"/>
              </a:spcAft>
              <a:buNone/>
            </a:pPr>
            <a:r>
              <a:rPr b="1" i="0" lang="en" sz="1200" u="none" cap="none" strike="noStrike">
                <a:solidFill>
                  <a:srgbClr val="021828"/>
                </a:solidFill>
                <a:latin typeface="Arial"/>
                <a:ea typeface="Arial"/>
                <a:cs typeface="Arial"/>
                <a:sym typeface="Arial"/>
              </a:rPr>
              <a:t>Key correlations include the relationship between: </a:t>
            </a:r>
            <a:endParaRPr b="1" sz="1200">
              <a:solidFill>
                <a:srgbClr val="021828"/>
              </a:solidFill>
            </a:endParaRPr>
          </a:p>
          <a:p>
            <a:pPr indent="457200" lvl="0" marL="0" marR="0" rtl="0" algn="just">
              <a:lnSpc>
                <a:spcPct val="140021"/>
              </a:lnSpc>
              <a:spcBef>
                <a:spcPts val="0"/>
              </a:spcBef>
              <a:spcAft>
                <a:spcPts val="0"/>
              </a:spcAft>
              <a:buNone/>
            </a:pPr>
            <a:r>
              <a:rPr b="1" lang="en" sz="1200">
                <a:solidFill>
                  <a:srgbClr val="021828"/>
                </a:solidFill>
              </a:rPr>
              <a:t>- </a:t>
            </a:r>
            <a:r>
              <a:rPr b="1" lang="en" sz="1200">
                <a:solidFill>
                  <a:srgbClr val="021828"/>
                </a:solidFill>
              </a:rPr>
              <a:t>C</a:t>
            </a:r>
            <a:r>
              <a:rPr b="1" i="0" lang="en" sz="1200" u="none" cap="none" strike="noStrike">
                <a:solidFill>
                  <a:srgbClr val="021828"/>
                </a:solidFill>
                <a:latin typeface="Arial"/>
                <a:ea typeface="Arial"/>
                <a:cs typeface="Arial"/>
                <a:sym typeface="Arial"/>
              </a:rPr>
              <a:t>onditioning </a:t>
            </a:r>
            <a:r>
              <a:rPr b="1" lang="en" sz="1200">
                <a:solidFill>
                  <a:srgbClr val="021828"/>
                </a:solidFill>
              </a:rPr>
              <a:t>I</a:t>
            </a:r>
            <a:r>
              <a:rPr b="1" i="0" lang="en" sz="1200" u="none" cap="none" strike="noStrike">
                <a:solidFill>
                  <a:srgbClr val="021828"/>
                </a:solidFill>
                <a:latin typeface="Arial"/>
                <a:ea typeface="Arial"/>
                <a:cs typeface="Arial"/>
                <a:sym typeface="Arial"/>
              </a:rPr>
              <a:t>ntensity and </a:t>
            </a:r>
            <a:r>
              <a:rPr b="1" lang="en" sz="1200">
                <a:solidFill>
                  <a:srgbClr val="021828"/>
                </a:solidFill>
              </a:rPr>
              <a:t>A</a:t>
            </a:r>
            <a:r>
              <a:rPr b="1" i="0" lang="en" sz="1200" u="none" cap="none" strike="noStrike">
                <a:solidFill>
                  <a:srgbClr val="021828"/>
                </a:solidFill>
                <a:latin typeface="Arial"/>
                <a:ea typeface="Arial"/>
                <a:cs typeface="Arial"/>
                <a:sym typeface="Arial"/>
              </a:rPr>
              <a:t>ge </a:t>
            </a:r>
            <a:br>
              <a:rPr b="1" lang="en" sz="1200">
                <a:solidFill>
                  <a:srgbClr val="021828"/>
                </a:solidFill>
              </a:rPr>
            </a:br>
            <a:r>
              <a:rPr b="1" lang="en" sz="1200">
                <a:solidFill>
                  <a:srgbClr val="021828"/>
                </a:solidFill>
              </a:rPr>
              <a:t>	- </a:t>
            </a:r>
            <a:r>
              <a:rPr b="1" i="0" lang="en" sz="1200" u="none" cap="none" strike="noStrike">
                <a:solidFill>
                  <a:srgbClr val="021828"/>
                </a:solidFill>
                <a:latin typeface="Arial"/>
                <a:ea typeface="Arial"/>
                <a:cs typeface="Arial"/>
                <a:sym typeface="Arial"/>
              </a:rPr>
              <a:t>HLA matching and </a:t>
            </a:r>
            <a:r>
              <a:rPr b="1" lang="en" sz="1200">
                <a:solidFill>
                  <a:srgbClr val="021828"/>
                </a:solidFill>
              </a:rPr>
              <a:t>S</a:t>
            </a:r>
            <a:r>
              <a:rPr b="1" i="0" lang="en" sz="1200" u="none" cap="none" strike="noStrike">
                <a:solidFill>
                  <a:srgbClr val="021828"/>
                </a:solidFill>
                <a:latin typeface="Arial"/>
                <a:ea typeface="Arial"/>
                <a:cs typeface="Arial"/>
                <a:sym typeface="Arial"/>
              </a:rPr>
              <a:t>urvival </a:t>
            </a:r>
            <a:r>
              <a:rPr b="1" lang="en" sz="1200">
                <a:solidFill>
                  <a:srgbClr val="021828"/>
                </a:solidFill>
              </a:rPr>
              <a:t>O</a:t>
            </a:r>
            <a:r>
              <a:rPr b="1" i="0" lang="en" sz="1200" u="none" cap="none" strike="noStrike">
                <a:solidFill>
                  <a:srgbClr val="021828"/>
                </a:solidFill>
                <a:latin typeface="Arial"/>
                <a:ea typeface="Arial"/>
                <a:cs typeface="Arial"/>
                <a:sym typeface="Arial"/>
              </a:rPr>
              <a:t>utcomes</a:t>
            </a:r>
            <a:br>
              <a:rPr b="1" i="0" lang="en" sz="1200" u="none" cap="none" strike="noStrike">
                <a:solidFill>
                  <a:srgbClr val="021828"/>
                </a:solidFill>
                <a:latin typeface="Arial"/>
                <a:ea typeface="Arial"/>
                <a:cs typeface="Arial"/>
                <a:sym typeface="Arial"/>
              </a:rPr>
            </a:br>
            <a:r>
              <a:rPr b="1" i="0" lang="en" sz="1200" u="none" cap="none" strike="noStrike">
                <a:solidFill>
                  <a:srgbClr val="021828"/>
                </a:solidFill>
                <a:latin typeface="Arial"/>
                <a:ea typeface="Arial"/>
                <a:cs typeface="Arial"/>
                <a:sym typeface="Arial"/>
              </a:rPr>
              <a:t> </a:t>
            </a:r>
            <a:br>
              <a:rPr b="1" i="0" lang="en" sz="1200" u="none" cap="none" strike="noStrike">
                <a:solidFill>
                  <a:srgbClr val="021828"/>
                </a:solidFill>
                <a:latin typeface="Arial"/>
                <a:ea typeface="Arial"/>
                <a:cs typeface="Arial"/>
                <a:sym typeface="Arial"/>
              </a:rPr>
            </a:br>
            <a:r>
              <a:rPr b="1" lang="en" sz="1200">
                <a:solidFill>
                  <a:srgbClr val="021828"/>
                </a:solidFill>
              </a:rPr>
              <a:t>A</a:t>
            </a:r>
            <a:r>
              <a:rPr b="1" i="0" lang="en" sz="1200" u="none" cap="none" strike="noStrike">
                <a:solidFill>
                  <a:srgbClr val="021828"/>
                </a:solidFill>
                <a:latin typeface="Arial"/>
                <a:ea typeface="Arial"/>
                <a:cs typeface="Arial"/>
                <a:sym typeface="Arial"/>
              </a:rPr>
              <a:t>nd an </a:t>
            </a:r>
            <a:r>
              <a:rPr b="1" lang="en" sz="1200">
                <a:solidFill>
                  <a:srgbClr val="021828"/>
                </a:solidFill>
              </a:rPr>
              <a:t>unexpected relationship between comorbidity score and graft type, that would need further investigation.</a:t>
            </a:r>
            <a:endParaRPr b="1" i="0" sz="1200" u="none" cap="none" strike="noStrike">
              <a:solidFill>
                <a:srgbClr val="021828"/>
              </a:solidFill>
              <a:latin typeface="Arial"/>
              <a:ea typeface="Arial"/>
              <a:cs typeface="Arial"/>
              <a:sym typeface="Arial"/>
            </a:endParaRPr>
          </a:p>
          <a:p>
            <a:pPr indent="457200" lvl="0" marL="0" marR="0" rtl="0" algn="just">
              <a:lnSpc>
                <a:spcPct val="140021"/>
              </a:lnSpc>
              <a:spcBef>
                <a:spcPts val="0"/>
              </a:spcBef>
              <a:spcAft>
                <a:spcPts val="0"/>
              </a:spcAft>
              <a:buNone/>
            </a:pPr>
            <a:r>
              <a:t/>
            </a:r>
            <a:endParaRPr b="1" sz="1200">
              <a:solidFill>
                <a:srgbClr val="021828"/>
              </a:solidFill>
            </a:endParaRPr>
          </a:p>
          <a:p>
            <a:pPr indent="0" lvl="0" marL="0" marR="0" rtl="0" algn="just">
              <a:lnSpc>
                <a:spcPct val="140021"/>
              </a:lnSpc>
              <a:spcBef>
                <a:spcPts val="0"/>
              </a:spcBef>
              <a:spcAft>
                <a:spcPts val="0"/>
              </a:spcAft>
              <a:buNone/>
            </a:pPr>
            <a:r>
              <a:rPr b="1" lang="en" sz="1200">
                <a:solidFill>
                  <a:srgbClr val="021828"/>
                </a:solidFill>
              </a:rPr>
              <a:t>Overall, These </a:t>
            </a:r>
            <a:r>
              <a:rPr b="1" i="0" lang="en" sz="1200" u="none" cap="none" strike="noStrike">
                <a:solidFill>
                  <a:srgbClr val="021828"/>
                </a:solidFill>
                <a:latin typeface="Arial"/>
                <a:ea typeface="Arial"/>
                <a:cs typeface="Arial"/>
                <a:sym typeface="Arial"/>
              </a:rPr>
              <a:t>provide insights into significant predictors.</a:t>
            </a:r>
            <a:endParaRPr sz="500"/>
          </a:p>
        </p:txBody>
      </p:sp>
      <p:pic>
        <p:nvPicPr>
          <p:cNvPr id="284" name="Google Shape;284;p31"/>
          <p:cNvPicPr preferRelativeResize="0"/>
          <p:nvPr/>
        </p:nvPicPr>
        <p:blipFill>
          <a:blip r:embed="rId6">
            <a:alphaModFix/>
          </a:blip>
          <a:stretch>
            <a:fillRect/>
          </a:stretch>
        </p:blipFill>
        <p:spPr>
          <a:xfrm>
            <a:off x="186875" y="1300775"/>
            <a:ext cx="4226600" cy="3310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grpSp>
        <p:nvGrpSpPr>
          <p:cNvPr id="289" name="Google Shape;289;p32"/>
          <p:cNvGrpSpPr/>
          <p:nvPr/>
        </p:nvGrpSpPr>
        <p:grpSpPr>
          <a:xfrm>
            <a:off x="0" y="2283845"/>
            <a:ext cx="4255906" cy="1994107"/>
            <a:chOff x="0" y="-47625"/>
            <a:chExt cx="2241794" cy="1050394"/>
          </a:xfrm>
        </p:grpSpPr>
        <p:sp>
          <p:nvSpPr>
            <p:cNvPr id="290" name="Google Shape;290;p32"/>
            <p:cNvSpPr/>
            <p:nvPr/>
          </p:nvSpPr>
          <p:spPr>
            <a:xfrm>
              <a:off x="0" y="0"/>
              <a:ext cx="2241794" cy="1002769"/>
            </a:xfrm>
            <a:custGeom>
              <a:rect b="b" l="l" r="r" t="t"/>
              <a:pathLst>
                <a:path extrusionOk="0" h="1002769" w="2241794">
                  <a:moveTo>
                    <a:pt x="0" y="0"/>
                  </a:moveTo>
                  <a:lnTo>
                    <a:pt x="2241794" y="0"/>
                  </a:lnTo>
                  <a:lnTo>
                    <a:pt x="2241794" y="1002769"/>
                  </a:lnTo>
                  <a:lnTo>
                    <a:pt x="0" y="1002769"/>
                  </a:lnTo>
                  <a:close/>
                </a:path>
              </a:pathLst>
            </a:custGeom>
            <a:solidFill>
              <a:srgbClr val="E1EDFC"/>
            </a:solidFill>
            <a:ln>
              <a:noFill/>
            </a:ln>
          </p:spPr>
        </p:sp>
        <p:sp>
          <p:nvSpPr>
            <p:cNvPr id="291" name="Google Shape;291;p32"/>
            <p:cNvSpPr txBox="1"/>
            <p:nvPr/>
          </p:nvSpPr>
          <p:spPr>
            <a:xfrm>
              <a:off x="0" y="-47625"/>
              <a:ext cx="2241794" cy="105039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92" name="Google Shape;292;p32"/>
          <p:cNvSpPr/>
          <p:nvPr/>
        </p:nvSpPr>
        <p:spPr>
          <a:xfrm>
            <a:off x="7465112" y="703894"/>
            <a:ext cx="1845934" cy="1845934"/>
          </a:xfrm>
          <a:custGeom>
            <a:rect b="b" l="l" r="r" t="t"/>
            <a:pathLst>
              <a:path extrusionOk="0" h="3691868" w="3691868">
                <a:moveTo>
                  <a:pt x="0" y="0"/>
                </a:moveTo>
                <a:lnTo>
                  <a:pt x="3691868" y="0"/>
                </a:lnTo>
                <a:lnTo>
                  <a:pt x="3691868" y="3691867"/>
                </a:lnTo>
                <a:lnTo>
                  <a:pt x="0" y="3691867"/>
                </a:lnTo>
                <a:lnTo>
                  <a:pt x="0" y="0"/>
                </a:lnTo>
                <a:close/>
              </a:path>
            </a:pathLst>
          </a:custGeom>
          <a:blipFill rotWithShape="1">
            <a:blip r:embed="rId3">
              <a:alphaModFix/>
            </a:blip>
            <a:stretch>
              <a:fillRect b="0" l="0" r="0" t="0"/>
            </a:stretch>
          </a:blipFill>
          <a:ln>
            <a:noFill/>
          </a:ln>
        </p:spPr>
      </p:sp>
      <p:sp>
        <p:nvSpPr>
          <p:cNvPr id="293" name="Google Shape;293;p32"/>
          <p:cNvSpPr/>
          <p:nvPr/>
        </p:nvSpPr>
        <p:spPr>
          <a:xfrm>
            <a:off x="7257297" y="-53875"/>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294" name="Google Shape;294;p32"/>
          <p:cNvSpPr txBox="1"/>
          <p:nvPr/>
        </p:nvSpPr>
        <p:spPr>
          <a:xfrm>
            <a:off x="965742" y="442913"/>
            <a:ext cx="5536519" cy="696481"/>
          </a:xfrm>
          <a:prstGeom prst="rect">
            <a:avLst/>
          </a:prstGeom>
          <a:noFill/>
          <a:ln>
            <a:noFill/>
          </a:ln>
        </p:spPr>
        <p:txBody>
          <a:bodyPr anchorCtr="0" anchor="t" bIns="0" lIns="0" spcFirstLastPara="1" rIns="0" wrap="square" tIns="0">
            <a:spAutoFit/>
          </a:bodyPr>
          <a:lstStyle/>
          <a:p>
            <a:pPr indent="0" lvl="0" marL="0" marR="0" rtl="0" algn="l">
              <a:lnSpc>
                <a:spcPct val="127004"/>
              </a:lnSpc>
              <a:spcBef>
                <a:spcPts val="0"/>
              </a:spcBef>
              <a:spcAft>
                <a:spcPts val="0"/>
              </a:spcAft>
              <a:buNone/>
            </a:pPr>
            <a:r>
              <a:rPr b="1" i="0" lang="en" sz="2600" u="none" cap="none" strike="noStrike">
                <a:solidFill>
                  <a:srgbClr val="0E2F5F"/>
                </a:solidFill>
                <a:latin typeface="Arial"/>
                <a:ea typeface="Arial"/>
                <a:cs typeface="Arial"/>
                <a:sym typeface="Arial"/>
              </a:rPr>
              <a:t>Kaplan-Meier Survival Curve </a:t>
            </a:r>
            <a:endParaRPr sz="700"/>
          </a:p>
          <a:p>
            <a:pPr indent="0" lvl="0" marL="0" marR="0" rtl="0" algn="l">
              <a:lnSpc>
                <a:spcPct val="127008"/>
              </a:lnSpc>
              <a:spcBef>
                <a:spcPts val="0"/>
              </a:spcBef>
              <a:spcAft>
                <a:spcPts val="0"/>
              </a:spcAft>
              <a:buNone/>
            </a:pPr>
            <a:r>
              <a:rPr b="1" i="0" lang="en" sz="1500" u="none" cap="none" strike="noStrike">
                <a:solidFill>
                  <a:srgbClr val="0E2F5F"/>
                </a:solidFill>
                <a:latin typeface="Arial"/>
                <a:ea typeface="Arial"/>
                <a:cs typeface="Arial"/>
                <a:sym typeface="Arial"/>
              </a:rPr>
              <a:t>by Sex-Match </a:t>
            </a:r>
            <a:endParaRPr sz="700"/>
          </a:p>
        </p:txBody>
      </p:sp>
      <p:cxnSp>
        <p:nvCxnSpPr>
          <p:cNvPr id="295" name="Google Shape;295;p32"/>
          <p:cNvCxnSpPr/>
          <p:nvPr/>
        </p:nvCxnSpPr>
        <p:spPr>
          <a:xfrm>
            <a:off x="206701" y="1251583"/>
            <a:ext cx="5800500" cy="3300"/>
          </a:xfrm>
          <a:prstGeom prst="straightConnector1">
            <a:avLst/>
          </a:prstGeom>
          <a:noFill/>
          <a:ln cap="flat" cmpd="sng" w="38100">
            <a:solidFill>
              <a:srgbClr val="5188CC"/>
            </a:solidFill>
            <a:prstDash val="solid"/>
            <a:round/>
            <a:headEnd len="sm" w="sm" type="none"/>
            <a:tailEnd len="sm" w="sm" type="none"/>
          </a:ln>
        </p:spPr>
      </p:cxnSp>
      <p:grpSp>
        <p:nvGrpSpPr>
          <p:cNvPr id="296" name="Google Shape;296;p32"/>
          <p:cNvGrpSpPr/>
          <p:nvPr/>
        </p:nvGrpSpPr>
        <p:grpSpPr>
          <a:xfrm>
            <a:off x="514350" y="536574"/>
            <a:ext cx="334639" cy="334639"/>
            <a:chOff x="0" y="0"/>
            <a:chExt cx="812800" cy="812800"/>
          </a:xfrm>
        </p:grpSpPr>
        <p:sp>
          <p:nvSpPr>
            <p:cNvPr id="297" name="Google Shape;297;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8" name="Google Shape;298;p32"/>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99" name="Google Shape;299;p32"/>
          <p:cNvSpPr/>
          <p:nvPr/>
        </p:nvSpPr>
        <p:spPr>
          <a:xfrm rot="5400000">
            <a:off x="619160" y="639823"/>
            <a:ext cx="125018" cy="125018"/>
          </a:xfrm>
          <a:custGeom>
            <a:rect b="b" l="l" r="r" t="t"/>
            <a:pathLst>
              <a:path extrusionOk="0" h="250037" w="250037">
                <a:moveTo>
                  <a:pt x="0" y="0"/>
                </a:moveTo>
                <a:lnTo>
                  <a:pt x="250037" y="0"/>
                </a:lnTo>
                <a:lnTo>
                  <a:pt x="250037" y="250037"/>
                </a:lnTo>
                <a:lnTo>
                  <a:pt x="0" y="250037"/>
                </a:lnTo>
                <a:lnTo>
                  <a:pt x="0" y="0"/>
                </a:lnTo>
                <a:close/>
              </a:path>
            </a:pathLst>
          </a:custGeom>
          <a:blipFill rotWithShape="1">
            <a:blip r:embed="rId5">
              <a:alphaModFix/>
            </a:blip>
            <a:stretch>
              <a:fillRect b="0" l="0" r="0" t="0"/>
            </a:stretch>
          </a:blipFill>
          <a:ln>
            <a:noFill/>
          </a:ln>
        </p:spPr>
      </p:sp>
      <p:sp>
        <p:nvSpPr>
          <p:cNvPr id="300" name="Google Shape;300;p32"/>
          <p:cNvSpPr/>
          <p:nvPr/>
        </p:nvSpPr>
        <p:spPr>
          <a:xfrm>
            <a:off x="4765327" y="1635248"/>
            <a:ext cx="4003704" cy="2652454"/>
          </a:xfrm>
          <a:custGeom>
            <a:rect b="b" l="l" r="r" t="t"/>
            <a:pathLst>
              <a:path extrusionOk="0" h="5304908" w="8007408">
                <a:moveTo>
                  <a:pt x="0" y="0"/>
                </a:moveTo>
                <a:lnTo>
                  <a:pt x="8007408" y="0"/>
                </a:lnTo>
                <a:lnTo>
                  <a:pt x="8007408" y="5304908"/>
                </a:lnTo>
                <a:lnTo>
                  <a:pt x="0" y="5304908"/>
                </a:lnTo>
                <a:lnTo>
                  <a:pt x="0" y="0"/>
                </a:lnTo>
                <a:close/>
              </a:path>
            </a:pathLst>
          </a:custGeom>
          <a:blipFill rotWithShape="1">
            <a:blip r:embed="rId6">
              <a:alphaModFix/>
            </a:blip>
            <a:stretch>
              <a:fillRect b="0" l="0" r="0" t="0"/>
            </a:stretch>
          </a:blipFill>
          <a:ln>
            <a:noFill/>
          </a:ln>
        </p:spPr>
      </p:sp>
      <p:sp>
        <p:nvSpPr>
          <p:cNvPr id="301" name="Google Shape;301;p32"/>
          <p:cNvSpPr txBox="1"/>
          <p:nvPr/>
        </p:nvSpPr>
        <p:spPr>
          <a:xfrm>
            <a:off x="280800" y="1758250"/>
            <a:ext cx="3846000" cy="3282600"/>
          </a:xfrm>
          <a:prstGeom prst="rect">
            <a:avLst/>
          </a:prstGeom>
          <a:noFill/>
          <a:ln>
            <a:noFill/>
          </a:ln>
        </p:spPr>
        <p:txBody>
          <a:bodyPr anchorCtr="0" anchor="t" bIns="0" lIns="0" spcFirstLastPara="1" rIns="0" wrap="square" tIns="0">
            <a:spAutoFit/>
          </a:bodyPr>
          <a:lstStyle/>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This Kaplan-Meier curve tracks how long patients survive without complications after transplant</a:t>
            </a:r>
            <a:endParaRPr sz="500"/>
          </a:p>
          <a:p>
            <a:pPr indent="0" lvl="0" marL="0" marR="0" rtl="0" algn="just">
              <a:lnSpc>
                <a:spcPct val="140038"/>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0" lvl="0" marL="0" marR="0" rtl="0" algn="just">
              <a:lnSpc>
                <a:spcPct val="140038"/>
              </a:lnSpc>
              <a:spcBef>
                <a:spcPts val="0"/>
              </a:spcBef>
              <a:spcAft>
                <a:spcPts val="0"/>
              </a:spcAft>
              <a:buNone/>
            </a:pPr>
            <a:r>
              <a:rPr b="1" i="0" lang="en" sz="1100" u="sng" cap="none" strike="noStrike">
                <a:solidFill>
                  <a:srgbClr val="021828"/>
                </a:solidFill>
                <a:latin typeface="Arial"/>
                <a:ea typeface="Arial"/>
                <a:cs typeface="Arial"/>
                <a:sym typeface="Arial"/>
              </a:rPr>
              <a:t>Key Observations:</a:t>
            </a:r>
            <a:endParaRPr sz="500"/>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M-M (Male-Male) transplants have the best long-term survival.</a:t>
            </a:r>
            <a:endParaRPr sz="500"/>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F-F (Female-Female) also shows relatively good survival.</a:t>
            </a:r>
            <a:endParaRPr sz="500"/>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M-F &amp; F-M (opposite-sex transplants) drop faster, meaning they experience complications earlier.</a:t>
            </a:r>
            <a:endParaRPr sz="500"/>
          </a:p>
          <a:p>
            <a:pPr indent="0" lvl="0" marL="0" marR="0" rtl="0" algn="just">
              <a:lnSpc>
                <a:spcPct val="140038"/>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0" lvl="0" marL="0" marR="0" rtl="0" algn="just">
              <a:lnSpc>
                <a:spcPct val="140038"/>
              </a:lnSpc>
              <a:spcBef>
                <a:spcPts val="0"/>
              </a:spcBef>
              <a:spcAft>
                <a:spcPts val="0"/>
              </a:spcAft>
              <a:buNone/>
            </a:pPr>
            <a:r>
              <a:rPr b="1" i="0" lang="en" sz="1100" u="sng" cap="none" strike="noStrike">
                <a:solidFill>
                  <a:srgbClr val="021828"/>
                </a:solidFill>
                <a:latin typeface="Arial"/>
                <a:ea typeface="Arial"/>
                <a:cs typeface="Arial"/>
                <a:sym typeface="Arial"/>
              </a:rPr>
              <a:t>Conclusion</a:t>
            </a:r>
            <a:r>
              <a:rPr b="1" i="0" lang="en" sz="1100" u="none" cap="none" strike="noStrike">
                <a:solidFill>
                  <a:srgbClr val="021828"/>
                </a:solidFill>
                <a:latin typeface="Arial"/>
                <a:ea typeface="Arial"/>
                <a:cs typeface="Arial"/>
                <a:sym typeface="Arial"/>
              </a:rPr>
              <a:t>: Same-sex transplants generally have better survival outcomes over time.</a:t>
            </a:r>
            <a:endParaRPr sz="500"/>
          </a:p>
          <a:p>
            <a:pPr indent="0" lvl="0" marL="0" marR="0" rtl="0" algn="just">
              <a:lnSpc>
                <a:spcPct val="114312"/>
              </a:lnSpc>
              <a:spcBef>
                <a:spcPts val="0"/>
              </a:spcBef>
              <a:spcAft>
                <a:spcPts val="0"/>
              </a:spcAft>
              <a:buNone/>
            </a:pPr>
            <a:r>
              <a:t/>
            </a:r>
            <a:endParaRPr b="1" i="0" sz="1300" u="none" cap="none" strike="noStrike">
              <a:solidFill>
                <a:srgbClr val="021828"/>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cxnSp>
        <p:nvCxnSpPr>
          <p:cNvPr id="306" name="Google Shape;306;p33"/>
          <p:cNvCxnSpPr/>
          <p:nvPr/>
        </p:nvCxnSpPr>
        <p:spPr>
          <a:xfrm>
            <a:off x="3280602" y="1391272"/>
            <a:ext cx="6480267" cy="0"/>
          </a:xfrm>
          <a:prstGeom prst="straightConnector1">
            <a:avLst/>
          </a:prstGeom>
          <a:noFill/>
          <a:ln cap="flat" cmpd="sng" w="38100">
            <a:solidFill>
              <a:srgbClr val="5188CC"/>
            </a:solidFill>
            <a:prstDash val="solid"/>
            <a:round/>
            <a:headEnd len="sm" w="sm" type="none"/>
            <a:tailEnd len="sm" w="sm" type="none"/>
          </a:ln>
        </p:spPr>
      </p:cxnSp>
      <p:sp>
        <p:nvSpPr>
          <p:cNvPr id="307" name="Google Shape;307;p33"/>
          <p:cNvSpPr/>
          <p:nvPr/>
        </p:nvSpPr>
        <p:spPr>
          <a:xfrm>
            <a:off x="-665234" y="-745281"/>
            <a:ext cx="1845934" cy="1845934"/>
          </a:xfrm>
          <a:custGeom>
            <a:rect b="b" l="l" r="r" t="t"/>
            <a:pathLst>
              <a:path extrusionOk="0" h="3691868" w="3691868">
                <a:moveTo>
                  <a:pt x="0" y="0"/>
                </a:moveTo>
                <a:lnTo>
                  <a:pt x="3691868" y="0"/>
                </a:lnTo>
                <a:lnTo>
                  <a:pt x="3691868" y="3691868"/>
                </a:lnTo>
                <a:lnTo>
                  <a:pt x="0" y="3691868"/>
                </a:lnTo>
                <a:lnTo>
                  <a:pt x="0" y="0"/>
                </a:lnTo>
                <a:close/>
              </a:path>
            </a:pathLst>
          </a:custGeom>
          <a:blipFill rotWithShape="1">
            <a:blip r:embed="rId3">
              <a:alphaModFix/>
            </a:blip>
            <a:stretch>
              <a:fillRect b="0" l="0" r="0" t="0"/>
            </a:stretch>
          </a:blipFill>
          <a:ln>
            <a:noFill/>
          </a:ln>
        </p:spPr>
      </p:sp>
      <p:sp>
        <p:nvSpPr>
          <p:cNvPr id="308" name="Google Shape;308;p33"/>
          <p:cNvSpPr/>
          <p:nvPr/>
        </p:nvSpPr>
        <p:spPr>
          <a:xfrm>
            <a:off x="5173030" y="4729362"/>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309" name="Google Shape;309;p33"/>
          <p:cNvSpPr/>
          <p:nvPr/>
        </p:nvSpPr>
        <p:spPr>
          <a:xfrm>
            <a:off x="168513" y="2602772"/>
            <a:ext cx="613230" cy="189544"/>
          </a:xfrm>
          <a:custGeom>
            <a:rect b="b" l="l" r="r" t="t"/>
            <a:pathLst>
              <a:path extrusionOk="0" h="379088" w="1226460">
                <a:moveTo>
                  <a:pt x="0" y="0"/>
                </a:moveTo>
                <a:lnTo>
                  <a:pt x="1226459" y="0"/>
                </a:lnTo>
                <a:lnTo>
                  <a:pt x="1226459" y="379087"/>
                </a:lnTo>
                <a:lnTo>
                  <a:pt x="0" y="379087"/>
                </a:lnTo>
                <a:lnTo>
                  <a:pt x="0" y="0"/>
                </a:lnTo>
                <a:close/>
              </a:path>
            </a:pathLst>
          </a:custGeom>
          <a:blipFill rotWithShape="1">
            <a:blip r:embed="rId4">
              <a:alphaModFix/>
            </a:blip>
            <a:stretch>
              <a:fillRect b="0" l="0" r="0" t="0"/>
            </a:stretch>
          </a:blipFill>
          <a:ln>
            <a:noFill/>
          </a:ln>
        </p:spPr>
      </p:sp>
      <p:sp>
        <p:nvSpPr>
          <p:cNvPr id="310" name="Google Shape;310;p33"/>
          <p:cNvSpPr/>
          <p:nvPr/>
        </p:nvSpPr>
        <p:spPr>
          <a:xfrm>
            <a:off x="168525" y="2712075"/>
            <a:ext cx="5617723" cy="2124861"/>
          </a:xfrm>
          <a:custGeom>
            <a:rect b="b" l="l" r="r" t="t"/>
            <a:pathLst>
              <a:path extrusionOk="0" h="4829230" w="11235445">
                <a:moveTo>
                  <a:pt x="0" y="0"/>
                </a:moveTo>
                <a:lnTo>
                  <a:pt x="11235444" y="0"/>
                </a:lnTo>
                <a:lnTo>
                  <a:pt x="11235444" y="4829230"/>
                </a:lnTo>
                <a:lnTo>
                  <a:pt x="0" y="4829230"/>
                </a:lnTo>
                <a:lnTo>
                  <a:pt x="0" y="0"/>
                </a:lnTo>
                <a:close/>
              </a:path>
            </a:pathLst>
          </a:custGeom>
          <a:blipFill rotWithShape="1">
            <a:blip r:embed="rId5">
              <a:alphaModFix/>
            </a:blip>
            <a:stretch>
              <a:fillRect b="-627" l="0" r="-584" t="0"/>
            </a:stretch>
          </a:blipFill>
          <a:ln>
            <a:noFill/>
          </a:ln>
        </p:spPr>
      </p:sp>
      <p:sp>
        <p:nvSpPr>
          <p:cNvPr id="311" name="Google Shape;311;p33"/>
          <p:cNvSpPr txBox="1"/>
          <p:nvPr/>
        </p:nvSpPr>
        <p:spPr>
          <a:xfrm>
            <a:off x="4710392" y="438150"/>
            <a:ext cx="3919259" cy="891286"/>
          </a:xfrm>
          <a:prstGeom prst="rect">
            <a:avLst/>
          </a:prstGeom>
          <a:noFill/>
          <a:ln>
            <a:noFill/>
          </a:ln>
        </p:spPr>
        <p:txBody>
          <a:bodyPr anchorCtr="0" anchor="t" bIns="0" lIns="0" spcFirstLastPara="1" rIns="0" wrap="square" tIns="0">
            <a:spAutoFit/>
          </a:bodyPr>
          <a:lstStyle/>
          <a:p>
            <a:pPr indent="0" lvl="0" marL="0" marR="0" rtl="0" algn="r">
              <a:lnSpc>
                <a:spcPct val="127005"/>
              </a:lnSpc>
              <a:spcBef>
                <a:spcPts val="0"/>
              </a:spcBef>
              <a:spcAft>
                <a:spcPts val="0"/>
              </a:spcAft>
              <a:buNone/>
            </a:pPr>
            <a:r>
              <a:rPr b="1" i="0" lang="en" sz="2600" u="none" cap="none" strike="noStrike">
                <a:solidFill>
                  <a:srgbClr val="0E2F5F"/>
                </a:solidFill>
                <a:latin typeface="Arial"/>
                <a:ea typeface="Arial"/>
                <a:cs typeface="Arial"/>
                <a:sym typeface="Arial"/>
              </a:rPr>
              <a:t>Event-Free Survival by Race Group</a:t>
            </a:r>
            <a:endParaRPr sz="700"/>
          </a:p>
        </p:txBody>
      </p:sp>
      <p:sp>
        <p:nvSpPr>
          <p:cNvPr id="312" name="Google Shape;312;p33"/>
          <p:cNvSpPr txBox="1"/>
          <p:nvPr/>
        </p:nvSpPr>
        <p:spPr>
          <a:xfrm>
            <a:off x="4071105" y="1500573"/>
            <a:ext cx="1960274" cy="18632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1100" u="none" cap="none" strike="noStrike">
                <a:solidFill>
                  <a:srgbClr val="FFFFFF"/>
                </a:solidFill>
                <a:latin typeface="Arial"/>
                <a:ea typeface="Arial"/>
                <a:cs typeface="Arial"/>
                <a:sym typeface="Arial"/>
              </a:rPr>
              <a:t>Exploitation of Resources</a:t>
            </a:r>
            <a:endParaRPr sz="700"/>
          </a:p>
        </p:txBody>
      </p:sp>
      <p:sp>
        <p:nvSpPr>
          <p:cNvPr id="313" name="Google Shape;313;p33"/>
          <p:cNvSpPr txBox="1"/>
          <p:nvPr/>
        </p:nvSpPr>
        <p:spPr>
          <a:xfrm>
            <a:off x="6366132" y="1487522"/>
            <a:ext cx="1604855" cy="18632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1100" u="none" cap="none" strike="noStrike">
                <a:solidFill>
                  <a:srgbClr val="FFFFFF"/>
                </a:solidFill>
                <a:latin typeface="Arial"/>
                <a:ea typeface="Arial"/>
                <a:cs typeface="Arial"/>
                <a:sym typeface="Arial"/>
              </a:rPr>
              <a:t>Adaptation Costs</a:t>
            </a:r>
            <a:endParaRPr sz="700"/>
          </a:p>
        </p:txBody>
      </p:sp>
      <p:sp>
        <p:nvSpPr>
          <p:cNvPr id="314" name="Google Shape;314;p33"/>
          <p:cNvSpPr txBox="1"/>
          <p:nvPr/>
        </p:nvSpPr>
        <p:spPr>
          <a:xfrm>
            <a:off x="3280599" y="1500575"/>
            <a:ext cx="5687700" cy="1102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This table </a:t>
            </a:r>
            <a:r>
              <a:rPr b="1" lang="en" sz="1100">
                <a:solidFill>
                  <a:schemeClr val="dk1"/>
                </a:solidFill>
              </a:rPr>
              <a:t>shows how Event-Free Survival (EFS) rates and average survival times differ across racial groups. This helps us understand whether some groups tend to have better or worse outcomes after a transplant.</a:t>
            </a:r>
            <a:endParaRPr b="1"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By identifying these patterns here, we can work toward improving transplant success for all patients, making treatments more effective and equitable.</a:t>
            </a:r>
            <a:endParaRPr sz="700"/>
          </a:p>
        </p:txBody>
      </p:sp>
      <p:grpSp>
        <p:nvGrpSpPr>
          <p:cNvPr id="315" name="Google Shape;315;p33"/>
          <p:cNvGrpSpPr/>
          <p:nvPr/>
        </p:nvGrpSpPr>
        <p:grpSpPr>
          <a:xfrm>
            <a:off x="4404680" y="514350"/>
            <a:ext cx="334639" cy="334639"/>
            <a:chOff x="0" y="0"/>
            <a:chExt cx="812800" cy="812800"/>
          </a:xfrm>
        </p:grpSpPr>
        <p:sp>
          <p:nvSpPr>
            <p:cNvPr id="316" name="Google Shape;316;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7" name="Google Shape;317;p33"/>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18" name="Google Shape;318;p33"/>
          <p:cNvSpPr/>
          <p:nvPr/>
        </p:nvSpPr>
        <p:spPr>
          <a:xfrm rot="5400000">
            <a:off x="4509491" y="617599"/>
            <a:ext cx="125019" cy="125018"/>
          </a:xfrm>
          <a:custGeom>
            <a:rect b="b" l="l" r="r" t="t"/>
            <a:pathLst>
              <a:path extrusionOk="0" h="250037" w="250037">
                <a:moveTo>
                  <a:pt x="0" y="0"/>
                </a:moveTo>
                <a:lnTo>
                  <a:pt x="250036" y="0"/>
                </a:lnTo>
                <a:lnTo>
                  <a:pt x="250036" y="250037"/>
                </a:lnTo>
                <a:lnTo>
                  <a:pt x="0" y="250037"/>
                </a:lnTo>
                <a:lnTo>
                  <a:pt x="0" y="0"/>
                </a:lnTo>
                <a:close/>
              </a:path>
            </a:pathLst>
          </a:custGeom>
          <a:blipFill rotWithShape="1">
            <a:blip r:embed="rId6">
              <a:alphaModFix/>
            </a:blip>
            <a:stretch>
              <a:fillRect b="0" l="0" r="0" t="0"/>
            </a:stretch>
          </a:blipFill>
          <a:ln>
            <a:noFill/>
          </a:ln>
        </p:spPr>
      </p:sp>
      <p:grpSp>
        <p:nvGrpSpPr>
          <p:cNvPr id="319" name="Google Shape;319;p33"/>
          <p:cNvGrpSpPr/>
          <p:nvPr/>
        </p:nvGrpSpPr>
        <p:grpSpPr>
          <a:xfrm>
            <a:off x="8209914" y="3225285"/>
            <a:ext cx="1676810" cy="3037828"/>
            <a:chOff x="0" y="-47625"/>
            <a:chExt cx="883258" cy="1600173"/>
          </a:xfrm>
        </p:grpSpPr>
        <p:sp>
          <p:nvSpPr>
            <p:cNvPr id="320" name="Google Shape;320;p33"/>
            <p:cNvSpPr/>
            <p:nvPr/>
          </p:nvSpPr>
          <p:spPr>
            <a:xfrm>
              <a:off x="0" y="0"/>
              <a:ext cx="883258" cy="1552548"/>
            </a:xfrm>
            <a:custGeom>
              <a:rect b="b" l="l" r="r" t="t"/>
              <a:pathLst>
                <a:path extrusionOk="0" h="1552548" w="883258">
                  <a:moveTo>
                    <a:pt x="136203" y="0"/>
                  </a:moveTo>
                  <a:lnTo>
                    <a:pt x="747055" y="0"/>
                  </a:lnTo>
                  <a:cubicBezTo>
                    <a:pt x="822278" y="0"/>
                    <a:pt x="883258" y="60980"/>
                    <a:pt x="883258" y="136203"/>
                  </a:cubicBezTo>
                  <a:lnTo>
                    <a:pt x="883258" y="1416345"/>
                  </a:lnTo>
                  <a:cubicBezTo>
                    <a:pt x="883258" y="1452468"/>
                    <a:pt x="868908" y="1487112"/>
                    <a:pt x="843365" y="1512655"/>
                  </a:cubicBezTo>
                  <a:cubicBezTo>
                    <a:pt x="817822" y="1538198"/>
                    <a:pt x="783178" y="1552548"/>
                    <a:pt x="747055" y="1552548"/>
                  </a:cubicBezTo>
                  <a:lnTo>
                    <a:pt x="136203" y="1552548"/>
                  </a:lnTo>
                  <a:cubicBezTo>
                    <a:pt x="100080" y="1552548"/>
                    <a:pt x="65436" y="1538198"/>
                    <a:pt x="39893" y="1512655"/>
                  </a:cubicBezTo>
                  <a:cubicBezTo>
                    <a:pt x="14350" y="1487112"/>
                    <a:pt x="0" y="1452468"/>
                    <a:pt x="0" y="1416345"/>
                  </a:cubicBezTo>
                  <a:lnTo>
                    <a:pt x="0" y="136203"/>
                  </a:lnTo>
                  <a:cubicBezTo>
                    <a:pt x="0" y="100080"/>
                    <a:pt x="14350" y="65436"/>
                    <a:pt x="39893" y="39893"/>
                  </a:cubicBezTo>
                  <a:cubicBezTo>
                    <a:pt x="65436" y="14350"/>
                    <a:pt x="100080" y="0"/>
                    <a:pt x="136203" y="0"/>
                  </a:cubicBezTo>
                  <a:close/>
                </a:path>
              </a:pathLst>
            </a:custGeom>
            <a:solidFill>
              <a:srgbClr val="E1EDF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1" name="Google Shape;321;p33"/>
            <p:cNvSpPr txBox="1"/>
            <p:nvPr/>
          </p:nvSpPr>
          <p:spPr>
            <a:xfrm>
              <a:off x="0" y="-47625"/>
              <a:ext cx="883258"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grpSp>
        <p:nvGrpSpPr>
          <p:cNvPr id="326" name="Google Shape;326;p34"/>
          <p:cNvGrpSpPr/>
          <p:nvPr/>
        </p:nvGrpSpPr>
        <p:grpSpPr>
          <a:xfrm>
            <a:off x="-642691" y="-12049"/>
            <a:ext cx="1676810" cy="4205213"/>
            <a:chOff x="0" y="-47625"/>
            <a:chExt cx="883258" cy="2215092"/>
          </a:xfrm>
        </p:grpSpPr>
        <p:sp>
          <p:nvSpPr>
            <p:cNvPr id="327" name="Google Shape;327;p34"/>
            <p:cNvSpPr/>
            <p:nvPr/>
          </p:nvSpPr>
          <p:spPr>
            <a:xfrm>
              <a:off x="0" y="0"/>
              <a:ext cx="883258" cy="2167467"/>
            </a:xfrm>
            <a:custGeom>
              <a:rect b="b" l="l" r="r" t="t"/>
              <a:pathLst>
                <a:path extrusionOk="0" h="2167467" w="883258">
                  <a:moveTo>
                    <a:pt x="136203" y="0"/>
                  </a:moveTo>
                  <a:lnTo>
                    <a:pt x="747055" y="0"/>
                  </a:lnTo>
                  <a:cubicBezTo>
                    <a:pt x="822278" y="0"/>
                    <a:pt x="883258" y="60980"/>
                    <a:pt x="883258" y="136203"/>
                  </a:cubicBezTo>
                  <a:lnTo>
                    <a:pt x="883258" y="2031264"/>
                  </a:lnTo>
                  <a:cubicBezTo>
                    <a:pt x="883258" y="2106487"/>
                    <a:pt x="822278" y="2167467"/>
                    <a:pt x="747055" y="2167467"/>
                  </a:cubicBezTo>
                  <a:lnTo>
                    <a:pt x="136203" y="2167467"/>
                  </a:lnTo>
                  <a:cubicBezTo>
                    <a:pt x="100080" y="2167467"/>
                    <a:pt x="65436" y="2153117"/>
                    <a:pt x="39893" y="2127574"/>
                  </a:cubicBezTo>
                  <a:cubicBezTo>
                    <a:pt x="14350" y="2102031"/>
                    <a:pt x="0" y="2067387"/>
                    <a:pt x="0" y="2031264"/>
                  </a:cubicBezTo>
                  <a:lnTo>
                    <a:pt x="0" y="136203"/>
                  </a:lnTo>
                  <a:cubicBezTo>
                    <a:pt x="0" y="100080"/>
                    <a:pt x="14350" y="65436"/>
                    <a:pt x="39893" y="39893"/>
                  </a:cubicBezTo>
                  <a:cubicBezTo>
                    <a:pt x="65436" y="14350"/>
                    <a:pt x="100080" y="0"/>
                    <a:pt x="136203" y="0"/>
                  </a:cubicBezTo>
                  <a:close/>
                </a:path>
              </a:pathLst>
            </a:custGeom>
            <a:solidFill>
              <a:srgbClr val="E1EDF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8" name="Google Shape;328;p34"/>
            <p:cNvSpPr txBox="1"/>
            <p:nvPr/>
          </p:nvSpPr>
          <p:spPr>
            <a:xfrm>
              <a:off x="0" y="-47625"/>
              <a:ext cx="883258" cy="2215092"/>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29" name="Google Shape;329;p34"/>
          <p:cNvGrpSpPr/>
          <p:nvPr/>
        </p:nvGrpSpPr>
        <p:grpSpPr>
          <a:xfrm>
            <a:off x="195714" y="140114"/>
            <a:ext cx="748473" cy="748473"/>
            <a:chOff x="0" y="0"/>
            <a:chExt cx="812800" cy="812800"/>
          </a:xfrm>
        </p:grpSpPr>
        <p:sp>
          <p:nvSpPr>
            <p:cNvPr id="330" name="Google Shape;330;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1" name="Google Shape;331;p34"/>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32" name="Google Shape;332;p34"/>
          <p:cNvSpPr/>
          <p:nvPr/>
        </p:nvSpPr>
        <p:spPr>
          <a:xfrm>
            <a:off x="363734" y="305024"/>
            <a:ext cx="412431" cy="418653"/>
          </a:xfrm>
          <a:custGeom>
            <a:rect b="b" l="l" r="r" t="t"/>
            <a:pathLst>
              <a:path extrusionOk="0" h="837306" w="824861">
                <a:moveTo>
                  <a:pt x="0" y="0"/>
                </a:moveTo>
                <a:lnTo>
                  <a:pt x="824861" y="0"/>
                </a:lnTo>
                <a:lnTo>
                  <a:pt x="824861" y="837306"/>
                </a:lnTo>
                <a:lnTo>
                  <a:pt x="0" y="837306"/>
                </a:lnTo>
                <a:lnTo>
                  <a:pt x="0" y="0"/>
                </a:lnTo>
                <a:close/>
              </a:path>
            </a:pathLst>
          </a:custGeom>
          <a:blipFill rotWithShape="1">
            <a:blip r:embed="rId3">
              <a:alphaModFix/>
            </a:blip>
            <a:stretch>
              <a:fillRect b="0" l="0" r="0" t="0"/>
            </a:stretch>
          </a:blipFill>
          <a:ln>
            <a:noFill/>
          </a:ln>
        </p:spPr>
      </p:sp>
      <p:sp>
        <p:nvSpPr>
          <p:cNvPr id="333" name="Google Shape;333;p34"/>
          <p:cNvSpPr/>
          <p:nvPr/>
        </p:nvSpPr>
        <p:spPr>
          <a:xfrm>
            <a:off x="1092936" y="630560"/>
            <a:ext cx="5748969" cy="4512941"/>
          </a:xfrm>
          <a:custGeom>
            <a:rect b="b" l="l" r="r" t="t"/>
            <a:pathLst>
              <a:path extrusionOk="0" h="9025881" w="11497938">
                <a:moveTo>
                  <a:pt x="0" y="0"/>
                </a:moveTo>
                <a:lnTo>
                  <a:pt x="11497938" y="0"/>
                </a:lnTo>
                <a:lnTo>
                  <a:pt x="11497938" y="9025881"/>
                </a:lnTo>
                <a:lnTo>
                  <a:pt x="0" y="9025881"/>
                </a:lnTo>
                <a:lnTo>
                  <a:pt x="0" y="0"/>
                </a:lnTo>
                <a:close/>
              </a:path>
            </a:pathLst>
          </a:custGeom>
          <a:blipFill rotWithShape="1">
            <a:blip r:embed="rId4">
              <a:alphaModFix/>
            </a:blip>
            <a:stretch>
              <a:fillRect b="0" l="0" r="0" t="0"/>
            </a:stretch>
          </a:blipFill>
          <a:ln>
            <a:noFill/>
          </a:ln>
        </p:spPr>
      </p:sp>
      <p:sp>
        <p:nvSpPr>
          <p:cNvPr id="334" name="Google Shape;334;p34"/>
          <p:cNvSpPr/>
          <p:nvPr/>
        </p:nvSpPr>
        <p:spPr>
          <a:xfrm>
            <a:off x="636454" y="3783570"/>
            <a:ext cx="615464" cy="615464"/>
          </a:xfrm>
          <a:custGeom>
            <a:rect b="b" l="l" r="r" t="t"/>
            <a:pathLst>
              <a:path extrusionOk="0" h="1230927" w="1230927">
                <a:moveTo>
                  <a:pt x="0" y="0"/>
                </a:moveTo>
                <a:lnTo>
                  <a:pt x="1230927" y="0"/>
                </a:lnTo>
                <a:lnTo>
                  <a:pt x="1230927" y="1230927"/>
                </a:lnTo>
                <a:lnTo>
                  <a:pt x="0" y="1230927"/>
                </a:lnTo>
                <a:lnTo>
                  <a:pt x="0" y="0"/>
                </a:lnTo>
                <a:close/>
              </a:path>
            </a:pathLst>
          </a:custGeom>
          <a:blipFill rotWithShape="1">
            <a:blip r:embed="rId5">
              <a:alphaModFix/>
            </a:blip>
            <a:stretch>
              <a:fillRect b="0" l="0" r="0" t="0"/>
            </a:stretch>
          </a:blipFill>
          <a:ln>
            <a:noFill/>
          </a:ln>
        </p:spPr>
      </p:sp>
      <p:sp>
        <p:nvSpPr>
          <p:cNvPr id="335" name="Google Shape;335;p34"/>
          <p:cNvSpPr/>
          <p:nvPr/>
        </p:nvSpPr>
        <p:spPr>
          <a:xfrm>
            <a:off x="6778827" y="957101"/>
            <a:ext cx="4033328" cy="3229299"/>
          </a:xfrm>
          <a:custGeom>
            <a:rect b="b" l="l" r="r" t="t"/>
            <a:pathLst>
              <a:path extrusionOk="0" h="6458597" w="8066656">
                <a:moveTo>
                  <a:pt x="0" y="0"/>
                </a:moveTo>
                <a:lnTo>
                  <a:pt x="8066656" y="0"/>
                </a:lnTo>
                <a:lnTo>
                  <a:pt x="8066656" y="6458596"/>
                </a:lnTo>
                <a:lnTo>
                  <a:pt x="0" y="6458596"/>
                </a:lnTo>
                <a:lnTo>
                  <a:pt x="0" y="0"/>
                </a:lnTo>
                <a:close/>
              </a:path>
            </a:pathLst>
          </a:custGeom>
          <a:blipFill rotWithShape="1">
            <a:blip r:embed="rId6">
              <a:alphaModFix/>
            </a:blip>
            <a:stretch>
              <a:fillRect b="0" l="0" r="0" t="0"/>
            </a:stretch>
          </a:blipFill>
          <a:ln>
            <a:noFill/>
          </a:ln>
        </p:spPr>
      </p:sp>
      <p:sp>
        <p:nvSpPr>
          <p:cNvPr id="336" name="Google Shape;336;p34"/>
          <p:cNvSpPr txBox="1"/>
          <p:nvPr/>
        </p:nvSpPr>
        <p:spPr>
          <a:xfrm>
            <a:off x="1092937" y="131257"/>
            <a:ext cx="5628742" cy="895604"/>
          </a:xfrm>
          <a:prstGeom prst="rect">
            <a:avLst/>
          </a:prstGeom>
          <a:noFill/>
          <a:ln>
            <a:noFill/>
          </a:ln>
        </p:spPr>
        <p:txBody>
          <a:bodyPr anchorCtr="0" anchor="t" bIns="0" lIns="0" spcFirstLastPara="1" rIns="0" wrap="square" tIns="0">
            <a:spAutoFit/>
          </a:bodyPr>
          <a:lstStyle/>
          <a:p>
            <a:pPr indent="0" lvl="0" marL="0" marR="0" rtl="0" algn="l">
              <a:lnSpc>
                <a:spcPct val="127005"/>
              </a:lnSpc>
              <a:spcBef>
                <a:spcPts val="0"/>
              </a:spcBef>
              <a:spcAft>
                <a:spcPts val="0"/>
              </a:spcAft>
              <a:buNone/>
            </a:pPr>
            <a:r>
              <a:rPr b="1" i="0" lang="en" sz="2600" u="none" cap="none" strike="noStrike">
                <a:solidFill>
                  <a:srgbClr val="0E2F5F"/>
                </a:solidFill>
                <a:latin typeface="Arial"/>
                <a:ea typeface="Arial"/>
                <a:cs typeface="Arial"/>
                <a:sym typeface="Arial"/>
              </a:rPr>
              <a:t>Stakeholders and Applications</a:t>
            </a:r>
            <a:endParaRPr sz="700"/>
          </a:p>
          <a:p>
            <a:pPr indent="0" lvl="0" marL="0" marR="0" rtl="0" algn="l">
              <a:lnSpc>
                <a:spcPct val="127005"/>
              </a:lnSpc>
              <a:spcBef>
                <a:spcPts val="0"/>
              </a:spcBef>
              <a:spcAft>
                <a:spcPts val="0"/>
              </a:spcAft>
              <a:buNone/>
            </a:pPr>
            <a:r>
              <a:t/>
            </a:r>
            <a:endParaRPr b="1" i="0" sz="2600" u="none" cap="none" strike="noStrike">
              <a:solidFill>
                <a:srgbClr val="0E2F5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grpSp>
        <p:nvGrpSpPr>
          <p:cNvPr id="341" name="Google Shape;341;p35"/>
          <p:cNvGrpSpPr/>
          <p:nvPr/>
        </p:nvGrpSpPr>
        <p:grpSpPr>
          <a:xfrm>
            <a:off x="-284956" y="3214856"/>
            <a:ext cx="2825072" cy="1928644"/>
            <a:chOff x="0" y="-47625"/>
            <a:chExt cx="1488104" cy="1015911"/>
          </a:xfrm>
        </p:grpSpPr>
        <p:sp>
          <p:nvSpPr>
            <p:cNvPr id="342" name="Google Shape;342;p35"/>
            <p:cNvSpPr/>
            <p:nvPr/>
          </p:nvSpPr>
          <p:spPr>
            <a:xfrm>
              <a:off x="0" y="0"/>
              <a:ext cx="1488104" cy="968286"/>
            </a:xfrm>
            <a:custGeom>
              <a:rect b="b" l="l" r="r" t="t"/>
              <a:pathLst>
                <a:path extrusionOk="0" h="968286" w="1488104">
                  <a:moveTo>
                    <a:pt x="0" y="0"/>
                  </a:moveTo>
                  <a:lnTo>
                    <a:pt x="1488104" y="0"/>
                  </a:lnTo>
                  <a:lnTo>
                    <a:pt x="1488104" y="968286"/>
                  </a:lnTo>
                  <a:lnTo>
                    <a:pt x="0" y="968286"/>
                  </a:lnTo>
                  <a:close/>
                </a:path>
              </a:pathLst>
            </a:custGeom>
            <a:solidFill>
              <a:srgbClr val="E1EDFC"/>
            </a:solidFill>
            <a:ln>
              <a:noFill/>
            </a:ln>
          </p:spPr>
        </p:sp>
        <p:sp>
          <p:nvSpPr>
            <p:cNvPr id="343" name="Google Shape;343;p35"/>
            <p:cNvSpPr txBox="1"/>
            <p:nvPr/>
          </p:nvSpPr>
          <p:spPr>
            <a:xfrm>
              <a:off x="0" y="-47625"/>
              <a:ext cx="1488104" cy="1015911"/>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44" name="Google Shape;344;p35"/>
          <p:cNvGrpSpPr/>
          <p:nvPr/>
        </p:nvGrpSpPr>
        <p:grpSpPr>
          <a:xfrm>
            <a:off x="910464" y="2476811"/>
            <a:ext cx="2925091" cy="503514"/>
            <a:chOff x="0" y="-47625"/>
            <a:chExt cx="1295215" cy="222954"/>
          </a:xfrm>
        </p:grpSpPr>
        <p:sp>
          <p:nvSpPr>
            <p:cNvPr id="345" name="Google Shape;345;p35"/>
            <p:cNvSpPr/>
            <p:nvPr/>
          </p:nvSpPr>
          <p:spPr>
            <a:xfrm>
              <a:off x="0" y="0"/>
              <a:ext cx="1295215" cy="175329"/>
            </a:xfrm>
            <a:custGeom>
              <a:rect b="b" l="l" r="r" t="t"/>
              <a:pathLst>
                <a:path extrusionOk="0" h="175329" w="1295215">
                  <a:moveTo>
                    <a:pt x="67492" y="0"/>
                  </a:moveTo>
                  <a:lnTo>
                    <a:pt x="1227723" y="0"/>
                  </a:lnTo>
                  <a:cubicBezTo>
                    <a:pt x="1245623" y="0"/>
                    <a:pt x="1262790" y="7111"/>
                    <a:pt x="1275447" y="19768"/>
                  </a:cubicBezTo>
                  <a:cubicBezTo>
                    <a:pt x="1288104" y="32425"/>
                    <a:pt x="1295215" y="49592"/>
                    <a:pt x="1295215" y="67492"/>
                  </a:cubicBezTo>
                  <a:lnTo>
                    <a:pt x="1295215" y="107837"/>
                  </a:lnTo>
                  <a:cubicBezTo>
                    <a:pt x="1295215" y="125737"/>
                    <a:pt x="1288104" y="142904"/>
                    <a:pt x="1275447" y="155561"/>
                  </a:cubicBezTo>
                  <a:cubicBezTo>
                    <a:pt x="1262790" y="168218"/>
                    <a:pt x="1245623" y="175329"/>
                    <a:pt x="1227723" y="175329"/>
                  </a:cubicBezTo>
                  <a:lnTo>
                    <a:pt x="67492" y="175329"/>
                  </a:lnTo>
                  <a:cubicBezTo>
                    <a:pt x="49592" y="175329"/>
                    <a:pt x="32425" y="168218"/>
                    <a:pt x="19768" y="155561"/>
                  </a:cubicBezTo>
                  <a:cubicBezTo>
                    <a:pt x="7111" y="142904"/>
                    <a:pt x="0" y="125737"/>
                    <a:pt x="0" y="107837"/>
                  </a:cubicBezTo>
                  <a:lnTo>
                    <a:pt x="0" y="67492"/>
                  </a:lnTo>
                  <a:cubicBezTo>
                    <a:pt x="0" y="49592"/>
                    <a:pt x="7111" y="32425"/>
                    <a:pt x="19768" y="19768"/>
                  </a:cubicBezTo>
                  <a:cubicBezTo>
                    <a:pt x="32425" y="7111"/>
                    <a:pt x="49592" y="0"/>
                    <a:pt x="67492" y="0"/>
                  </a:cubicBezTo>
                  <a:close/>
                </a:path>
              </a:pathLst>
            </a:custGeom>
            <a:solidFill>
              <a:srgbClr val="3A577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6" name="Google Shape;346;p35"/>
            <p:cNvSpPr txBox="1"/>
            <p:nvPr/>
          </p:nvSpPr>
          <p:spPr>
            <a:xfrm>
              <a:off x="0" y="-47625"/>
              <a:ext cx="1295215" cy="22295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47" name="Google Shape;347;p35"/>
          <p:cNvGrpSpPr/>
          <p:nvPr/>
        </p:nvGrpSpPr>
        <p:grpSpPr>
          <a:xfrm>
            <a:off x="889178" y="3251079"/>
            <a:ext cx="2925091" cy="503514"/>
            <a:chOff x="0" y="-47625"/>
            <a:chExt cx="1295215" cy="222954"/>
          </a:xfrm>
        </p:grpSpPr>
        <p:sp>
          <p:nvSpPr>
            <p:cNvPr id="348" name="Google Shape;348;p35"/>
            <p:cNvSpPr/>
            <p:nvPr/>
          </p:nvSpPr>
          <p:spPr>
            <a:xfrm>
              <a:off x="0" y="0"/>
              <a:ext cx="1295215" cy="175329"/>
            </a:xfrm>
            <a:custGeom>
              <a:rect b="b" l="l" r="r" t="t"/>
              <a:pathLst>
                <a:path extrusionOk="0" h="175329" w="1295215">
                  <a:moveTo>
                    <a:pt x="67492" y="0"/>
                  </a:moveTo>
                  <a:lnTo>
                    <a:pt x="1227723" y="0"/>
                  </a:lnTo>
                  <a:cubicBezTo>
                    <a:pt x="1245623" y="0"/>
                    <a:pt x="1262790" y="7111"/>
                    <a:pt x="1275447" y="19768"/>
                  </a:cubicBezTo>
                  <a:cubicBezTo>
                    <a:pt x="1288104" y="32425"/>
                    <a:pt x="1295215" y="49592"/>
                    <a:pt x="1295215" y="67492"/>
                  </a:cubicBezTo>
                  <a:lnTo>
                    <a:pt x="1295215" y="107837"/>
                  </a:lnTo>
                  <a:cubicBezTo>
                    <a:pt x="1295215" y="125737"/>
                    <a:pt x="1288104" y="142904"/>
                    <a:pt x="1275447" y="155561"/>
                  </a:cubicBezTo>
                  <a:cubicBezTo>
                    <a:pt x="1262790" y="168218"/>
                    <a:pt x="1245623" y="175329"/>
                    <a:pt x="1227723" y="175329"/>
                  </a:cubicBezTo>
                  <a:lnTo>
                    <a:pt x="67492" y="175329"/>
                  </a:lnTo>
                  <a:cubicBezTo>
                    <a:pt x="49592" y="175329"/>
                    <a:pt x="32425" y="168218"/>
                    <a:pt x="19768" y="155561"/>
                  </a:cubicBezTo>
                  <a:cubicBezTo>
                    <a:pt x="7111" y="142904"/>
                    <a:pt x="0" y="125737"/>
                    <a:pt x="0" y="107837"/>
                  </a:cubicBezTo>
                  <a:lnTo>
                    <a:pt x="0" y="67492"/>
                  </a:lnTo>
                  <a:cubicBezTo>
                    <a:pt x="0" y="49592"/>
                    <a:pt x="7111" y="32425"/>
                    <a:pt x="19768" y="19768"/>
                  </a:cubicBezTo>
                  <a:cubicBezTo>
                    <a:pt x="32425" y="7111"/>
                    <a:pt x="49592" y="0"/>
                    <a:pt x="67492" y="0"/>
                  </a:cubicBezTo>
                  <a:close/>
                </a:path>
              </a:pathLst>
            </a:custGeom>
            <a:solidFill>
              <a:srgbClr val="3A577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9" name="Google Shape;349;p35"/>
            <p:cNvSpPr txBox="1"/>
            <p:nvPr/>
          </p:nvSpPr>
          <p:spPr>
            <a:xfrm>
              <a:off x="0" y="-47625"/>
              <a:ext cx="1295215" cy="22295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50" name="Google Shape;350;p35"/>
          <p:cNvGrpSpPr/>
          <p:nvPr/>
        </p:nvGrpSpPr>
        <p:grpSpPr>
          <a:xfrm>
            <a:off x="916549" y="1755671"/>
            <a:ext cx="2925091" cy="503514"/>
            <a:chOff x="0" y="-47625"/>
            <a:chExt cx="1295215" cy="222954"/>
          </a:xfrm>
        </p:grpSpPr>
        <p:sp>
          <p:nvSpPr>
            <p:cNvPr id="351" name="Google Shape;351;p35"/>
            <p:cNvSpPr/>
            <p:nvPr/>
          </p:nvSpPr>
          <p:spPr>
            <a:xfrm>
              <a:off x="0" y="0"/>
              <a:ext cx="1295215" cy="175329"/>
            </a:xfrm>
            <a:custGeom>
              <a:rect b="b" l="l" r="r" t="t"/>
              <a:pathLst>
                <a:path extrusionOk="0" h="175329" w="1295215">
                  <a:moveTo>
                    <a:pt x="67492" y="0"/>
                  </a:moveTo>
                  <a:lnTo>
                    <a:pt x="1227723" y="0"/>
                  </a:lnTo>
                  <a:cubicBezTo>
                    <a:pt x="1245623" y="0"/>
                    <a:pt x="1262790" y="7111"/>
                    <a:pt x="1275447" y="19768"/>
                  </a:cubicBezTo>
                  <a:cubicBezTo>
                    <a:pt x="1288104" y="32425"/>
                    <a:pt x="1295215" y="49592"/>
                    <a:pt x="1295215" y="67492"/>
                  </a:cubicBezTo>
                  <a:lnTo>
                    <a:pt x="1295215" y="107837"/>
                  </a:lnTo>
                  <a:cubicBezTo>
                    <a:pt x="1295215" y="125737"/>
                    <a:pt x="1288104" y="142904"/>
                    <a:pt x="1275447" y="155561"/>
                  </a:cubicBezTo>
                  <a:cubicBezTo>
                    <a:pt x="1262790" y="168218"/>
                    <a:pt x="1245623" y="175329"/>
                    <a:pt x="1227723" y="175329"/>
                  </a:cubicBezTo>
                  <a:lnTo>
                    <a:pt x="67492" y="175329"/>
                  </a:lnTo>
                  <a:cubicBezTo>
                    <a:pt x="49592" y="175329"/>
                    <a:pt x="32425" y="168218"/>
                    <a:pt x="19768" y="155561"/>
                  </a:cubicBezTo>
                  <a:cubicBezTo>
                    <a:pt x="7111" y="142904"/>
                    <a:pt x="0" y="125737"/>
                    <a:pt x="0" y="107837"/>
                  </a:cubicBezTo>
                  <a:lnTo>
                    <a:pt x="0" y="67492"/>
                  </a:lnTo>
                  <a:cubicBezTo>
                    <a:pt x="0" y="49592"/>
                    <a:pt x="7111" y="32425"/>
                    <a:pt x="19768" y="19768"/>
                  </a:cubicBezTo>
                  <a:cubicBezTo>
                    <a:pt x="32425" y="7111"/>
                    <a:pt x="49592" y="0"/>
                    <a:pt x="67492" y="0"/>
                  </a:cubicBezTo>
                  <a:close/>
                </a:path>
              </a:pathLst>
            </a:custGeom>
            <a:solidFill>
              <a:srgbClr val="3A577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2" name="Google Shape;352;p35"/>
            <p:cNvSpPr txBox="1"/>
            <p:nvPr/>
          </p:nvSpPr>
          <p:spPr>
            <a:xfrm>
              <a:off x="0" y="-47625"/>
              <a:ext cx="1295215" cy="22295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53" name="Google Shape;353;p35"/>
          <p:cNvSpPr/>
          <p:nvPr/>
        </p:nvSpPr>
        <p:spPr>
          <a:xfrm>
            <a:off x="390227" y="1863226"/>
            <a:ext cx="395959" cy="395959"/>
          </a:xfrm>
          <a:custGeom>
            <a:rect b="b" l="l" r="r" t="t"/>
            <a:pathLst>
              <a:path extrusionOk="0" h="791918" w="791918">
                <a:moveTo>
                  <a:pt x="0" y="0"/>
                </a:moveTo>
                <a:lnTo>
                  <a:pt x="791917" y="0"/>
                </a:lnTo>
                <a:lnTo>
                  <a:pt x="791917" y="791918"/>
                </a:lnTo>
                <a:lnTo>
                  <a:pt x="0" y="791918"/>
                </a:lnTo>
                <a:lnTo>
                  <a:pt x="0" y="0"/>
                </a:lnTo>
                <a:close/>
              </a:path>
            </a:pathLst>
          </a:custGeom>
          <a:blipFill rotWithShape="1">
            <a:blip r:embed="rId3">
              <a:alphaModFix/>
            </a:blip>
            <a:stretch>
              <a:fillRect b="0" l="0" r="0" t="0"/>
            </a:stretch>
          </a:blipFill>
          <a:ln>
            <a:noFill/>
          </a:ln>
        </p:spPr>
      </p:sp>
      <p:sp>
        <p:nvSpPr>
          <p:cNvPr id="354" name="Google Shape;354;p35"/>
          <p:cNvSpPr/>
          <p:nvPr/>
        </p:nvSpPr>
        <p:spPr>
          <a:xfrm>
            <a:off x="390227" y="2584366"/>
            <a:ext cx="395959" cy="395959"/>
          </a:xfrm>
          <a:custGeom>
            <a:rect b="b" l="l" r="r" t="t"/>
            <a:pathLst>
              <a:path extrusionOk="0" h="791918" w="791918">
                <a:moveTo>
                  <a:pt x="0" y="0"/>
                </a:moveTo>
                <a:lnTo>
                  <a:pt x="791917" y="0"/>
                </a:lnTo>
                <a:lnTo>
                  <a:pt x="791917" y="791917"/>
                </a:lnTo>
                <a:lnTo>
                  <a:pt x="0" y="791917"/>
                </a:lnTo>
                <a:lnTo>
                  <a:pt x="0" y="0"/>
                </a:lnTo>
                <a:close/>
              </a:path>
            </a:pathLst>
          </a:custGeom>
          <a:blipFill rotWithShape="1">
            <a:blip r:embed="rId3">
              <a:alphaModFix/>
            </a:blip>
            <a:stretch>
              <a:fillRect b="0" l="0" r="0" t="0"/>
            </a:stretch>
          </a:blipFill>
          <a:ln>
            <a:noFill/>
          </a:ln>
        </p:spPr>
      </p:sp>
      <p:sp>
        <p:nvSpPr>
          <p:cNvPr id="355" name="Google Shape;355;p35"/>
          <p:cNvSpPr/>
          <p:nvPr/>
        </p:nvSpPr>
        <p:spPr>
          <a:xfrm>
            <a:off x="390227" y="3361395"/>
            <a:ext cx="395959" cy="395959"/>
          </a:xfrm>
          <a:custGeom>
            <a:rect b="b" l="l" r="r" t="t"/>
            <a:pathLst>
              <a:path extrusionOk="0" h="791918" w="791918">
                <a:moveTo>
                  <a:pt x="0" y="0"/>
                </a:moveTo>
                <a:lnTo>
                  <a:pt x="791917" y="0"/>
                </a:lnTo>
                <a:lnTo>
                  <a:pt x="791917" y="791918"/>
                </a:lnTo>
                <a:lnTo>
                  <a:pt x="0" y="791918"/>
                </a:lnTo>
                <a:lnTo>
                  <a:pt x="0" y="0"/>
                </a:lnTo>
                <a:close/>
              </a:path>
            </a:pathLst>
          </a:custGeom>
          <a:blipFill rotWithShape="1">
            <a:blip r:embed="rId3">
              <a:alphaModFix/>
            </a:blip>
            <a:stretch>
              <a:fillRect b="0" l="0" r="0" t="0"/>
            </a:stretch>
          </a:blipFill>
          <a:ln>
            <a:noFill/>
          </a:ln>
        </p:spPr>
      </p:sp>
      <p:sp>
        <p:nvSpPr>
          <p:cNvPr id="356" name="Google Shape;356;p35"/>
          <p:cNvSpPr txBox="1"/>
          <p:nvPr/>
        </p:nvSpPr>
        <p:spPr>
          <a:xfrm>
            <a:off x="1021339" y="2659040"/>
            <a:ext cx="2730600" cy="480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 sz="1300" u="none" cap="none" strike="noStrike">
                <a:solidFill>
                  <a:srgbClr val="FFFFFF"/>
                </a:solidFill>
                <a:latin typeface="Bree Serif"/>
                <a:ea typeface="Bree Serif"/>
                <a:cs typeface="Bree Serif"/>
                <a:sym typeface="Bree Serif"/>
              </a:rPr>
              <a:t>Model Creation </a:t>
            </a:r>
            <a:endParaRPr sz="700">
              <a:latin typeface="Bree Serif"/>
              <a:ea typeface="Bree Serif"/>
              <a:cs typeface="Bree Serif"/>
              <a:sym typeface="Bree Serif"/>
            </a:endParaRPr>
          </a:p>
          <a:p>
            <a:pPr indent="0" lvl="0" marL="0" marR="0" rtl="0" algn="ctr">
              <a:lnSpc>
                <a:spcPct val="140007"/>
              </a:lnSpc>
              <a:spcBef>
                <a:spcPts val="0"/>
              </a:spcBef>
              <a:spcAft>
                <a:spcPts val="0"/>
              </a:spcAft>
              <a:buNone/>
            </a:pPr>
            <a:r>
              <a:t/>
            </a:r>
            <a:endParaRPr b="1" i="0" sz="1300" u="none" cap="none" strike="noStrike">
              <a:solidFill>
                <a:srgbClr val="FFFFFF"/>
              </a:solidFill>
              <a:latin typeface="Ultra"/>
              <a:ea typeface="Ultra"/>
              <a:cs typeface="Ultra"/>
              <a:sym typeface="Ultra"/>
            </a:endParaRPr>
          </a:p>
        </p:txBody>
      </p:sp>
      <p:sp>
        <p:nvSpPr>
          <p:cNvPr id="357" name="Google Shape;357;p35"/>
          <p:cNvSpPr txBox="1"/>
          <p:nvPr/>
        </p:nvSpPr>
        <p:spPr>
          <a:xfrm>
            <a:off x="1000054" y="3433307"/>
            <a:ext cx="2730600" cy="480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 sz="1300" u="none" cap="none" strike="noStrike">
                <a:solidFill>
                  <a:srgbClr val="FFFFFF"/>
                </a:solidFill>
                <a:latin typeface="Bree Serif"/>
                <a:ea typeface="Bree Serif"/>
                <a:cs typeface="Bree Serif"/>
                <a:sym typeface="Bree Serif"/>
              </a:rPr>
              <a:t>Prediction and Analysis</a:t>
            </a:r>
            <a:endParaRPr sz="700">
              <a:latin typeface="Bree Serif"/>
              <a:ea typeface="Bree Serif"/>
              <a:cs typeface="Bree Serif"/>
              <a:sym typeface="Bree Serif"/>
            </a:endParaRPr>
          </a:p>
          <a:p>
            <a:pPr indent="0" lvl="0" marL="0" marR="0" rtl="0" algn="ctr">
              <a:lnSpc>
                <a:spcPct val="140007"/>
              </a:lnSpc>
              <a:spcBef>
                <a:spcPts val="0"/>
              </a:spcBef>
              <a:spcAft>
                <a:spcPts val="0"/>
              </a:spcAft>
              <a:buNone/>
            </a:pPr>
            <a:r>
              <a:t/>
            </a:r>
            <a:endParaRPr b="1" i="0" sz="1300" u="none" cap="none" strike="noStrike">
              <a:solidFill>
                <a:srgbClr val="FFFFFF"/>
              </a:solidFill>
              <a:latin typeface="Ultra"/>
              <a:ea typeface="Ultra"/>
              <a:cs typeface="Ultra"/>
              <a:sym typeface="Ultra"/>
            </a:endParaRPr>
          </a:p>
        </p:txBody>
      </p:sp>
      <p:sp>
        <p:nvSpPr>
          <p:cNvPr id="358" name="Google Shape;358;p35"/>
          <p:cNvSpPr txBox="1"/>
          <p:nvPr/>
        </p:nvSpPr>
        <p:spPr>
          <a:xfrm>
            <a:off x="1434382" y="1925778"/>
            <a:ext cx="2166600" cy="480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 sz="1300" u="none" cap="none" strike="noStrike">
                <a:solidFill>
                  <a:srgbClr val="FFFFFF"/>
                </a:solidFill>
                <a:latin typeface="Bree Serif"/>
                <a:ea typeface="Bree Serif"/>
                <a:cs typeface="Bree Serif"/>
                <a:sym typeface="Bree Serif"/>
              </a:rPr>
              <a:t>Data Preprocessing</a:t>
            </a:r>
            <a:endParaRPr sz="700">
              <a:latin typeface="Bree Serif"/>
              <a:ea typeface="Bree Serif"/>
              <a:cs typeface="Bree Serif"/>
              <a:sym typeface="Bree Serif"/>
            </a:endParaRPr>
          </a:p>
          <a:p>
            <a:pPr indent="0" lvl="0" marL="0" marR="0" rtl="0" algn="ctr">
              <a:lnSpc>
                <a:spcPct val="140007"/>
              </a:lnSpc>
              <a:spcBef>
                <a:spcPts val="0"/>
              </a:spcBef>
              <a:spcAft>
                <a:spcPts val="0"/>
              </a:spcAft>
              <a:buNone/>
            </a:pPr>
            <a:r>
              <a:t/>
            </a:r>
            <a:endParaRPr b="1" i="0" sz="1300" u="none" cap="none" strike="noStrike">
              <a:solidFill>
                <a:srgbClr val="FFFFFF"/>
              </a:solidFill>
              <a:latin typeface="Ultra"/>
              <a:ea typeface="Ultra"/>
              <a:cs typeface="Ultra"/>
              <a:sym typeface="Ultra"/>
            </a:endParaRPr>
          </a:p>
        </p:txBody>
      </p:sp>
      <p:sp>
        <p:nvSpPr>
          <p:cNvPr id="359" name="Google Shape;359;p35"/>
          <p:cNvSpPr/>
          <p:nvPr/>
        </p:nvSpPr>
        <p:spPr>
          <a:xfrm>
            <a:off x="6183907" y="-602594"/>
            <a:ext cx="1845934" cy="1845934"/>
          </a:xfrm>
          <a:custGeom>
            <a:rect b="b" l="l" r="r" t="t"/>
            <a:pathLst>
              <a:path extrusionOk="0" h="3691868" w="3691868">
                <a:moveTo>
                  <a:pt x="0" y="0"/>
                </a:moveTo>
                <a:lnTo>
                  <a:pt x="3691867" y="0"/>
                </a:lnTo>
                <a:lnTo>
                  <a:pt x="3691867" y="3691868"/>
                </a:lnTo>
                <a:lnTo>
                  <a:pt x="0" y="3691868"/>
                </a:lnTo>
                <a:lnTo>
                  <a:pt x="0" y="0"/>
                </a:lnTo>
                <a:close/>
              </a:path>
            </a:pathLst>
          </a:custGeom>
          <a:blipFill rotWithShape="1">
            <a:blip r:embed="rId4">
              <a:alphaModFix/>
            </a:blip>
            <a:stretch>
              <a:fillRect b="0" l="0" r="0" t="0"/>
            </a:stretch>
          </a:blipFill>
          <a:ln>
            <a:noFill/>
          </a:ln>
        </p:spPr>
      </p:sp>
      <p:sp>
        <p:nvSpPr>
          <p:cNvPr id="360" name="Google Shape;360;p35"/>
          <p:cNvSpPr/>
          <p:nvPr/>
        </p:nvSpPr>
        <p:spPr>
          <a:xfrm>
            <a:off x="2080080" y="4860000"/>
            <a:ext cx="613230" cy="189544"/>
          </a:xfrm>
          <a:custGeom>
            <a:rect b="b" l="l" r="r" t="t"/>
            <a:pathLst>
              <a:path extrusionOk="0" h="379088" w="1226460">
                <a:moveTo>
                  <a:pt x="0" y="0"/>
                </a:moveTo>
                <a:lnTo>
                  <a:pt x="1226459" y="0"/>
                </a:lnTo>
                <a:lnTo>
                  <a:pt x="1226459" y="379088"/>
                </a:lnTo>
                <a:lnTo>
                  <a:pt x="0" y="379088"/>
                </a:lnTo>
                <a:lnTo>
                  <a:pt x="0" y="0"/>
                </a:lnTo>
                <a:close/>
              </a:path>
            </a:pathLst>
          </a:custGeom>
          <a:blipFill rotWithShape="1">
            <a:blip r:embed="rId5">
              <a:alphaModFix/>
            </a:blip>
            <a:stretch>
              <a:fillRect b="0" l="0" r="0" t="0"/>
            </a:stretch>
          </a:blipFill>
          <a:ln>
            <a:noFill/>
          </a:ln>
        </p:spPr>
      </p:sp>
      <p:sp>
        <p:nvSpPr>
          <p:cNvPr id="361" name="Google Shape;361;p35"/>
          <p:cNvSpPr/>
          <p:nvPr/>
        </p:nvSpPr>
        <p:spPr>
          <a:xfrm>
            <a:off x="7802670" y="225601"/>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5">
              <a:alphaModFix/>
            </a:blip>
            <a:stretch>
              <a:fillRect b="0" l="0" r="0" t="0"/>
            </a:stretch>
          </a:blipFill>
          <a:ln>
            <a:noFill/>
          </a:ln>
        </p:spPr>
      </p:sp>
      <p:sp>
        <p:nvSpPr>
          <p:cNvPr id="362" name="Google Shape;362;p35"/>
          <p:cNvSpPr/>
          <p:nvPr/>
        </p:nvSpPr>
        <p:spPr>
          <a:xfrm>
            <a:off x="4174275" y="1389679"/>
            <a:ext cx="4782328" cy="3017676"/>
          </a:xfrm>
          <a:custGeom>
            <a:rect b="b" l="l" r="r" t="t"/>
            <a:pathLst>
              <a:path extrusionOk="0" h="6035352" w="9564656">
                <a:moveTo>
                  <a:pt x="0" y="0"/>
                </a:moveTo>
                <a:lnTo>
                  <a:pt x="9564656" y="0"/>
                </a:lnTo>
                <a:lnTo>
                  <a:pt x="9564656" y="6035352"/>
                </a:lnTo>
                <a:lnTo>
                  <a:pt x="0" y="6035352"/>
                </a:lnTo>
                <a:lnTo>
                  <a:pt x="0" y="0"/>
                </a:lnTo>
                <a:close/>
              </a:path>
            </a:pathLst>
          </a:custGeom>
          <a:blipFill rotWithShape="1">
            <a:blip r:embed="rId6">
              <a:alphaModFix/>
            </a:blip>
            <a:stretch>
              <a:fillRect b="0" l="0" r="0" t="-2458"/>
            </a:stretch>
          </a:blipFill>
          <a:ln>
            <a:noFill/>
          </a:ln>
        </p:spPr>
      </p:sp>
      <p:sp>
        <p:nvSpPr>
          <p:cNvPr id="363" name="Google Shape;363;p35"/>
          <p:cNvSpPr txBox="1"/>
          <p:nvPr/>
        </p:nvSpPr>
        <p:spPr>
          <a:xfrm>
            <a:off x="1000054" y="338945"/>
            <a:ext cx="3776179" cy="508064"/>
          </a:xfrm>
          <a:prstGeom prst="rect">
            <a:avLst/>
          </a:prstGeom>
          <a:noFill/>
          <a:ln>
            <a:noFill/>
          </a:ln>
        </p:spPr>
        <p:txBody>
          <a:bodyPr anchorCtr="0" anchor="t" bIns="0" lIns="0" spcFirstLastPara="1" rIns="0" wrap="square" tIns="0">
            <a:spAutoFit/>
          </a:bodyPr>
          <a:lstStyle/>
          <a:p>
            <a:pPr indent="0" lvl="0" marL="0" marR="0" rtl="0" algn="l">
              <a:lnSpc>
                <a:spcPct val="127004"/>
              </a:lnSpc>
              <a:spcBef>
                <a:spcPts val="0"/>
              </a:spcBef>
              <a:spcAft>
                <a:spcPts val="0"/>
              </a:spcAft>
              <a:buNone/>
            </a:pPr>
            <a:r>
              <a:rPr b="1" i="0" lang="en" sz="2800" u="none" cap="none" strike="noStrike">
                <a:solidFill>
                  <a:srgbClr val="0E2F5F"/>
                </a:solidFill>
                <a:latin typeface="Arial"/>
                <a:ea typeface="Arial"/>
                <a:cs typeface="Arial"/>
                <a:sym typeface="Arial"/>
              </a:rPr>
              <a:t>Analytic Approach</a:t>
            </a:r>
            <a:endParaRPr sz="700"/>
          </a:p>
        </p:txBody>
      </p:sp>
      <p:grpSp>
        <p:nvGrpSpPr>
          <p:cNvPr id="364" name="Google Shape;364;p35"/>
          <p:cNvGrpSpPr/>
          <p:nvPr/>
        </p:nvGrpSpPr>
        <p:grpSpPr>
          <a:xfrm>
            <a:off x="343650" y="367759"/>
            <a:ext cx="489113" cy="504157"/>
            <a:chOff x="0" y="0"/>
            <a:chExt cx="788546" cy="812800"/>
          </a:xfrm>
        </p:grpSpPr>
        <p:sp>
          <p:nvSpPr>
            <p:cNvPr id="365" name="Google Shape;365;p35"/>
            <p:cNvSpPr/>
            <p:nvPr/>
          </p:nvSpPr>
          <p:spPr>
            <a:xfrm>
              <a:off x="0" y="0"/>
              <a:ext cx="788546" cy="812800"/>
            </a:xfrm>
            <a:custGeom>
              <a:rect b="b" l="l" r="r" t="t"/>
              <a:pathLst>
                <a:path extrusionOk="0" h="812800" w="788546">
                  <a:moveTo>
                    <a:pt x="394273" y="0"/>
                  </a:moveTo>
                  <a:cubicBezTo>
                    <a:pt x="176522" y="0"/>
                    <a:pt x="0" y="181951"/>
                    <a:pt x="0" y="406400"/>
                  </a:cubicBezTo>
                  <a:cubicBezTo>
                    <a:pt x="0" y="630849"/>
                    <a:pt x="176522" y="812800"/>
                    <a:pt x="394273" y="812800"/>
                  </a:cubicBezTo>
                  <a:cubicBezTo>
                    <a:pt x="612024" y="812800"/>
                    <a:pt x="788546" y="630849"/>
                    <a:pt x="788546" y="406400"/>
                  </a:cubicBezTo>
                  <a:cubicBezTo>
                    <a:pt x="788546" y="181951"/>
                    <a:pt x="612024" y="0"/>
                    <a:pt x="394273"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6" name="Google Shape;366;p35"/>
            <p:cNvSpPr txBox="1"/>
            <p:nvPr/>
          </p:nvSpPr>
          <p:spPr>
            <a:xfrm>
              <a:off x="73926" y="28575"/>
              <a:ext cx="640694"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67" name="Google Shape;367;p35"/>
          <p:cNvSpPr/>
          <p:nvPr/>
        </p:nvSpPr>
        <p:spPr>
          <a:xfrm>
            <a:off x="509771" y="502573"/>
            <a:ext cx="156872" cy="234528"/>
          </a:xfrm>
          <a:custGeom>
            <a:rect b="b" l="l" r="r" t="t"/>
            <a:pathLst>
              <a:path extrusionOk="0" h="469057" w="313744">
                <a:moveTo>
                  <a:pt x="0" y="0"/>
                </a:moveTo>
                <a:lnTo>
                  <a:pt x="313743" y="0"/>
                </a:lnTo>
                <a:lnTo>
                  <a:pt x="313743" y="469057"/>
                </a:lnTo>
                <a:lnTo>
                  <a:pt x="0" y="469057"/>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cxnSp>
        <p:nvCxnSpPr>
          <p:cNvPr id="372" name="Google Shape;372;p36"/>
          <p:cNvCxnSpPr/>
          <p:nvPr/>
        </p:nvCxnSpPr>
        <p:spPr>
          <a:xfrm>
            <a:off x="4346155" y="1500830"/>
            <a:ext cx="4649908" cy="0"/>
          </a:xfrm>
          <a:prstGeom prst="straightConnector1">
            <a:avLst/>
          </a:prstGeom>
          <a:noFill/>
          <a:ln cap="flat" cmpd="sng" w="38100">
            <a:solidFill>
              <a:srgbClr val="5188CC"/>
            </a:solidFill>
            <a:prstDash val="solid"/>
            <a:round/>
            <a:headEnd len="sm" w="sm" type="none"/>
            <a:tailEnd len="sm" w="sm" type="none"/>
          </a:ln>
        </p:spPr>
      </p:cxnSp>
      <p:grpSp>
        <p:nvGrpSpPr>
          <p:cNvPr id="373" name="Google Shape;373;p36"/>
          <p:cNvGrpSpPr/>
          <p:nvPr/>
        </p:nvGrpSpPr>
        <p:grpSpPr>
          <a:xfrm>
            <a:off x="4756623" y="676219"/>
            <a:ext cx="334639" cy="334639"/>
            <a:chOff x="0" y="0"/>
            <a:chExt cx="812800" cy="812800"/>
          </a:xfrm>
        </p:grpSpPr>
        <p:sp>
          <p:nvSpPr>
            <p:cNvPr id="374" name="Google Shape;374;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5" name="Google Shape;375;p36"/>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76" name="Google Shape;376;p36"/>
          <p:cNvGrpSpPr/>
          <p:nvPr/>
        </p:nvGrpSpPr>
        <p:grpSpPr>
          <a:xfrm>
            <a:off x="-169650" y="-614377"/>
            <a:ext cx="1676777" cy="2915835"/>
            <a:chOff x="0" y="-47625"/>
            <a:chExt cx="883258" cy="1600173"/>
          </a:xfrm>
        </p:grpSpPr>
        <p:sp>
          <p:nvSpPr>
            <p:cNvPr id="377" name="Google Shape;377;p36"/>
            <p:cNvSpPr/>
            <p:nvPr/>
          </p:nvSpPr>
          <p:spPr>
            <a:xfrm>
              <a:off x="0" y="0"/>
              <a:ext cx="883258" cy="1552548"/>
            </a:xfrm>
            <a:custGeom>
              <a:rect b="b" l="l" r="r" t="t"/>
              <a:pathLst>
                <a:path extrusionOk="0" h="1552548" w="883258">
                  <a:moveTo>
                    <a:pt x="136203" y="0"/>
                  </a:moveTo>
                  <a:lnTo>
                    <a:pt x="747055" y="0"/>
                  </a:lnTo>
                  <a:cubicBezTo>
                    <a:pt x="822278" y="0"/>
                    <a:pt x="883258" y="60980"/>
                    <a:pt x="883258" y="136203"/>
                  </a:cubicBezTo>
                  <a:lnTo>
                    <a:pt x="883258" y="1416345"/>
                  </a:lnTo>
                  <a:cubicBezTo>
                    <a:pt x="883258" y="1452468"/>
                    <a:pt x="868908" y="1487112"/>
                    <a:pt x="843365" y="1512655"/>
                  </a:cubicBezTo>
                  <a:cubicBezTo>
                    <a:pt x="817822" y="1538198"/>
                    <a:pt x="783178" y="1552548"/>
                    <a:pt x="747055" y="1552548"/>
                  </a:cubicBezTo>
                  <a:lnTo>
                    <a:pt x="136203" y="1552548"/>
                  </a:lnTo>
                  <a:cubicBezTo>
                    <a:pt x="100080" y="1552548"/>
                    <a:pt x="65436" y="1538198"/>
                    <a:pt x="39893" y="1512655"/>
                  </a:cubicBezTo>
                  <a:cubicBezTo>
                    <a:pt x="14350" y="1487112"/>
                    <a:pt x="0" y="1452468"/>
                    <a:pt x="0" y="1416345"/>
                  </a:cubicBezTo>
                  <a:lnTo>
                    <a:pt x="0" y="136203"/>
                  </a:lnTo>
                  <a:cubicBezTo>
                    <a:pt x="0" y="100080"/>
                    <a:pt x="14350" y="65436"/>
                    <a:pt x="39893" y="39893"/>
                  </a:cubicBezTo>
                  <a:cubicBezTo>
                    <a:pt x="65436" y="14350"/>
                    <a:pt x="100080" y="0"/>
                    <a:pt x="136203" y="0"/>
                  </a:cubicBezTo>
                  <a:close/>
                </a:path>
              </a:pathLst>
            </a:custGeom>
            <a:solidFill>
              <a:srgbClr val="E1EDF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8" name="Google Shape;378;p36"/>
            <p:cNvSpPr txBox="1"/>
            <p:nvPr/>
          </p:nvSpPr>
          <p:spPr>
            <a:xfrm>
              <a:off x="0" y="-47625"/>
              <a:ext cx="883258" cy="160017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79" name="Google Shape;379;p36"/>
          <p:cNvSpPr/>
          <p:nvPr/>
        </p:nvSpPr>
        <p:spPr>
          <a:xfrm rot="5400000">
            <a:off x="4861433" y="779468"/>
            <a:ext cx="125018" cy="125018"/>
          </a:xfrm>
          <a:custGeom>
            <a:rect b="b" l="l" r="r" t="t"/>
            <a:pathLst>
              <a:path extrusionOk="0" h="250037" w="250037">
                <a:moveTo>
                  <a:pt x="0" y="0"/>
                </a:moveTo>
                <a:lnTo>
                  <a:pt x="250037" y="0"/>
                </a:lnTo>
                <a:lnTo>
                  <a:pt x="250037" y="250036"/>
                </a:lnTo>
                <a:lnTo>
                  <a:pt x="0" y="250036"/>
                </a:lnTo>
                <a:lnTo>
                  <a:pt x="0" y="0"/>
                </a:lnTo>
                <a:close/>
              </a:path>
            </a:pathLst>
          </a:custGeom>
          <a:blipFill rotWithShape="1">
            <a:blip r:embed="rId3">
              <a:alphaModFix/>
            </a:blip>
            <a:stretch>
              <a:fillRect b="0" l="0" r="0" t="0"/>
            </a:stretch>
          </a:blipFill>
          <a:ln>
            <a:noFill/>
          </a:ln>
        </p:spPr>
      </p:sp>
      <p:sp>
        <p:nvSpPr>
          <p:cNvPr id="380" name="Google Shape;380;p36"/>
          <p:cNvSpPr/>
          <p:nvPr/>
        </p:nvSpPr>
        <p:spPr>
          <a:xfrm>
            <a:off x="7526510" y="-345107"/>
            <a:ext cx="1845934" cy="1845934"/>
          </a:xfrm>
          <a:custGeom>
            <a:rect b="b" l="l" r="r" t="t"/>
            <a:pathLst>
              <a:path extrusionOk="0" h="3691868" w="3691868">
                <a:moveTo>
                  <a:pt x="0" y="0"/>
                </a:moveTo>
                <a:lnTo>
                  <a:pt x="3691867" y="0"/>
                </a:lnTo>
                <a:lnTo>
                  <a:pt x="3691867" y="3691868"/>
                </a:lnTo>
                <a:lnTo>
                  <a:pt x="0" y="3691868"/>
                </a:lnTo>
                <a:lnTo>
                  <a:pt x="0" y="0"/>
                </a:lnTo>
                <a:close/>
              </a:path>
            </a:pathLst>
          </a:custGeom>
          <a:blipFill rotWithShape="1">
            <a:blip r:embed="rId4">
              <a:alphaModFix/>
            </a:blip>
            <a:stretch>
              <a:fillRect b="0" l="0" r="0" t="0"/>
            </a:stretch>
          </a:blipFill>
          <a:ln>
            <a:noFill/>
          </a:ln>
        </p:spPr>
      </p:sp>
      <p:sp>
        <p:nvSpPr>
          <p:cNvPr id="381" name="Google Shape;381;p36"/>
          <p:cNvSpPr/>
          <p:nvPr/>
        </p:nvSpPr>
        <p:spPr>
          <a:xfrm>
            <a:off x="3816922" y="415988"/>
            <a:ext cx="323739" cy="323739"/>
          </a:xfrm>
          <a:custGeom>
            <a:rect b="b" l="l" r="r" t="t"/>
            <a:pathLst>
              <a:path extrusionOk="0" h="647477" w="647477">
                <a:moveTo>
                  <a:pt x="0" y="0"/>
                </a:moveTo>
                <a:lnTo>
                  <a:pt x="647477" y="0"/>
                </a:lnTo>
                <a:lnTo>
                  <a:pt x="647477" y="647477"/>
                </a:lnTo>
                <a:lnTo>
                  <a:pt x="0" y="647477"/>
                </a:lnTo>
                <a:lnTo>
                  <a:pt x="0" y="0"/>
                </a:lnTo>
                <a:close/>
              </a:path>
            </a:pathLst>
          </a:custGeom>
          <a:blipFill rotWithShape="1">
            <a:blip r:embed="rId5">
              <a:alphaModFix/>
            </a:blip>
            <a:stretch>
              <a:fillRect b="0" l="0" r="0" t="0"/>
            </a:stretch>
          </a:blipFill>
          <a:ln>
            <a:noFill/>
          </a:ln>
        </p:spPr>
      </p:sp>
      <p:sp>
        <p:nvSpPr>
          <p:cNvPr id="382" name="Google Shape;382;p36"/>
          <p:cNvSpPr/>
          <p:nvPr/>
        </p:nvSpPr>
        <p:spPr>
          <a:xfrm>
            <a:off x="553375" y="600025"/>
            <a:ext cx="3473759" cy="1590518"/>
          </a:xfrm>
          <a:custGeom>
            <a:rect b="b" l="l" r="r" t="t"/>
            <a:pathLst>
              <a:path extrusionOk="0" h="3348458" w="6745164">
                <a:moveTo>
                  <a:pt x="0" y="0"/>
                </a:moveTo>
                <a:lnTo>
                  <a:pt x="6745164" y="0"/>
                </a:lnTo>
                <a:lnTo>
                  <a:pt x="6745164" y="3348458"/>
                </a:lnTo>
                <a:lnTo>
                  <a:pt x="0" y="3348458"/>
                </a:lnTo>
                <a:lnTo>
                  <a:pt x="0" y="0"/>
                </a:lnTo>
                <a:close/>
              </a:path>
            </a:pathLst>
          </a:custGeom>
          <a:blipFill rotWithShape="1">
            <a:blip r:embed="rId6">
              <a:alphaModFix/>
            </a:blip>
            <a:stretch>
              <a:fillRect b="0" l="0" r="0" t="0"/>
            </a:stretch>
          </a:blipFill>
          <a:ln>
            <a:noFill/>
          </a:ln>
        </p:spPr>
      </p:sp>
      <p:sp>
        <p:nvSpPr>
          <p:cNvPr id="383" name="Google Shape;383;p36"/>
          <p:cNvSpPr/>
          <p:nvPr/>
        </p:nvSpPr>
        <p:spPr>
          <a:xfrm>
            <a:off x="5563901" y="3199975"/>
            <a:ext cx="3339778" cy="1790788"/>
          </a:xfrm>
          <a:custGeom>
            <a:rect b="b" l="l" r="r" t="t"/>
            <a:pathLst>
              <a:path extrusionOk="0" h="4621388" w="7812346">
                <a:moveTo>
                  <a:pt x="0" y="0"/>
                </a:moveTo>
                <a:lnTo>
                  <a:pt x="7812346" y="0"/>
                </a:lnTo>
                <a:lnTo>
                  <a:pt x="7812346" y="4621388"/>
                </a:lnTo>
                <a:lnTo>
                  <a:pt x="0" y="4621388"/>
                </a:lnTo>
                <a:lnTo>
                  <a:pt x="0" y="0"/>
                </a:lnTo>
                <a:close/>
              </a:path>
            </a:pathLst>
          </a:custGeom>
          <a:blipFill rotWithShape="1">
            <a:blip r:embed="rId7">
              <a:alphaModFix/>
            </a:blip>
            <a:stretch>
              <a:fillRect b="0" l="0" r="0" t="0"/>
            </a:stretch>
          </a:blipFill>
          <a:ln>
            <a:noFill/>
          </a:ln>
        </p:spPr>
      </p:sp>
      <p:sp>
        <p:nvSpPr>
          <p:cNvPr id="384" name="Google Shape;384;p36"/>
          <p:cNvSpPr txBox="1"/>
          <p:nvPr/>
        </p:nvSpPr>
        <p:spPr>
          <a:xfrm>
            <a:off x="4923942" y="600019"/>
            <a:ext cx="3855300" cy="1377600"/>
          </a:xfrm>
          <a:prstGeom prst="rect">
            <a:avLst/>
          </a:prstGeom>
          <a:noFill/>
          <a:ln>
            <a:noFill/>
          </a:ln>
        </p:spPr>
        <p:txBody>
          <a:bodyPr anchorCtr="0" anchor="t" bIns="0" lIns="0" spcFirstLastPara="1" rIns="0" wrap="square" tIns="0">
            <a:spAutoFit/>
          </a:bodyPr>
          <a:lstStyle/>
          <a:p>
            <a:pPr indent="0" lvl="0" marL="0" marR="0" rtl="0" algn="r">
              <a:lnSpc>
                <a:spcPct val="127005"/>
              </a:lnSpc>
              <a:spcBef>
                <a:spcPts val="0"/>
              </a:spcBef>
              <a:spcAft>
                <a:spcPts val="0"/>
              </a:spcAft>
              <a:buNone/>
            </a:pPr>
            <a:r>
              <a:rPr b="1" i="0" lang="en" sz="2500" u="none" cap="none" strike="noStrike">
                <a:solidFill>
                  <a:srgbClr val="0E2F5F"/>
                </a:solidFill>
                <a:latin typeface="Arial"/>
                <a:ea typeface="Arial"/>
                <a:cs typeface="Arial"/>
                <a:sym typeface="Arial"/>
              </a:rPr>
              <a:t>Data Preprocessing and Feature Handling</a:t>
            </a:r>
            <a:endParaRPr sz="600"/>
          </a:p>
          <a:p>
            <a:pPr indent="0" lvl="0" marL="0" marR="0" rtl="0" algn="r">
              <a:lnSpc>
                <a:spcPct val="127005"/>
              </a:lnSpc>
              <a:spcBef>
                <a:spcPts val="0"/>
              </a:spcBef>
              <a:spcAft>
                <a:spcPts val="0"/>
              </a:spcAft>
              <a:buNone/>
            </a:pPr>
            <a:r>
              <a:t/>
            </a:r>
            <a:endParaRPr b="1" i="0" sz="2600" u="none" cap="none" strike="noStrike">
              <a:solidFill>
                <a:srgbClr val="0E2F5F"/>
              </a:solidFill>
              <a:latin typeface="Arial"/>
              <a:ea typeface="Arial"/>
              <a:cs typeface="Arial"/>
              <a:sym typeface="Arial"/>
            </a:endParaRPr>
          </a:p>
        </p:txBody>
      </p:sp>
      <p:sp>
        <p:nvSpPr>
          <p:cNvPr id="385" name="Google Shape;385;p36"/>
          <p:cNvSpPr txBox="1"/>
          <p:nvPr/>
        </p:nvSpPr>
        <p:spPr>
          <a:xfrm>
            <a:off x="5563900" y="1611463"/>
            <a:ext cx="4128300" cy="1739400"/>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None/>
            </a:pPr>
            <a:r>
              <a:rPr b="1" i="0" lang="en" sz="1000" u="none" cap="none" strike="noStrike">
                <a:solidFill>
                  <a:srgbClr val="021828"/>
                </a:solidFill>
                <a:latin typeface="Arial"/>
                <a:ea typeface="Arial"/>
                <a:cs typeface="Arial"/>
                <a:sym typeface="Arial"/>
              </a:rPr>
              <a:t>Total of 60 Features:</a:t>
            </a:r>
            <a:endParaRPr sz="200"/>
          </a:p>
          <a:p>
            <a:pPr indent="0" lvl="0" marL="0" marR="0" rtl="0" algn="just">
              <a:lnSpc>
                <a:spcPct val="140006"/>
              </a:lnSpc>
              <a:spcBef>
                <a:spcPts val="0"/>
              </a:spcBef>
              <a:spcAft>
                <a:spcPts val="0"/>
              </a:spcAft>
              <a:buNone/>
            </a:pPr>
            <a:r>
              <a:rPr b="1" i="0" lang="en" sz="1000" u="none" cap="none" strike="noStrike">
                <a:solidFill>
                  <a:srgbClr val="021828"/>
                </a:solidFill>
                <a:latin typeface="Arial"/>
                <a:ea typeface="Arial"/>
                <a:cs typeface="Arial"/>
                <a:sym typeface="Arial"/>
              </a:rPr>
              <a:t>35 Categorical Features </a:t>
            </a:r>
            <a:endParaRPr sz="200"/>
          </a:p>
          <a:p>
            <a:pPr indent="0" lvl="0" marL="0" marR="0" rtl="0" algn="just">
              <a:lnSpc>
                <a:spcPct val="140006"/>
              </a:lnSpc>
              <a:spcBef>
                <a:spcPts val="0"/>
              </a:spcBef>
              <a:spcAft>
                <a:spcPts val="0"/>
              </a:spcAft>
              <a:buNone/>
            </a:pPr>
            <a:r>
              <a:rPr b="1" i="0" lang="en" sz="1000" u="none" cap="none" strike="noStrike">
                <a:solidFill>
                  <a:srgbClr val="021828"/>
                </a:solidFill>
                <a:latin typeface="Arial"/>
                <a:ea typeface="Arial"/>
                <a:cs typeface="Arial"/>
                <a:sym typeface="Arial"/>
              </a:rPr>
              <a:t>25 Numerical Features </a:t>
            </a:r>
            <a:endParaRPr sz="200"/>
          </a:p>
          <a:p>
            <a:pPr indent="-127000" lvl="1" marL="317500" marR="0" rtl="0" algn="just">
              <a:lnSpc>
                <a:spcPct val="140006"/>
              </a:lnSpc>
              <a:spcBef>
                <a:spcPts val="0"/>
              </a:spcBef>
              <a:spcAft>
                <a:spcPts val="0"/>
              </a:spcAft>
              <a:buClr>
                <a:srgbClr val="021828"/>
              </a:buClr>
              <a:buSzPts val="1000"/>
              <a:buFont typeface="Arial"/>
              <a:buChar char="•"/>
            </a:pPr>
            <a:r>
              <a:rPr b="1" i="0" lang="en" sz="1000" u="none" cap="none" strike="noStrike">
                <a:solidFill>
                  <a:srgbClr val="021828"/>
                </a:solidFill>
                <a:latin typeface="Arial"/>
                <a:ea typeface="Arial"/>
                <a:cs typeface="Arial"/>
                <a:sym typeface="Arial"/>
              </a:rPr>
              <a:t>Handling categorical &amp; missing values</a:t>
            </a:r>
            <a:endParaRPr sz="200"/>
          </a:p>
          <a:p>
            <a:pPr indent="-127000" lvl="1" marL="317500" marR="0" rtl="0" algn="just">
              <a:lnSpc>
                <a:spcPct val="140006"/>
              </a:lnSpc>
              <a:spcBef>
                <a:spcPts val="0"/>
              </a:spcBef>
              <a:spcAft>
                <a:spcPts val="0"/>
              </a:spcAft>
              <a:buClr>
                <a:srgbClr val="021828"/>
              </a:buClr>
              <a:buSzPts val="1000"/>
              <a:buFont typeface="Arial"/>
              <a:buChar char="•"/>
            </a:pPr>
            <a:r>
              <a:rPr b="1" i="0" lang="en" sz="1000" u="none" cap="none" strike="noStrike">
                <a:solidFill>
                  <a:srgbClr val="021828"/>
                </a:solidFill>
                <a:latin typeface="Arial"/>
                <a:ea typeface="Arial"/>
                <a:cs typeface="Arial"/>
                <a:sym typeface="Arial"/>
              </a:rPr>
              <a:t>One-hot encoding &amp; ordinal encoding</a:t>
            </a:r>
            <a:endParaRPr sz="200"/>
          </a:p>
          <a:p>
            <a:pPr indent="-127000" lvl="1" marL="317500" marR="0" rtl="0" algn="just">
              <a:lnSpc>
                <a:spcPct val="140006"/>
              </a:lnSpc>
              <a:spcBef>
                <a:spcPts val="0"/>
              </a:spcBef>
              <a:spcAft>
                <a:spcPts val="0"/>
              </a:spcAft>
              <a:buClr>
                <a:srgbClr val="021828"/>
              </a:buClr>
              <a:buSzPts val="1000"/>
              <a:buFont typeface="Arial"/>
              <a:buChar char="•"/>
            </a:pPr>
            <a:r>
              <a:rPr b="1" i="0" lang="en" sz="1000" u="none" cap="none" strike="noStrike">
                <a:solidFill>
                  <a:srgbClr val="021828"/>
                </a:solidFill>
                <a:latin typeface="Arial"/>
                <a:ea typeface="Arial"/>
                <a:cs typeface="Arial"/>
                <a:sym typeface="Arial"/>
              </a:rPr>
              <a:t>Removing highly correlated features</a:t>
            </a:r>
            <a:endParaRPr sz="200"/>
          </a:p>
          <a:p>
            <a:pPr indent="-127000" lvl="1" marL="317500" marR="0" rtl="0" algn="just">
              <a:lnSpc>
                <a:spcPct val="140006"/>
              </a:lnSpc>
              <a:spcBef>
                <a:spcPts val="0"/>
              </a:spcBef>
              <a:spcAft>
                <a:spcPts val="0"/>
              </a:spcAft>
              <a:buClr>
                <a:srgbClr val="021828"/>
              </a:buClr>
              <a:buSzPts val="1000"/>
              <a:buFont typeface="Arial"/>
              <a:buChar char="•"/>
            </a:pPr>
            <a:r>
              <a:rPr b="1" i="0" lang="en" sz="1000" u="none" cap="none" strike="noStrike">
                <a:solidFill>
                  <a:srgbClr val="021828"/>
                </a:solidFill>
                <a:latin typeface="Arial"/>
                <a:ea typeface="Arial"/>
                <a:cs typeface="Arial"/>
                <a:sym typeface="Arial"/>
              </a:rPr>
              <a:t>Standardization of numerical features</a:t>
            </a:r>
            <a:endParaRPr sz="200"/>
          </a:p>
          <a:p>
            <a:pPr indent="0" lvl="0" marL="0" marR="0" rtl="0" algn="just">
              <a:lnSpc>
                <a:spcPct val="140006"/>
              </a:lnSpc>
              <a:spcBef>
                <a:spcPts val="0"/>
              </a:spcBef>
              <a:spcAft>
                <a:spcPts val="0"/>
              </a:spcAft>
              <a:buNone/>
            </a:pPr>
            <a:r>
              <a:t/>
            </a:r>
            <a:endParaRPr b="1" i="0" sz="1500" u="none" cap="none" strike="noStrike">
              <a:solidFill>
                <a:srgbClr val="021828"/>
              </a:solidFill>
              <a:latin typeface="Arial"/>
              <a:ea typeface="Arial"/>
              <a:cs typeface="Arial"/>
              <a:sym typeface="Arial"/>
            </a:endParaRPr>
          </a:p>
        </p:txBody>
      </p:sp>
      <p:sp>
        <p:nvSpPr>
          <p:cNvPr id="386" name="Google Shape;386;p36"/>
          <p:cNvSpPr txBox="1"/>
          <p:nvPr/>
        </p:nvSpPr>
        <p:spPr>
          <a:xfrm>
            <a:off x="155550" y="2330400"/>
            <a:ext cx="5140200" cy="2275800"/>
          </a:xfrm>
          <a:prstGeom prst="rect">
            <a:avLst/>
          </a:prstGeom>
          <a:noFill/>
          <a:ln>
            <a:noFill/>
          </a:ln>
        </p:spPr>
        <p:txBody>
          <a:bodyPr anchorCtr="0" anchor="t" bIns="91425" lIns="91425" spcFirstLastPara="1" rIns="91425" wrap="square" tIns="91425">
            <a:noAutofit/>
          </a:bodyPr>
          <a:lstStyle/>
          <a:p>
            <a:pPr indent="-292100" lvl="0" marL="457200" rtl="0" algn="just">
              <a:lnSpc>
                <a:spcPct val="140006"/>
              </a:lnSpc>
              <a:spcBef>
                <a:spcPts val="0"/>
              </a:spcBef>
              <a:spcAft>
                <a:spcPts val="0"/>
              </a:spcAft>
              <a:buClr>
                <a:srgbClr val="021828"/>
              </a:buClr>
              <a:buSzPts val="1000"/>
              <a:buChar char="-"/>
            </a:pPr>
            <a:r>
              <a:rPr b="1" lang="en" sz="1000">
                <a:solidFill>
                  <a:srgbClr val="021828"/>
                </a:solidFill>
              </a:rPr>
              <a:t>Nulls were handled and added in a separate unknown category. </a:t>
            </a:r>
            <a:br>
              <a:rPr b="1" lang="en" sz="1000">
                <a:solidFill>
                  <a:srgbClr val="021828"/>
                </a:solidFill>
              </a:rPr>
            </a:br>
            <a:r>
              <a:rPr b="1" lang="en" sz="1000">
                <a:solidFill>
                  <a:srgbClr val="021828"/>
                </a:solidFill>
              </a:rPr>
              <a:t>These null values aren’t evenly distributed across efs and ranked them as -1. </a:t>
            </a:r>
            <a:br>
              <a:rPr b="1" lang="en" sz="1000">
                <a:solidFill>
                  <a:srgbClr val="021828"/>
                </a:solidFill>
              </a:rPr>
            </a:br>
            <a:endParaRPr b="1" sz="1000">
              <a:solidFill>
                <a:srgbClr val="021828"/>
              </a:solidFill>
            </a:endParaRPr>
          </a:p>
          <a:p>
            <a:pPr indent="-292100" lvl="0" marL="457200" rtl="0" algn="just">
              <a:lnSpc>
                <a:spcPct val="140006"/>
              </a:lnSpc>
              <a:spcBef>
                <a:spcPts val="0"/>
              </a:spcBef>
              <a:spcAft>
                <a:spcPts val="0"/>
              </a:spcAft>
              <a:buClr>
                <a:srgbClr val="021828"/>
              </a:buClr>
              <a:buSzPts val="1000"/>
              <a:buChar char="-"/>
            </a:pPr>
            <a:r>
              <a:rPr b="1" lang="en" sz="1000">
                <a:solidFill>
                  <a:srgbClr val="021828"/>
                </a:solidFill>
              </a:rPr>
              <a:t>A predefined mapping strategy was used to convert our simpler categorical data into numerical data while handling missing values as -1 as well, and One hot encoding to provide binary (0-1) values for categorical features which had high cardinality (over 5 different values). </a:t>
            </a:r>
            <a:br>
              <a:rPr b="1" lang="en" sz="1000">
                <a:solidFill>
                  <a:srgbClr val="021828"/>
                </a:solidFill>
              </a:rPr>
            </a:br>
            <a:endParaRPr b="1" sz="1000">
              <a:solidFill>
                <a:srgbClr val="021828"/>
              </a:solidFill>
            </a:endParaRPr>
          </a:p>
          <a:p>
            <a:pPr indent="-292100" lvl="0" marL="457200" rtl="0" algn="just">
              <a:lnSpc>
                <a:spcPct val="140006"/>
              </a:lnSpc>
              <a:spcBef>
                <a:spcPts val="0"/>
              </a:spcBef>
              <a:spcAft>
                <a:spcPts val="0"/>
              </a:spcAft>
              <a:buClr>
                <a:srgbClr val="021828"/>
              </a:buClr>
              <a:buSzPts val="1000"/>
              <a:buChar char="-"/>
            </a:pPr>
            <a:r>
              <a:rPr b="1" lang="en" sz="1000">
                <a:solidFill>
                  <a:srgbClr val="021828"/>
                </a:solidFill>
              </a:rPr>
              <a:t>After conducting one hot encoding and ordinal encoding the total features were 132 and due to the lack of an SME, we decided to include all features into our models and backtrack them to find the most important features.</a:t>
            </a:r>
            <a:endParaRPr b="1" sz="1000">
              <a:solidFill>
                <a:srgbClr val="02182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grpSp>
        <p:nvGrpSpPr>
          <p:cNvPr id="391" name="Google Shape;391;p37"/>
          <p:cNvGrpSpPr/>
          <p:nvPr/>
        </p:nvGrpSpPr>
        <p:grpSpPr>
          <a:xfrm>
            <a:off x="-2080836" y="2571758"/>
            <a:ext cx="2825017" cy="1928605"/>
            <a:chOff x="0" y="-47625"/>
            <a:chExt cx="1488104" cy="1015911"/>
          </a:xfrm>
        </p:grpSpPr>
        <p:sp>
          <p:nvSpPr>
            <p:cNvPr id="392" name="Google Shape;392;p37"/>
            <p:cNvSpPr/>
            <p:nvPr/>
          </p:nvSpPr>
          <p:spPr>
            <a:xfrm>
              <a:off x="0" y="0"/>
              <a:ext cx="1488104" cy="968286"/>
            </a:xfrm>
            <a:custGeom>
              <a:rect b="b" l="l" r="r" t="t"/>
              <a:pathLst>
                <a:path extrusionOk="0" h="968286" w="1488104">
                  <a:moveTo>
                    <a:pt x="0" y="0"/>
                  </a:moveTo>
                  <a:lnTo>
                    <a:pt x="1488104" y="0"/>
                  </a:lnTo>
                  <a:lnTo>
                    <a:pt x="1488104" y="968286"/>
                  </a:lnTo>
                  <a:lnTo>
                    <a:pt x="0" y="968286"/>
                  </a:lnTo>
                  <a:close/>
                </a:path>
              </a:pathLst>
            </a:custGeom>
            <a:solidFill>
              <a:srgbClr val="E1EDFC"/>
            </a:solidFill>
            <a:ln>
              <a:noFill/>
            </a:ln>
          </p:spPr>
        </p:sp>
        <p:sp>
          <p:nvSpPr>
            <p:cNvPr id="393" name="Google Shape;393;p37"/>
            <p:cNvSpPr txBox="1"/>
            <p:nvPr/>
          </p:nvSpPr>
          <p:spPr>
            <a:xfrm>
              <a:off x="0" y="-47625"/>
              <a:ext cx="1488104" cy="1015911"/>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94" name="Google Shape;394;p37"/>
          <p:cNvSpPr/>
          <p:nvPr/>
        </p:nvSpPr>
        <p:spPr>
          <a:xfrm>
            <a:off x="7677862" y="1036919"/>
            <a:ext cx="1845934" cy="1845934"/>
          </a:xfrm>
          <a:custGeom>
            <a:rect b="b" l="l" r="r" t="t"/>
            <a:pathLst>
              <a:path extrusionOk="0" h="3691868" w="3691868">
                <a:moveTo>
                  <a:pt x="0" y="0"/>
                </a:moveTo>
                <a:lnTo>
                  <a:pt x="3691868" y="0"/>
                </a:lnTo>
                <a:lnTo>
                  <a:pt x="3691868" y="3691867"/>
                </a:lnTo>
                <a:lnTo>
                  <a:pt x="0" y="3691867"/>
                </a:lnTo>
                <a:lnTo>
                  <a:pt x="0" y="0"/>
                </a:lnTo>
                <a:close/>
              </a:path>
            </a:pathLst>
          </a:custGeom>
          <a:blipFill rotWithShape="1">
            <a:blip r:embed="rId3">
              <a:alphaModFix/>
            </a:blip>
            <a:stretch>
              <a:fillRect b="0" l="0" r="0" t="0"/>
            </a:stretch>
          </a:blipFill>
          <a:ln>
            <a:noFill/>
          </a:ln>
        </p:spPr>
      </p:sp>
      <p:sp>
        <p:nvSpPr>
          <p:cNvPr id="395" name="Google Shape;395;p37"/>
          <p:cNvSpPr/>
          <p:nvPr/>
        </p:nvSpPr>
        <p:spPr>
          <a:xfrm>
            <a:off x="197731" y="4441878"/>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396" name="Google Shape;396;p37"/>
          <p:cNvSpPr/>
          <p:nvPr/>
        </p:nvSpPr>
        <p:spPr>
          <a:xfrm>
            <a:off x="7158497" y="0"/>
            <a:ext cx="613230" cy="189544"/>
          </a:xfrm>
          <a:custGeom>
            <a:rect b="b" l="l" r="r" t="t"/>
            <a:pathLst>
              <a:path extrusionOk="0" h="379088" w="1226460">
                <a:moveTo>
                  <a:pt x="0" y="0"/>
                </a:moveTo>
                <a:lnTo>
                  <a:pt x="1226460" y="0"/>
                </a:lnTo>
                <a:lnTo>
                  <a:pt x="1226460" y="379088"/>
                </a:lnTo>
                <a:lnTo>
                  <a:pt x="0" y="379088"/>
                </a:lnTo>
                <a:lnTo>
                  <a:pt x="0" y="0"/>
                </a:lnTo>
                <a:close/>
              </a:path>
            </a:pathLst>
          </a:custGeom>
          <a:blipFill rotWithShape="1">
            <a:blip r:embed="rId4">
              <a:alphaModFix/>
            </a:blip>
            <a:stretch>
              <a:fillRect b="0" l="0" r="0" t="0"/>
            </a:stretch>
          </a:blipFill>
          <a:ln>
            <a:noFill/>
          </a:ln>
        </p:spPr>
      </p:sp>
      <p:sp>
        <p:nvSpPr>
          <p:cNvPr id="397" name="Google Shape;397;p37"/>
          <p:cNvSpPr txBox="1"/>
          <p:nvPr/>
        </p:nvSpPr>
        <p:spPr>
          <a:xfrm>
            <a:off x="937686" y="351583"/>
            <a:ext cx="7060872" cy="761378"/>
          </a:xfrm>
          <a:prstGeom prst="rect">
            <a:avLst/>
          </a:prstGeom>
          <a:noFill/>
          <a:ln>
            <a:noFill/>
          </a:ln>
        </p:spPr>
        <p:txBody>
          <a:bodyPr anchorCtr="0" anchor="t" bIns="0" lIns="0" spcFirstLastPara="1" rIns="0" wrap="square" tIns="0">
            <a:spAutoFit/>
          </a:bodyPr>
          <a:lstStyle/>
          <a:p>
            <a:pPr indent="0" lvl="0" marL="0" marR="0" rtl="0" algn="l">
              <a:lnSpc>
                <a:spcPct val="127004"/>
              </a:lnSpc>
              <a:spcBef>
                <a:spcPts val="0"/>
              </a:spcBef>
              <a:spcAft>
                <a:spcPts val="0"/>
              </a:spcAft>
              <a:buNone/>
            </a:pPr>
            <a:r>
              <a:rPr b="1" i="0" lang="en" sz="2700" u="none" cap="none" strike="noStrike">
                <a:solidFill>
                  <a:srgbClr val="0E2F5F"/>
                </a:solidFill>
                <a:latin typeface="Arial"/>
                <a:ea typeface="Arial"/>
                <a:cs typeface="Arial"/>
                <a:sym typeface="Arial"/>
              </a:rPr>
              <a:t>Models : </a:t>
            </a:r>
            <a:endParaRPr sz="700"/>
          </a:p>
          <a:p>
            <a:pPr indent="0" lvl="0" marL="0" marR="0" rtl="0" algn="l">
              <a:lnSpc>
                <a:spcPct val="127007"/>
              </a:lnSpc>
              <a:spcBef>
                <a:spcPts val="0"/>
              </a:spcBef>
              <a:spcAft>
                <a:spcPts val="0"/>
              </a:spcAft>
              <a:buNone/>
            </a:pPr>
            <a:r>
              <a:rPr b="1" i="0" lang="en" sz="1700" u="none" cap="none" strike="noStrike">
                <a:solidFill>
                  <a:srgbClr val="0E2F5F"/>
                </a:solidFill>
                <a:latin typeface="Arial"/>
                <a:ea typeface="Arial"/>
                <a:cs typeface="Arial"/>
                <a:sym typeface="Arial"/>
              </a:rPr>
              <a:t>Kaplan Meier Curve, CoxPH, XGBoost, DeepSurv</a:t>
            </a:r>
            <a:endParaRPr sz="700"/>
          </a:p>
        </p:txBody>
      </p:sp>
      <p:sp>
        <p:nvSpPr>
          <p:cNvPr id="398" name="Google Shape;398;p37"/>
          <p:cNvSpPr txBox="1"/>
          <p:nvPr/>
        </p:nvSpPr>
        <p:spPr>
          <a:xfrm>
            <a:off x="1036944" y="1376750"/>
            <a:ext cx="6019800" cy="3768900"/>
          </a:xfrm>
          <a:prstGeom prst="rect">
            <a:avLst/>
          </a:prstGeom>
          <a:noFill/>
          <a:ln>
            <a:noFill/>
          </a:ln>
        </p:spPr>
        <p:txBody>
          <a:bodyPr anchorCtr="0" anchor="t" bIns="0" lIns="0" spcFirstLastPara="1" rIns="0" wrap="square" tIns="0">
            <a:spAutoFit/>
          </a:bodyPr>
          <a:lstStyle/>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Calculated the Kaplan Meier Curve to understand our survival time</a:t>
            </a:r>
            <a:endParaRPr sz="500"/>
          </a:p>
          <a:p>
            <a:pPr indent="-133350" lvl="1" marL="279400" marR="0" rtl="0" algn="just">
              <a:lnSpc>
                <a:spcPct val="140038"/>
              </a:lnSpc>
              <a:spcBef>
                <a:spcPts val="0"/>
              </a:spcBef>
              <a:spcAft>
                <a:spcPts val="0"/>
              </a:spcAft>
              <a:buClr>
                <a:srgbClr val="021828"/>
              </a:buClr>
              <a:buSzPts val="1300"/>
              <a:buFont typeface="Arial"/>
              <a:buChar char="•"/>
            </a:pPr>
            <a:r>
              <a:rPr b="1" lang="en" sz="1100">
                <a:solidFill>
                  <a:srgbClr val="021828"/>
                </a:solidFill>
              </a:rPr>
              <a:t>Con</a:t>
            </a:r>
            <a:r>
              <a:rPr b="1" i="0" lang="en" sz="1100" u="none" cap="none" strike="noStrike">
                <a:solidFill>
                  <a:srgbClr val="021828"/>
                </a:solidFill>
                <a:latin typeface="Arial"/>
                <a:ea typeface="Arial"/>
                <a:cs typeface="Arial"/>
                <a:sym typeface="Arial"/>
              </a:rPr>
              <a:t>verted predicted survival to risk score</a:t>
            </a:r>
            <a:endParaRPr sz="500"/>
          </a:p>
          <a:p>
            <a:pPr indent="0" lvl="0" marL="0" marR="0" rtl="0" algn="just">
              <a:lnSpc>
                <a:spcPct val="140038"/>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0" lvl="0" marL="0" marR="0" rtl="0" algn="just">
              <a:lnSpc>
                <a:spcPct val="140038"/>
              </a:lnSpc>
              <a:spcBef>
                <a:spcPts val="0"/>
              </a:spcBef>
              <a:spcAft>
                <a:spcPts val="0"/>
              </a:spcAft>
              <a:buNone/>
            </a:pPr>
            <a:r>
              <a:rPr b="1" i="0" lang="en" sz="1100" u="none" cap="none" strike="noStrike">
                <a:solidFill>
                  <a:srgbClr val="021828"/>
                </a:solidFill>
                <a:latin typeface="Arial"/>
                <a:ea typeface="Arial"/>
                <a:cs typeface="Arial"/>
                <a:sym typeface="Arial"/>
              </a:rPr>
              <a:t>Used  different models and received a Concordance index of ~0.67:</a:t>
            </a:r>
            <a:endParaRPr sz="500"/>
          </a:p>
          <a:p>
            <a:pPr indent="0" lvl="0" marL="0" marR="0" rtl="0" algn="just">
              <a:lnSpc>
                <a:spcPct val="140038"/>
              </a:lnSpc>
              <a:spcBef>
                <a:spcPts val="0"/>
              </a:spcBef>
              <a:spcAft>
                <a:spcPts val="0"/>
              </a:spcAft>
              <a:buNone/>
            </a:pPr>
            <a:r>
              <a:rPr b="1" i="0" lang="en" sz="1100" u="none" cap="none" strike="noStrike">
                <a:solidFill>
                  <a:srgbClr val="021828"/>
                </a:solidFill>
                <a:latin typeface="Arial"/>
                <a:ea typeface="Arial"/>
                <a:cs typeface="Arial"/>
                <a:sym typeface="Arial"/>
              </a:rPr>
              <a:t>CoxPH </a:t>
            </a:r>
            <a:endParaRPr sz="500"/>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L1 = 0.01</a:t>
            </a:r>
            <a:endParaRPr sz="500"/>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Removed columns displaying high collinearity</a:t>
            </a:r>
            <a:endParaRPr sz="500"/>
          </a:p>
          <a:p>
            <a:pPr indent="0" lvl="0" marL="0" marR="0" rtl="0" algn="just">
              <a:lnSpc>
                <a:spcPct val="140038"/>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0" lvl="0" marL="0" marR="0" rtl="0" algn="just">
              <a:lnSpc>
                <a:spcPct val="140038"/>
              </a:lnSpc>
              <a:spcBef>
                <a:spcPts val="0"/>
              </a:spcBef>
              <a:spcAft>
                <a:spcPts val="0"/>
              </a:spcAft>
              <a:buNone/>
            </a:pPr>
            <a:r>
              <a:rPr b="1" i="0" lang="en" sz="1100" u="none" cap="none" strike="noStrike">
                <a:solidFill>
                  <a:srgbClr val="021828"/>
                </a:solidFill>
                <a:latin typeface="Arial"/>
                <a:ea typeface="Arial"/>
                <a:cs typeface="Arial"/>
                <a:sym typeface="Arial"/>
              </a:rPr>
              <a:t>XGboost</a:t>
            </a:r>
            <a:endParaRPr sz="500"/>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Added AFT bounds for train/test data</a:t>
            </a:r>
            <a:endParaRPr sz="500"/>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Used objective = survival:aft and evaluation metric = aft-nloglik</a:t>
            </a:r>
            <a:endParaRPr sz="500"/>
          </a:p>
          <a:p>
            <a:pPr indent="0" lvl="0" marL="0" marR="0" rtl="0" algn="just">
              <a:lnSpc>
                <a:spcPct val="140038"/>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0" lvl="0" marL="0" marR="0" rtl="0" algn="just">
              <a:lnSpc>
                <a:spcPct val="140038"/>
              </a:lnSpc>
              <a:spcBef>
                <a:spcPts val="0"/>
              </a:spcBef>
              <a:spcAft>
                <a:spcPts val="0"/>
              </a:spcAft>
              <a:buNone/>
            </a:pPr>
            <a:r>
              <a:rPr b="1" i="0" lang="en" sz="1100" u="none" cap="none" strike="noStrike">
                <a:solidFill>
                  <a:srgbClr val="021828"/>
                </a:solidFill>
                <a:latin typeface="Arial"/>
                <a:ea typeface="Arial"/>
                <a:cs typeface="Arial"/>
                <a:sym typeface="Arial"/>
              </a:rPr>
              <a:t>DeepSurv</a:t>
            </a:r>
            <a:endParaRPr sz="500"/>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Imported top 30 features from xgboost</a:t>
            </a:r>
            <a:endParaRPr sz="500"/>
          </a:p>
          <a:p>
            <a:pPr indent="-120650" lvl="1" marL="279400" marR="0" rtl="0" algn="just">
              <a:lnSpc>
                <a:spcPct val="140038"/>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Used Adam optimizer with learning rate = 0.005 </a:t>
            </a:r>
            <a:endParaRPr sz="500"/>
          </a:p>
          <a:p>
            <a:pPr indent="0" lvl="0" marL="0" marR="0" rtl="0" algn="just">
              <a:lnSpc>
                <a:spcPct val="114312"/>
              </a:lnSpc>
              <a:spcBef>
                <a:spcPts val="0"/>
              </a:spcBef>
              <a:spcAft>
                <a:spcPts val="0"/>
              </a:spcAft>
              <a:buNone/>
            </a:pPr>
            <a:r>
              <a:t/>
            </a:r>
            <a:endParaRPr b="1" i="0" sz="1100" u="none" cap="none" strike="noStrike">
              <a:solidFill>
                <a:srgbClr val="021828"/>
              </a:solidFill>
              <a:latin typeface="Arial"/>
              <a:ea typeface="Arial"/>
              <a:cs typeface="Arial"/>
              <a:sym typeface="Arial"/>
            </a:endParaRPr>
          </a:p>
        </p:txBody>
      </p:sp>
      <p:cxnSp>
        <p:nvCxnSpPr>
          <p:cNvPr id="399" name="Google Shape;399;p37"/>
          <p:cNvCxnSpPr/>
          <p:nvPr/>
        </p:nvCxnSpPr>
        <p:spPr>
          <a:xfrm flipH="1" rot="10800000">
            <a:off x="197726" y="1136108"/>
            <a:ext cx="6342601" cy="26387"/>
          </a:xfrm>
          <a:prstGeom prst="straightConnector1">
            <a:avLst/>
          </a:prstGeom>
          <a:noFill/>
          <a:ln cap="flat" cmpd="sng" w="38100">
            <a:solidFill>
              <a:srgbClr val="5188CC"/>
            </a:solidFill>
            <a:prstDash val="solid"/>
            <a:round/>
            <a:headEnd len="sm" w="sm" type="none"/>
            <a:tailEnd len="sm" w="sm" type="none"/>
          </a:ln>
        </p:spPr>
      </p:cxnSp>
      <p:grpSp>
        <p:nvGrpSpPr>
          <p:cNvPr id="400" name="Google Shape;400;p37"/>
          <p:cNvGrpSpPr/>
          <p:nvPr/>
        </p:nvGrpSpPr>
        <p:grpSpPr>
          <a:xfrm>
            <a:off x="514350" y="456498"/>
            <a:ext cx="334639" cy="334639"/>
            <a:chOff x="0" y="0"/>
            <a:chExt cx="812800" cy="812800"/>
          </a:xfrm>
        </p:grpSpPr>
        <p:sp>
          <p:nvSpPr>
            <p:cNvPr id="401" name="Google Shape;401;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2" name="Google Shape;402;p37"/>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03" name="Google Shape;403;p37"/>
          <p:cNvSpPr/>
          <p:nvPr/>
        </p:nvSpPr>
        <p:spPr>
          <a:xfrm rot="5400000">
            <a:off x="619160" y="559747"/>
            <a:ext cx="125019" cy="125018"/>
          </a:xfrm>
          <a:custGeom>
            <a:rect b="b" l="l" r="r" t="t"/>
            <a:pathLst>
              <a:path extrusionOk="0" h="250037" w="250037">
                <a:moveTo>
                  <a:pt x="0" y="0"/>
                </a:moveTo>
                <a:lnTo>
                  <a:pt x="250037" y="0"/>
                </a:lnTo>
                <a:lnTo>
                  <a:pt x="250037" y="250037"/>
                </a:lnTo>
                <a:lnTo>
                  <a:pt x="0" y="250037"/>
                </a:lnTo>
                <a:lnTo>
                  <a:pt x="0" y="0"/>
                </a:lnTo>
                <a:close/>
              </a:path>
            </a:pathLst>
          </a:custGeom>
          <a:blipFill rotWithShape="1">
            <a:blip r:embed="rId5">
              <a:alphaModFix/>
            </a:blip>
            <a:stretch>
              <a:fillRect b="0" l="0" r="0" t="0"/>
            </a:stretch>
          </a:blipFill>
          <a:ln>
            <a:noFill/>
          </a:ln>
        </p:spPr>
      </p:sp>
      <p:pic>
        <p:nvPicPr>
          <p:cNvPr id="404" name="Google Shape;404;p37"/>
          <p:cNvPicPr preferRelativeResize="0"/>
          <p:nvPr/>
        </p:nvPicPr>
        <p:blipFill rotWithShape="1">
          <a:blip r:embed="rId6">
            <a:alphaModFix/>
          </a:blip>
          <a:srcRect b="0" l="0" r="10370" t="0"/>
          <a:stretch/>
        </p:blipFill>
        <p:spPr>
          <a:xfrm>
            <a:off x="5886388" y="2153375"/>
            <a:ext cx="2961901" cy="2765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cxnSp>
        <p:nvCxnSpPr>
          <p:cNvPr id="409" name="Google Shape;409;p38"/>
          <p:cNvCxnSpPr/>
          <p:nvPr/>
        </p:nvCxnSpPr>
        <p:spPr>
          <a:xfrm>
            <a:off x="5674119" y="1257682"/>
            <a:ext cx="3340648" cy="0"/>
          </a:xfrm>
          <a:prstGeom prst="straightConnector1">
            <a:avLst/>
          </a:prstGeom>
          <a:noFill/>
          <a:ln cap="flat" cmpd="sng" w="38100">
            <a:solidFill>
              <a:srgbClr val="5188CC"/>
            </a:solidFill>
            <a:prstDash val="solid"/>
            <a:round/>
            <a:headEnd len="sm" w="sm" type="none"/>
            <a:tailEnd len="sm" w="sm" type="none"/>
          </a:ln>
        </p:spPr>
      </p:cxnSp>
      <p:grpSp>
        <p:nvGrpSpPr>
          <p:cNvPr id="410" name="Google Shape;410;p38"/>
          <p:cNvGrpSpPr/>
          <p:nvPr/>
        </p:nvGrpSpPr>
        <p:grpSpPr>
          <a:xfrm>
            <a:off x="5963952" y="689681"/>
            <a:ext cx="334639" cy="334639"/>
            <a:chOff x="0" y="0"/>
            <a:chExt cx="812800" cy="812800"/>
          </a:xfrm>
        </p:grpSpPr>
        <p:sp>
          <p:nvSpPr>
            <p:cNvPr id="411" name="Google Shape;411;p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2" name="Google Shape;412;p38"/>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13" name="Google Shape;413;p38"/>
          <p:cNvGrpSpPr/>
          <p:nvPr/>
        </p:nvGrpSpPr>
        <p:grpSpPr>
          <a:xfrm>
            <a:off x="183531" y="2192769"/>
            <a:ext cx="4082733" cy="2950731"/>
            <a:chOff x="0" y="-47625"/>
            <a:chExt cx="2150575" cy="1554295"/>
          </a:xfrm>
        </p:grpSpPr>
        <p:sp>
          <p:nvSpPr>
            <p:cNvPr id="414" name="Google Shape;414;p38"/>
            <p:cNvSpPr/>
            <p:nvPr/>
          </p:nvSpPr>
          <p:spPr>
            <a:xfrm>
              <a:off x="0" y="0"/>
              <a:ext cx="2150575" cy="1506670"/>
            </a:xfrm>
            <a:custGeom>
              <a:rect b="b" l="l" r="r" t="t"/>
              <a:pathLst>
                <a:path extrusionOk="0" h="1506670" w="2150575">
                  <a:moveTo>
                    <a:pt x="55940" y="0"/>
                  </a:moveTo>
                  <a:lnTo>
                    <a:pt x="2094636" y="0"/>
                  </a:lnTo>
                  <a:cubicBezTo>
                    <a:pt x="2125530" y="0"/>
                    <a:pt x="2150575" y="25045"/>
                    <a:pt x="2150575" y="55940"/>
                  </a:cubicBezTo>
                  <a:lnTo>
                    <a:pt x="2150575" y="1450730"/>
                  </a:lnTo>
                  <a:cubicBezTo>
                    <a:pt x="2150575" y="1465566"/>
                    <a:pt x="2144682" y="1479795"/>
                    <a:pt x="2134191" y="1490285"/>
                  </a:cubicBezTo>
                  <a:cubicBezTo>
                    <a:pt x="2123700" y="1500776"/>
                    <a:pt x="2109472" y="1506670"/>
                    <a:pt x="2094636" y="1506670"/>
                  </a:cubicBezTo>
                  <a:lnTo>
                    <a:pt x="55940" y="1506670"/>
                  </a:lnTo>
                  <a:cubicBezTo>
                    <a:pt x="41104" y="1506670"/>
                    <a:pt x="26875" y="1500776"/>
                    <a:pt x="16384" y="1490285"/>
                  </a:cubicBezTo>
                  <a:cubicBezTo>
                    <a:pt x="5894" y="1479795"/>
                    <a:pt x="0" y="1465566"/>
                    <a:pt x="0" y="1450730"/>
                  </a:cubicBezTo>
                  <a:lnTo>
                    <a:pt x="0" y="55940"/>
                  </a:lnTo>
                  <a:cubicBezTo>
                    <a:pt x="0" y="41104"/>
                    <a:pt x="5894" y="26875"/>
                    <a:pt x="16384" y="16384"/>
                  </a:cubicBezTo>
                  <a:cubicBezTo>
                    <a:pt x="26875" y="5894"/>
                    <a:pt x="41104" y="0"/>
                    <a:pt x="55940" y="0"/>
                  </a:cubicBezTo>
                  <a:close/>
                </a:path>
              </a:pathLst>
            </a:custGeom>
            <a:solidFill>
              <a:srgbClr val="E1EDF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5" name="Google Shape;415;p38"/>
            <p:cNvSpPr txBox="1"/>
            <p:nvPr/>
          </p:nvSpPr>
          <p:spPr>
            <a:xfrm>
              <a:off x="0" y="-47625"/>
              <a:ext cx="2150575" cy="155429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16" name="Google Shape;416;p38"/>
          <p:cNvSpPr/>
          <p:nvPr/>
        </p:nvSpPr>
        <p:spPr>
          <a:xfrm rot="5400000">
            <a:off x="6068762" y="792930"/>
            <a:ext cx="125018" cy="125018"/>
          </a:xfrm>
          <a:custGeom>
            <a:rect b="b" l="l" r="r" t="t"/>
            <a:pathLst>
              <a:path extrusionOk="0" h="250037" w="250037">
                <a:moveTo>
                  <a:pt x="0" y="0"/>
                </a:moveTo>
                <a:lnTo>
                  <a:pt x="250037" y="0"/>
                </a:lnTo>
                <a:lnTo>
                  <a:pt x="250037" y="250037"/>
                </a:lnTo>
                <a:lnTo>
                  <a:pt x="0" y="250037"/>
                </a:lnTo>
                <a:lnTo>
                  <a:pt x="0" y="0"/>
                </a:lnTo>
                <a:close/>
              </a:path>
            </a:pathLst>
          </a:custGeom>
          <a:blipFill rotWithShape="1">
            <a:blip r:embed="rId3">
              <a:alphaModFix/>
            </a:blip>
            <a:stretch>
              <a:fillRect b="0" l="0" r="0" t="0"/>
            </a:stretch>
          </a:blipFill>
          <a:ln>
            <a:noFill/>
          </a:ln>
        </p:spPr>
      </p:sp>
      <p:sp>
        <p:nvSpPr>
          <p:cNvPr id="417" name="Google Shape;417;p38"/>
          <p:cNvSpPr/>
          <p:nvPr/>
        </p:nvSpPr>
        <p:spPr>
          <a:xfrm>
            <a:off x="2022210" y="-924107"/>
            <a:ext cx="1845934" cy="1845934"/>
          </a:xfrm>
          <a:custGeom>
            <a:rect b="b" l="l" r="r" t="t"/>
            <a:pathLst>
              <a:path extrusionOk="0" h="3691868" w="3691868">
                <a:moveTo>
                  <a:pt x="0" y="0"/>
                </a:moveTo>
                <a:lnTo>
                  <a:pt x="3691867" y="0"/>
                </a:lnTo>
                <a:lnTo>
                  <a:pt x="3691867" y="3691868"/>
                </a:lnTo>
                <a:lnTo>
                  <a:pt x="0" y="3691868"/>
                </a:lnTo>
                <a:lnTo>
                  <a:pt x="0" y="0"/>
                </a:lnTo>
                <a:close/>
              </a:path>
            </a:pathLst>
          </a:custGeom>
          <a:blipFill rotWithShape="1">
            <a:blip r:embed="rId4">
              <a:alphaModFix/>
            </a:blip>
            <a:stretch>
              <a:fillRect b="0" l="0" r="0" t="0"/>
            </a:stretch>
          </a:blipFill>
          <a:ln>
            <a:noFill/>
          </a:ln>
        </p:spPr>
      </p:sp>
      <p:sp>
        <p:nvSpPr>
          <p:cNvPr id="418" name="Google Shape;418;p38"/>
          <p:cNvSpPr/>
          <p:nvPr/>
        </p:nvSpPr>
        <p:spPr>
          <a:xfrm>
            <a:off x="1698472" y="514350"/>
            <a:ext cx="323738" cy="323739"/>
          </a:xfrm>
          <a:custGeom>
            <a:rect b="b" l="l" r="r" t="t"/>
            <a:pathLst>
              <a:path extrusionOk="0" h="647477" w="647477">
                <a:moveTo>
                  <a:pt x="0" y="0"/>
                </a:moveTo>
                <a:lnTo>
                  <a:pt x="647477" y="0"/>
                </a:lnTo>
                <a:lnTo>
                  <a:pt x="647477" y="647477"/>
                </a:lnTo>
                <a:lnTo>
                  <a:pt x="0" y="647477"/>
                </a:lnTo>
                <a:lnTo>
                  <a:pt x="0" y="0"/>
                </a:lnTo>
                <a:close/>
              </a:path>
            </a:pathLst>
          </a:custGeom>
          <a:blipFill rotWithShape="1">
            <a:blip r:embed="rId5">
              <a:alphaModFix/>
            </a:blip>
            <a:stretch>
              <a:fillRect b="0" l="0" r="0" t="0"/>
            </a:stretch>
          </a:blipFill>
          <a:ln>
            <a:noFill/>
          </a:ln>
        </p:spPr>
      </p:sp>
      <p:sp>
        <p:nvSpPr>
          <p:cNvPr id="419" name="Google Shape;419;p38"/>
          <p:cNvSpPr/>
          <p:nvPr/>
        </p:nvSpPr>
        <p:spPr>
          <a:xfrm>
            <a:off x="197378" y="1010858"/>
            <a:ext cx="4068885" cy="2056799"/>
          </a:xfrm>
          <a:custGeom>
            <a:rect b="b" l="l" r="r" t="t"/>
            <a:pathLst>
              <a:path extrusionOk="0" h="4113598" w="8137770">
                <a:moveTo>
                  <a:pt x="0" y="0"/>
                </a:moveTo>
                <a:lnTo>
                  <a:pt x="8137770" y="0"/>
                </a:lnTo>
                <a:lnTo>
                  <a:pt x="8137770" y="4113598"/>
                </a:lnTo>
                <a:lnTo>
                  <a:pt x="0" y="4113598"/>
                </a:lnTo>
                <a:lnTo>
                  <a:pt x="0" y="0"/>
                </a:lnTo>
                <a:close/>
              </a:path>
            </a:pathLst>
          </a:custGeom>
          <a:blipFill rotWithShape="1">
            <a:blip r:embed="rId6">
              <a:alphaModFix/>
            </a:blip>
            <a:stretch>
              <a:fillRect b="0" l="0" r="0" t="0"/>
            </a:stretch>
          </a:blipFill>
          <a:ln>
            <a:noFill/>
          </a:ln>
        </p:spPr>
      </p:sp>
      <p:sp>
        <p:nvSpPr>
          <p:cNvPr id="420" name="Google Shape;420;p38"/>
          <p:cNvSpPr/>
          <p:nvPr/>
        </p:nvSpPr>
        <p:spPr>
          <a:xfrm>
            <a:off x="4572000" y="1609160"/>
            <a:ext cx="4057650" cy="2104181"/>
          </a:xfrm>
          <a:custGeom>
            <a:rect b="b" l="l" r="r" t="t"/>
            <a:pathLst>
              <a:path extrusionOk="0" h="4208363" w="8115300">
                <a:moveTo>
                  <a:pt x="0" y="0"/>
                </a:moveTo>
                <a:lnTo>
                  <a:pt x="8115300" y="0"/>
                </a:lnTo>
                <a:lnTo>
                  <a:pt x="8115300" y="4208363"/>
                </a:lnTo>
                <a:lnTo>
                  <a:pt x="0" y="4208363"/>
                </a:lnTo>
                <a:lnTo>
                  <a:pt x="0" y="0"/>
                </a:lnTo>
                <a:close/>
              </a:path>
            </a:pathLst>
          </a:custGeom>
          <a:blipFill rotWithShape="1">
            <a:blip r:embed="rId7">
              <a:alphaModFix/>
            </a:blip>
            <a:stretch>
              <a:fillRect b="0" l="0" r="0" t="0"/>
            </a:stretch>
          </a:blipFill>
          <a:ln>
            <a:noFill/>
          </a:ln>
        </p:spPr>
      </p:sp>
      <p:sp>
        <p:nvSpPr>
          <p:cNvPr id="421" name="Google Shape;421;p38"/>
          <p:cNvSpPr txBox="1"/>
          <p:nvPr/>
        </p:nvSpPr>
        <p:spPr>
          <a:xfrm>
            <a:off x="6068761" y="613481"/>
            <a:ext cx="2555429" cy="891286"/>
          </a:xfrm>
          <a:prstGeom prst="rect">
            <a:avLst/>
          </a:prstGeom>
          <a:noFill/>
          <a:ln>
            <a:noFill/>
          </a:ln>
        </p:spPr>
        <p:txBody>
          <a:bodyPr anchorCtr="0" anchor="t" bIns="0" lIns="0" spcFirstLastPara="1" rIns="0" wrap="square" tIns="0">
            <a:spAutoFit/>
          </a:bodyPr>
          <a:lstStyle/>
          <a:p>
            <a:pPr indent="0" lvl="0" marL="0" marR="0" rtl="0" algn="r">
              <a:lnSpc>
                <a:spcPct val="127005"/>
              </a:lnSpc>
              <a:spcBef>
                <a:spcPts val="0"/>
              </a:spcBef>
              <a:spcAft>
                <a:spcPts val="0"/>
              </a:spcAft>
              <a:buNone/>
            </a:pPr>
            <a:r>
              <a:rPr b="1" i="0" lang="en" sz="2600" u="none" cap="none" strike="noStrike">
                <a:solidFill>
                  <a:srgbClr val="0E2F5F"/>
                </a:solidFill>
                <a:latin typeface="Arial"/>
                <a:ea typeface="Arial"/>
                <a:cs typeface="Arial"/>
                <a:sym typeface="Arial"/>
              </a:rPr>
              <a:t>Deep Models</a:t>
            </a:r>
            <a:endParaRPr sz="700"/>
          </a:p>
          <a:p>
            <a:pPr indent="0" lvl="0" marL="0" marR="0" rtl="0" algn="r">
              <a:lnSpc>
                <a:spcPct val="127005"/>
              </a:lnSpc>
              <a:spcBef>
                <a:spcPts val="0"/>
              </a:spcBef>
              <a:spcAft>
                <a:spcPts val="0"/>
              </a:spcAft>
              <a:buNone/>
            </a:pPr>
            <a:r>
              <a:t/>
            </a:r>
            <a:endParaRPr b="1" i="0" sz="2600" u="none" cap="none" strike="noStrike">
              <a:solidFill>
                <a:srgbClr val="0E2F5F"/>
              </a:solidFill>
              <a:latin typeface="Arial"/>
              <a:ea typeface="Arial"/>
              <a:cs typeface="Arial"/>
              <a:sym typeface="Arial"/>
            </a:endParaRPr>
          </a:p>
        </p:txBody>
      </p:sp>
      <p:sp>
        <p:nvSpPr>
          <p:cNvPr id="422" name="Google Shape;422;p38"/>
          <p:cNvSpPr txBox="1"/>
          <p:nvPr/>
        </p:nvSpPr>
        <p:spPr>
          <a:xfrm>
            <a:off x="309043" y="3156677"/>
            <a:ext cx="4128300" cy="2601000"/>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None/>
            </a:pPr>
            <a:r>
              <a:rPr b="1" i="0" lang="en" sz="1300" u="sng" cap="none" strike="noStrike">
                <a:solidFill>
                  <a:srgbClr val="021828"/>
                </a:solidFill>
                <a:latin typeface="Arial"/>
                <a:ea typeface="Arial"/>
                <a:cs typeface="Arial"/>
                <a:sym typeface="Arial"/>
              </a:rPr>
              <a:t>DeepSurv</a:t>
            </a:r>
            <a:endParaRPr sz="700"/>
          </a:p>
          <a:p>
            <a:pPr indent="0" lvl="0" marL="0" marR="0" rtl="0" algn="just">
              <a:lnSpc>
                <a:spcPct val="140008"/>
              </a:lnSpc>
              <a:spcBef>
                <a:spcPts val="0"/>
              </a:spcBef>
              <a:spcAft>
                <a:spcPts val="0"/>
              </a:spcAft>
              <a:buNone/>
            </a:pPr>
            <a:r>
              <a:rPr b="0" i="0" lang="en" sz="1200" u="none" cap="none" strike="noStrike">
                <a:solidFill>
                  <a:srgbClr val="021828"/>
                </a:solidFill>
                <a:latin typeface="Arial"/>
                <a:ea typeface="Arial"/>
                <a:cs typeface="Arial"/>
                <a:sym typeface="Arial"/>
              </a:rPr>
              <a:t>Adjustments (from 63% to 66%)</a:t>
            </a:r>
            <a:endParaRPr sz="1200">
              <a:solidFill>
                <a:srgbClr val="021828"/>
              </a:solidFill>
            </a:endParaRPr>
          </a:p>
          <a:p>
            <a:pPr indent="-127000" lvl="1" marL="254000" marR="0" rtl="0" algn="just">
              <a:lnSpc>
                <a:spcPct val="140008"/>
              </a:lnSpc>
              <a:spcBef>
                <a:spcPts val="0"/>
              </a:spcBef>
              <a:spcAft>
                <a:spcPts val="0"/>
              </a:spcAft>
              <a:buClr>
                <a:srgbClr val="021828"/>
              </a:buClr>
              <a:buSzPts val="1200"/>
              <a:buFont typeface="Arial"/>
              <a:buChar char="•"/>
            </a:pPr>
            <a:r>
              <a:rPr b="0" i="0" lang="en" sz="1200" u="none" cap="none" strike="noStrike">
                <a:solidFill>
                  <a:srgbClr val="021828"/>
                </a:solidFill>
                <a:latin typeface="Arial"/>
                <a:ea typeface="Arial"/>
                <a:cs typeface="Arial"/>
                <a:sym typeface="Arial"/>
              </a:rPr>
              <a:t>Relu and Silu work better than leakyrelu </a:t>
            </a:r>
            <a:endParaRPr sz="700"/>
          </a:p>
          <a:p>
            <a:pPr indent="-127000" lvl="1" marL="254000" marR="0" rtl="0" algn="just">
              <a:lnSpc>
                <a:spcPct val="140008"/>
              </a:lnSpc>
              <a:spcBef>
                <a:spcPts val="0"/>
              </a:spcBef>
              <a:spcAft>
                <a:spcPts val="0"/>
              </a:spcAft>
              <a:buClr>
                <a:srgbClr val="021828"/>
              </a:buClr>
              <a:buSzPts val="1200"/>
              <a:buFont typeface="Arial"/>
              <a:buChar char="•"/>
            </a:pPr>
            <a:r>
              <a:rPr b="0" i="0" lang="en" sz="1200" u="none" cap="none" strike="noStrike">
                <a:solidFill>
                  <a:srgbClr val="021828"/>
                </a:solidFill>
                <a:latin typeface="Arial"/>
                <a:ea typeface="Arial"/>
                <a:cs typeface="Arial"/>
                <a:sym typeface="Arial"/>
              </a:rPr>
              <a:t>A very low learning rate doesn't work </a:t>
            </a:r>
            <a:endParaRPr sz="700"/>
          </a:p>
          <a:p>
            <a:pPr indent="-127000" lvl="1" marL="254000" marR="0" rtl="0" algn="just">
              <a:lnSpc>
                <a:spcPct val="140008"/>
              </a:lnSpc>
              <a:spcBef>
                <a:spcPts val="0"/>
              </a:spcBef>
              <a:spcAft>
                <a:spcPts val="0"/>
              </a:spcAft>
              <a:buClr>
                <a:srgbClr val="021828"/>
              </a:buClr>
              <a:buSzPts val="1200"/>
              <a:buFont typeface="Arial"/>
              <a:buChar char="•"/>
            </a:pPr>
            <a:r>
              <a:rPr b="0" i="0" lang="en" sz="1200" u="none" cap="none" strike="noStrike">
                <a:solidFill>
                  <a:srgbClr val="021828"/>
                </a:solidFill>
                <a:latin typeface="Arial"/>
                <a:ea typeface="Arial"/>
                <a:cs typeface="Arial"/>
                <a:sym typeface="Arial"/>
              </a:rPr>
              <a:t>Simpler network is better</a:t>
            </a:r>
            <a:endParaRPr sz="700"/>
          </a:p>
          <a:p>
            <a:pPr indent="-127000" lvl="1" marL="254000" marR="0" rtl="0" algn="just">
              <a:lnSpc>
                <a:spcPct val="140008"/>
              </a:lnSpc>
              <a:spcBef>
                <a:spcPts val="0"/>
              </a:spcBef>
              <a:spcAft>
                <a:spcPts val="0"/>
              </a:spcAft>
              <a:buClr>
                <a:srgbClr val="021828"/>
              </a:buClr>
              <a:buSzPts val="1200"/>
              <a:buFont typeface="Arial"/>
              <a:buChar char="•"/>
            </a:pPr>
            <a:r>
              <a:rPr b="0" i="0" lang="en" sz="1200" u="none" cap="none" strike="noStrike">
                <a:solidFill>
                  <a:srgbClr val="021828"/>
                </a:solidFill>
                <a:latin typeface="Arial"/>
                <a:ea typeface="Arial"/>
                <a:cs typeface="Arial"/>
                <a:sym typeface="Arial"/>
              </a:rPr>
              <a:t>Bigger the number of epochs the better</a:t>
            </a:r>
            <a:endParaRPr sz="700"/>
          </a:p>
          <a:p>
            <a:pPr indent="-127000" lvl="1" marL="254000" marR="0" rtl="0" algn="just">
              <a:lnSpc>
                <a:spcPct val="140008"/>
              </a:lnSpc>
              <a:spcBef>
                <a:spcPts val="0"/>
              </a:spcBef>
              <a:spcAft>
                <a:spcPts val="0"/>
              </a:spcAft>
              <a:buClr>
                <a:srgbClr val="021828"/>
              </a:buClr>
              <a:buSzPts val="1200"/>
              <a:buFont typeface="Arial"/>
              <a:buChar char="•"/>
            </a:pPr>
            <a:r>
              <a:rPr b="0" i="0" lang="en" sz="1200" u="none" cap="none" strike="noStrike">
                <a:solidFill>
                  <a:srgbClr val="021828"/>
                </a:solidFill>
                <a:latin typeface="Arial"/>
                <a:ea typeface="Arial"/>
                <a:cs typeface="Arial"/>
                <a:sym typeface="Arial"/>
              </a:rPr>
              <a:t>First 30 features from xgboost</a:t>
            </a:r>
            <a:endParaRPr b="0" i="0" sz="1200" u="none" cap="none" strike="noStrike">
              <a:solidFill>
                <a:srgbClr val="021828"/>
              </a:solidFill>
              <a:latin typeface="Arial"/>
              <a:ea typeface="Arial"/>
              <a:cs typeface="Arial"/>
              <a:sym typeface="Arial"/>
            </a:endParaRPr>
          </a:p>
          <a:p>
            <a:pPr indent="-127000" lvl="1" marL="254000" marR="0" rtl="0" algn="just">
              <a:lnSpc>
                <a:spcPct val="140008"/>
              </a:lnSpc>
              <a:spcBef>
                <a:spcPts val="0"/>
              </a:spcBef>
              <a:spcAft>
                <a:spcPts val="0"/>
              </a:spcAft>
              <a:buClr>
                <a:srgbClr val="021828"/>
              </a:buClr>
              <a:buSzPts val="1200"/>
              <a:buChar char="•"/>
            </a:pPr>
            <a:r>
              <a:rPr lang="en" sz="1200">
                <a:solidFill>
                  <a:srgbClr val="021828"/>
                </a:solidFill>
              </a:rPr>
              <a:t>K-fold helps </a:t>
            </a:r>
            <a:r>
              <a:rPr lang="en" sz="1200">
                <a:solidFill>
                  <a:srgbClr val="021828"/>
                </a:solidFill>
              </a:rPr>
              <a:t>stabilize</a:t>
            </a:r>
            <a:r>
              <a:rPr lang="en" sz="1200">
                <a:solidFill>
                  <a:srgbClr val="021828"/>
                </a:solidFill>
              </a:rPr>
              <a:t> the cv</a:t>
            </a:r>
            <a:endParaRPr sz="1200">
              <a:solidFill>
                <a:srgbClr val="021828"/>
              </a:solidFill>
            </a:endParaRPr>
          </a:p>
          <a:p>
            <a:pPr indent="0" lvl="0" marL="0" marR="0" rtl="0" algn="just">
              <a:lnSpc>
                <a:spcPct val="176419"/>
              </a:lnSpc>
              <a:spcBef>
                <a:spcPts val="0"/>
              </a:spcBef>
              <a:spcAft>
                <a:spcPts val="0"/>
              </a:spcAft>
              <a:buNone/>
            </a:pPr>
            <a:r>
              <a:t/>
            </a:r>
            <a:endParaRPr b="0" i="0" sz="1200" u="none" cap="none" strike="noStrike">
              <a:solidFill>
                <a:srgbClr val="021828"/>
              </a:solidFill>
              <a:latin typeface="Arial"/>
              <a:ea typeface="Arial"/>
              <a:cs typeface="Arial"/>
              <a:sym typeface="Arial"/>
            </a:endParaRPr>
          </a:p>
          <a:p>
            <a:pPr indent="0" lvl="0" marL="0" marR="0" rtl="0" algn="just">
              <a:lnSpc>
                <a:spcPct val="176419"/>
              </a:lnSpc>
              <a:spcBef>
                <a:spcPts val="0"/>
              </a:spcBef>
              <a:spcAft>
                <a:spcPts val="0"/>
              </a:spcAft>
              <a:buNone/>
            </a:pPr>
            <a:r>
              <a:t/>
            </a:r>
            <a:endParaRPr b="0" i="0" sz="1200" u="none" cap="none" strike="noStrike">
              <a:solidFill>
                <a:srgbClr val="021828"/>
              </a:solidFill>
              <a:latin typeface="Arial"/>
              <a:ea typeface="Arial"/>
              <a:cs typeface="Arial"/>
              <a:sym typeface="Arial"/>
            </a:endParaRPr>
          </a:p>
        </p:txBody>
      </p:sp>
      <p:sp>
        <p:nvSpPr>
          <p:cNvPr id="423" name="Google Shape;423;p38"/>
          <p:cNvSpPr txBox="1"/>
          <p:nvPr/>
        </p:nvSpPr>
        <p:spPr>
          <a:xfrm>
            <a:off x="4986452" y="3913136"/>
            <a:ext cx="3700249" cy="1230364"/>
          </a:xfrm>
          <a:prstGeom prst="rect">
            <a:avLst/>
          </a:prstGeom>
          <a:noFill/>
          <a:ln>
            <a:noFill/>
          </a:ln>
        </p:spPr>
        <p:txBody>
          <a:bodyPr anchorCtr="0" anchor="t" bIns="0" lIns="0" spcFirstLastPara="1" rIns="0" wrap="square" tIns="0">
            <a:spAutoFit/>
          </a:bodyPr>
          <a:lstStyle/>
          <a:p>
            <a:pPr indent="0" lvl="0" marL="0" marR="0" rtl="0" algn="just">
              <a:lnSpc>
                <a:spcPct val="139965"/>
              </a:lnSpc>
              <a:spcBef>
                <a:spcPts val="0"/>
              </a:spcBef>
              <a:spcAft>
                <a:spcPts val="0"/>
              </a:spcAft>
              <a:buNone/>
            </a:pPr>
            <a:r>
              <a:rPr b="1" i="0" lang="en" sz="1200" u="none" cap="none" strike="noStrike">
                <a:solidFill>
                  <a:srgbClr val="021828"/>
                </a:solidFill>
                <a:latin typeface="Arial"/>
                <a:ea typeface="Arial"/>
                <a:cs typeface="Arial"/>
                <a:sym typeface="Arial"/>
              </a:rPr>
              <a:t>GNN</a:t>
            </a:r>
            <a:endParaRPr sz="700"/>
          </a:p>
          <a:p>
            <a:pPr indent="0" lvl="0" marL="0" marR="0" rtl="0" algn="just">
              <a:lnSpc>
                <a:spcPct val="139965"/>
              </a:lnSpc>
              <a:spcBef>
                <a:spcPts val="0"/>
              </a:spcBef>
              <a:spcAft>
                <a:spcPts val="0"/>
              </a:spcAft>
              <a:buNone/>
            </a:pPr>
            <a:r>
              <a:rPr b="0" i="0" lang="en" sz="1200" u="none" cap="none" strike="noStrike">
                <a:solidFill>
                  <a:srgbClr val="021828"/>
                </a:solidFill>
                <a:latin typeface="Arial"/>
                <a:ea typeface="Arial"/>
                <a:cs typeface="Arial"/>
                <a:sym typeface="Arial"/>
              </a:rPr>
              <a:t>58%</a:t>
            </a:r>
            <a:endParaRPr sz="700"/>
          </a:p>
          <a:p>
            <a:pPr indent="-114300" lvl="1" marL="228600" marR="0" rtl="0" algn="just">
              <a:lnSpc>
                <a:spcPct val="139990"/>
              </a:lnSpc>
              <a:spcBef>
                <a:spcPts val="0"/>
              </a:spcBef>
              <a:spcAft>
                <a:spcPts val="0"/>
              </a:spcAft>
              <a:buClr>
                <a:srgbClr val="021828"/>
              </a:buClr>
              <a:buSzPts val="1000"/>
              <a:buFont typeface="Arial"/>
              <a:buChar char="•"/>
            </a:pPr>
            <a:r>
              <a:rPr b="0" i="0" lang="en" sz="1000" u="none" cap="none" strike="noStrike">
                <a:solidFill>
                  <a:srgbClr val="021828"/>
                </a:solidFill>
                <a:latin typeface="Arial"/>
                <a:ea typeface="Arial"/>
                <a:cs typeface="Arial"/>
                <a:sym typeface="Arial"/>
              </a:rPr>
              <a:t>Used Cosine similarity to build the edges (find close nodes), the </a:t>
            </a:r>
            <a:r>
              <a:rPr b="0" i="0" lang="en" sz="1000" u="sng" cap="none" strike="noStrike">
                <a:solidFill>
                  <a:schemeClr val="hlink"/>
                </a:solidFill>
                <a:latin typeface="Arial"/>
                <a:ea typeface="Arial"/>
                <a:cs typeface="Arial"/>
                <a:sym typeface="Arial"/>
                <a:hlinkClick r:id="rId8"/>
              </a:rPr>
              <a:t>winner</a:t>
            </a:r>
            <a:r>
              <a:rPr b="0" i="0" lang="en" sz="1000" u="none" cap="none" strike="noStrike">
                <a:solidFill>
                  <a:srgbClr val="021828"/>
                </a:solidFill>
                <a:latin typeface="Arial"/>
                <a:ea typeface="Arial"/>
                <a:cs typeface="Arial"/>
                <a:sym typeface="Arial"/>
              </a:rPr>
              <a:t> used KNN</a:t>
            </a:r>
            <a:endParaRPr sz="700"/>
          </a:p>
          <a:p>
            <a:pPr indent="0" lvl="0" marL="0" marR="0" rtl="0" algn="just">
              <a:lnSpc>
                <a:spcPct val="176402"/>
              </a:lnSpc>
              <a:spcBef>
                <a:spcPts val="0"/>
              </a:spcBef>
              <a:spcAft>
                <a:spcPts val="0"/>
              </a:spcAft>
              <a:buNone/>
            </a:pPr>
            <a:r>
              <a:t/>
            </a:r>
            <a:endParaRPr b="0" i="0" sz="1000" u="none" cap="none" strike="noStrike">
              <a:solidFill>
                <a:srgbClr val="021828"/>
              </a:solidFill>
              <a:latin typeface="Arial"/>
              <a:ea typeface="Arial"/>
              <a:cs typeface="Arial"/>
              <a:sym typeface="Arial"/>
            </a:endParaRPr>
          </a:p>
          <a:p>
            <a:pPr indent="0" lvl="0" marL="0" marR="0" rtl="0" algn="just">
              <a:lnSpc>
                <a:spcPct val="176402"/>
              </a:lnSpc>
              <a:spcBef>
                <a:spcPts val="0"/>
              </a:spcBef>
              <a:spcAft>
                <a:spcPts val="0"/>
              </a:spcAft>
              <a:buNone/>
            </a:pPr>
            <a:r>
              <a:t/>
            </a:r>
            <a:endParaRPr b="0" i="0" sz="1000" u="none" cap="none" strike="noStrike">
              <a:solidFill>
                <a:srgbClr val="021828"/>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9"/>
          <p:cNvSpPr/>
          <p:nvPr/>
        </p:nvSpPr>
        <p:spPr>
          <a:xfrm>
            <a:off x="4890233" y="514350"/>
            <a:ext cx="1538229" cy="1538229"/>
          </a:xfrm>
          <a:custGeom>
            <a:rect b="b" l="l" r="r" t="t"/>
            <a:pathLst>
              <a:path extrusionOk="0" h="3076459" w="3076459">
                <a:moveTo>
                  <a:pt x="0" y="0"/>
                </a:moveTo>
                <a:lnTo>
                  <a:pt x="3076459" y="0"/>
                </a:lnTo>
                <a:lnTo>
                  <a:pt x="3076459" y="3076459"/>
                </a:lnTo>
                <a:lnTo>
                  <a:pt x="0" y="3076459"/>
                </a:lnTo>
                <a:lnTo>
                  <a:pt x="0" y="0"/>
                </a:lnTo>
                <a:close/>
              </a:path>
            </a:pathLst>
          </a:custGeom>
          <a:blipFill rotWithShape="1">
            <a:blip r:embed="rId3">
              <a:alphaModFix/>
            </a:blip>
            <a:stretch>
              <a:fillRect b="0" l="0" r="0" t="0"/>
            </a:stretch>
          </a:blipFill>
          <a:ln>
            <a:noFill/>
          </a:ln>
        </p:spPr>
      </p:sp>
      <p:grpSp>
        <p:nvGrpSpPr>
          <p:cNvPr id="429" name="Google Shape;429;p39"/>
          <p:cNvGrpSpPr/>
          <p:nvPr/>
        </p:nvGrpSpPr>
        <p:grpSpPr>
          <a:xfrm>
            <a:off x="5907584" y="1332070"/>
            <a:ext cx="2764553" cy="3811430"/>
            <a:chOff x="0" y="-47625"/>
            <a:chExt cx="1456225" cy="2007667"/>
          </a:xfrm>
        </p:grpSpPr>
        <p:sp>
          <p:nvSpPr>
            <p:cNvPr id="430" name="Google Shape;430;p39"/>
            <p:cNvSpPr/>
            <p:nvPr/>
          </p:nvSpPr>
          <p:spPr>
            <a:xfrm>
              <a:off x="0" y="0"/>
              <a:ext cx="1456225" cy="1960042"/>
            </a:xfrm>
            <a:custGeom>
              <a:rect b="b" l="l" r="r" t="t"/>
              <a:pathLst>
                <a:path extrusionOk="0" h="1960042" w="1456225">
                  <a:moveTo>
                    <a:pt x="0" y="0"/>
                  </a:moveTo>
                  <a:lnTo>
                    <a:pt x="1456225" y="0"/>
                  </a:lnTo>
                  <a:lnTo>
                    <a:pt x="1456225" y="1960042"/>
                  </a:lnTo>
                  <a:lnTo>
                    <a:pt x="0" y="1960042"/>
                  </a:lnTo>
                  <a:close/>
                </a:path>
              </a:pathLst>
            </a:custGeom>
            <a:solidFill>
              <a:srgbClr val="E1EDFC"/>
            </a:solidFill>
            <a:ln>
              <a:noFill/>
            </a:ln>
          </p:spPr>
        </p:sp>
        <p:sp>
          <p:nvSpPr>
            <p:cNvPr id="431" name="Google Shape;431;p39"/>
            <p:cNvSpPr txBox="1"/>
            <p:nvPr/>
          </p:nvSpPr>
          <p:spPr>
            <a:xfrm>
              <a:off x="0" y="-47625"/>
              <a:ext cx="1456225" cy="2007667"/>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32" name="Google Shape;432;p39"/>
          <p:cNvSpPr txBox="1"/>
          <p:nvPr/>
        </p:nvSpPr>
        <p:spPr>
          <a:xfrm>
            <a:off x="624040" y="1085436"/>
            <a:ext cx="4104300" cy="4199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 sz="1100" u="none" cap="none" strike="noStrike">
                <a:solidFill>
                  <a:srgbClr val="021828"/>
                </a:solidFill>
                <a:latin typeface="Arial"/>
                <a:ea typeface="Arial"/>
                <a:cs typeface="Arial"/>
                <a:sym typeface="Arial"/>
              </a:rPr>
              <a:t>Predicted Risk Scores:</a:t>
            </a:r>
            <a:endParaRPr sz="500"/>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Patients with higher predicted risk scores showed a tendency towards worse survival outcomes.</a:t>
            </a:r>
            <a:endParaRPr sz="500"/>
          </a:p>
          <a:p>
            <a:pPr indent="0" lvl="0" marL="0" marR="0" rtl="0" algn="just">
              <a:lnSpc>
                <a:spcPct val="140000"/>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None/>
            </a:pPr>
            <a:r>
              <a:rPr b="1" i="0" lang="en" sz="1100" u="none" cap="none" strike="noStrike">
                <a:solidFill>
                  <a:srgbClr val="021828"/>
                </a:solidFill>
                <a:latin typeface="Arial"/>
                <a:ea typeface="Arial"/>
                <a:cs typeface="Arial"/>
                <a:sym typeface="Arial"/>
              </a:rPr>
              <a:t>Median Survival Time: </a:t>
            </a:r>
            <a:endParaRPr sz="500"/>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9.98 months, highlighting a critical threshold for patient survival following HCT.</a:t>
            </a:r>
            <a:endParaRPr sz="500"/>
          </a:p>
          <a:p>
            <a:pPr indent="0" lvl="0" marL="0" marR="0" rtl="0" algn="just">
              <a:lnSpc>
                <a:spcPct val="140000"/>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None/>
            </a:pPr>
            <a:r>
              <a:rPr b="1" i="0" lang="en" sz="1100" u="none" cap="none" strike="noStrike">
                <a:solidFill>
                  <a:srgbClr val="021828"/>
                </a:solidFill>
                <a:latin typeface="Arial"/>
                <a:ea typeface="Arial"/>
                <a:cs typeface="Arial"/>
                <a:sym typeface="Arial"/>
              </a:rPr>
              <a:t>Model Sensitivity: </a:t>
            </a:r>
            <a:endParaRPr sz="500"/>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We were able to achieve ~66% accuracy with DeepSurv, ~66% accuracy with CoxPH and ~67% accuracy with XGBoost models</a:t>
            </a:r>
            <a:endParaRPr sz="500"/>
          </a:p>
          <a:p>
            <a:pPr indent="0" lvl="0" marL="0" marR="0" rtl="0" algn="just">
              <a:lnSpc>
                <a:spcPct val="140000"/>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While the C-index of 0.67 suggests moderate accuracy, there is room for improvement. Future iterations could explore model tuning or the inclusion of additional data to refine predictions.</a:t>
            </a:r>
            <a:endParaRPr sz="500"/>
          </a:p>
          <a:p>
            <a:pPr indent="0" lvl="0" marL="0" marR="0" rtl="0" algn="just">
              <a:lnSpc>
                <a:spcPct val="140000"/>
              </a:lnSpc>
              <a:spcBef>
                <a:spcPts val="0"/>
              </a:spcBef>
              <a:spcAft>
                <a:spcPts val="0"/>
              </a:spcAft>
              <a:buNone/>
            </a:pPr>
            <a:r>
              <a:t/>
            </a:r>
            <a:endParaRPr b="1" i="0" sz="1100" u="none" cap="none" strike="noStrike">
              <a:solidFill>
                <a:srgbClr val="021828"/>
              </a:solidFill>
              <a:latin typeface="Arial"/>
              <a:ea typeface="Arial"/>
              <a:cs typeface="Arial"/>
              <a:sym typeface="Arial"/>
            </a:endParaRPr>
          </a:p>
        </p:txBody>
      </p:sp>
      <p:sp>
        <p:nvSpPr>
          <p:cNvPr id="433" name="Google Shape;433;p39"/>
          <p:cNvSpPr txBox="1"/>
          <p:nvPr/>
        </p:nvSpPr>
        <p:spPr>
          <a:xfrm>
            <a:off x="1083517" y="438150"/>
            <a:ext cx="4904117" cy="984334"/>
          </a:xfrm>
          <a:prstGeom prst="rect">
            <a:avLst/>
          </a:prstGeom>
          <a:noFill/>
          <a:ln>
            <a:noFill/>
          </a:ln>
        </p:spPr>
        <p:txBody>
          <a:bodyPr anchorCtr="0" anchor="t" bIns="0" lIns="0" spcFirstLastPara="1" rIns="0" wrap="square" tIns="0">
            <a:spAutoFit/>
          </a:bodyPr>
          <a:lstStyle/>
          <a:p>
            <a:pPr indent="0" lvl="0" marL="0" marR="0" rtl="0" algn="l">
              <a:lnSpc>
                <a:spcPct val="126998"/>
              </a:lnSpc>
              <a:spcBef>
                <a:spcPts val="0"/>
              </a:spcBef>
              <a:spcAft>
                <a:spcPts val="0"/>
              </a:spcAft>
              <a:buNone/>
            </a:pPr>
            <a:r>
              <a:rPr b="1" i="0" lang="en" sz="2900" u="none" cap="none" strike="noStrike">
                <a:solidFill>
                  <a:srgbClr val="0E2F5F"/>
                </a:solidFill>
                <a:latin typeface="Arial"/>
                <a:ea typeface="Arial"/>
                <a:cs typeface="Arial"/>
                <a:sym typeface="Arial"/>
              </a:rPr>
              <a:t>Prediction and Analysis </a:t>
            </a:r>
            <a:endParaRPr sz="700"/>
          </a:p>
          <a:p>
            <a:pPr indent="0" lvl="0" marL="0" marR="0" rtl="0" algn="l">
              <a:lnSpc>
                <a:spcPct val="126998"/>
              </a:lnSpc>
              <a:spcBef>
                <a:spcPts val="0"/>
              </a:spcBef>
              <a:spcAft>
                <a:spcPts val="0"/>
              </a:spcAft>
              <a:buNone/>
            </a:pPr>
            <a:r>
              <a:t/>
            </a:r>
            <a:endParaRPr b="1" i="0" sz="2900" u="none" cap="none" strike="noStrike">
              <a:solidFill>
                <a:srgbClr val="0E2F5F"/>
              </a:solidFill>
              <a:latin typeface="Arial"/>
              <a:ea typeface="Arial"/>
              <a:cs typeface="Arial"/>
              <a:sym typeface="Arial"/>
            </a:endParaRPr>
          </a:p>
        </p:txBody>
      </p:sp>
      <p:sp>
        <p:nvSpPr>
          <p:cNvPr id="434" name="Google Shape;434;p39"/>
          <p:cNvSpPr/>
          <p:nvPr/>
        </p:nvSpPr>
        <p:spPr>
          <a:xfrm>
            <a:off x="208094" y="153298"/>
            <a:ext cx="645774" cy="645774"/>
          </a:xfrm>
          <a:custGeom>
            <a:rect b="b" l="l" r="r" t="t"/>
            <a:pathLst>
              <a:path extrusionOk="0" h="1291547" w="1291547">
                <a:moveTo>
                  <a:pt x="0" y="0"/>
                </a:moveTo>
                <a:lnTo>
                  <a:pt x="1291547" y="0"/>
                </a:lnTo>
                <a:lnTo>
                  <a:pt x="1291547" y="1291547"/>
                </a:lnTo>
                <a:lnTo>
                  <a:pt x="0" y="1291547"/>
                </a:lnTo>
                <a:lnTo>
                  <a:pt x="0" y="0"/>
                </a:lnTo>
                <a:close/>
              </a:path>
            </a:pathLst>
          </a:custGeom>
          <a:blipFill rotWithShape="1">
            <a:blip r:embed="rId4">
              <a:alphaModFix/>
            </a:blip>
            <a:stretch>
              <a:fillRect b="0" l="0" r="0" t="0"/>
            </a:stretch>
          </a:blipFill>
          <a:ln>
            <a:noFill/>
          </a:ln>
        </p:spPr>
      </p:sp>
      <p:sp>
        <p:nvSpPr>
          <p:cNvPr id="435" name="Google Shape;435;p39"/>
          <p:cNvSpPr/>
          <p:nvPr/>
        </p:nvSpPr>
        <p:spPr>
          <a:xfrm>
            <a:off x="5607802" y="564267"/>
            <a:ext cx="759664" cy="234805"/>
          </a:xfrm>
          <a:custGeom>
            <a:rect b="b" l="l" r="r" t="t"/>
            <a:pathLst>
              <a:path extrusionOk="0" h="469610" w="1519327">
                <a:moveTo>
                  <a:pt x="0" y="0"/>
                </a:moveTo>
                <a:lnTo>
                  <a:pt x="1519327" y="0"/>
                </a:lnTo>
                <a:lnTo>
                  <a:pt x="1519327" y="469610"/>
                </a:lnTo>
                <a:lnTo>
                  <a:pt x="0" y="469610"/>
                </a:lnTo>
                <a:lnTo>
                  <a:pt x="0" y="0"/>
                </a:lnTo>
                <a:close/>
              </a:path>
            </a:pathLst>
          </a:custGeom>
          <a:blipFill rotWithShape="1">
            <a:blip r:embed="rId5">
              <a:alphaModFix/>
            </a:blip>
            <a:stretch>
              <a:fillRect b="0" l="0" r="0" t="0"/>
            </a:stretch>
          </a:blipFill>
          <a:ln>
            <a:noFill/>
          </a:ln>
        </p:spPr>
      </p:sp>
      <p:sp>
        <p:nvSpPr>
          <p:cNvPr id="436" name="Google Shape;436;p39"/>
          <p:cNvSpPr/>
          <p:nvPr/>
        </p:nvSpPr>
        <p:spPr>
          <a:xfrm>
            <a:off x="8249818" y="5025610"/>
            <a:ext cx="759663" cy="234805"/>
          </a:xfrm>
          <a:custGeom>
            <a:rect b="b" l="l" r="r" t="t"/>
            <a:pathLst>
              <a:path extrusionOk="0" h="469610" w="1519327">
                <a:moveTo>
                  <a:pt x="0" y="0"/>
                </a:moveTo>
                <a:lnTo>
                  <a:pt x="1519328" y="0"/>
                </a:lnTo>
                <a:lnTo>
                  <a:pt x="1519328" y="469610"/>
                </a:lnTo>
                <a:lnTo>
                  <a:pt x="0" y="469610"/>
                </a:lnTo>
                <a:lnTo>
                  <a:pt x="0" y="0"/>
                </a:lnTo>
                <a:close/>
              </a:path>
            </a:pathLst>
          </a:custGeom>
          <a:blipFill rotWithShape="1">
            <a:blip r:embed="rId5">
              <a:alphaModFix/>
            </a:blip>
            <a:stretch>
              <a:fillRect b="0" l="0" r="0" t="0"/>
            </a:stretch>
          </a:blipFill>
          <a:ln>
            <a:noFill/>
          </a:ln>
        </p:spPr>
      </p:sp>
      <p:grpSp>
        <p:nvGrpSpPr>
          <p:cNvPr id="437" name="Google Shape;437;p39"/>
          <p:cNvGrpSpPr/>
          <p:nvPr/>
        </p:nvGrpSpPr>
        <p:grpSpPr>
          <a:xfrm>
            <a:off x="624040" y="514350"/>
            <a:ext cx="334639" cy="334639"/>
            <a:chOff x="0" y="0"/>
            <a:chExt cx="812800" cy="812800"/>
          </a:xfrm>
        </p:grpSpPr>
        <p:sp>
          <p:nvSpPr>
            <p:cNvPr id="438" name="Google Shape;438;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9" name="Google Shape;439;p39"/>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40" name="Google Shape;440;p39"/>
          <p:cNvSpPr/>
          <p:nvPr/>
        </p:nvSpPr>
        <p:spPr>
          <a:xfrm rot="5400000">
            <a:off x="728850" y="617599"/>
            <a:ext cx="125019" cy="125018"/>
          </a:xfrm>
          <a:custGeom>
            <a:rect b="b" l="l" r="r" t="t"/>
            <a:pathLst>
              <a:path extrusionOk="0" h="250037" w="250037">
                <a:moveTo>
                  <a:pt x="0" y="0"/>
                </a:moveTo>
                <a:lnTo>
                  <a:pt x="250037" y="0"/>
                </a:lnTo>
                <a:lnTo>
                  <a:pt x="250037" y="250037"/>
                </a:lnTo>
                <a:lnTo>
                  <a:pt x="0" y="250037"/>
                </a:lnTo>
                <a:lnTo>
                  <a:pt x="0" y="0"/>
                </a:lnTo>
                <a:close/>
              </a:path>
            </a:pathLst>
          </a:custGeom>
          <a:blipFill rotWithShape="1">
            <a:blip r:embed="rId6">
              <a:alphaModFix/>
            </a:blip>
            <a:stretch>
              <a:fillRect b="0" l="0" r="0" t="0"/>
            </a:stretch>
          </a:blipFill>
          <a:ln>
            <a:noFill/>
          </a:ln>
        </p:spPr>
      </p:sp>
      <p:sp>
        <p:nvSpPr>
          <p:cNvPr id="441" name="Google Shape;441;p39"/>
          <p:cNvSpPr/>
          <p:nvPr/>
        </p:nvSpPr>
        <p:spPr>
          <a:xfrm>
            <a:off x="5607802" y="1178941"/>
            <a:ext cx="2850487" cy="3781740"/>
          </a:xfrm>
          <a:custGeom>
            <a:rect b="b" l="l" r="r" t="t"/>
            <a:pathLst>
              <a:path extrusionOk="0" h="7563480" w="5700973">
                <a:moveTo>
                  <a:pt x="0" y="0"/>
                </a:moveTo>
                <a:lnTo>
                  <a:pt x="5700973" y="0"/>
                </a:lnTo>
                <a:lnTo>
                  <a:pt x="5700973" y="7563480"/>
                </a:lnTo>
                <a:lnTo>
                  <a:pt x="0" y="756348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grpSp>
        <p:nvGrpSpPr>
          <p:cNvPr id="446" name="Google Shape;446;p40"/>
          <p:cNvGrpSpPr/>
          <p:nvPr/>
        </p:nvGrpSpPr>
        <p:grpSpPr>
          <a:xfrm>
            <a:off x="8046351" y="1850223"/>
            <a:ext cx="1749878" cy="3382560"/>
            <a:chOff x="0" y="-47625"/>
            <a:chExt cx="1079239" cy="1847485"/>
          </a:xfrm>
        </p:grpSpPr>
        <p:sp>
          <p:nvSpPr>
            <p:cNvPr id="447" name="Google Shape;447;p40"/>
            <p:cNvSpPr/>
            <p:nvPr/>
          </p:nvSpPr>
          <p:spPr>
            <a:xfrm>
              <a:off x="0" y="0"/>
              <a:ext cx="1079239" cy="1799860"/>
            </a:xfrm>
            <a:custGeom>
              <a:rect b="b" l="l" r="r" t="t"/>
              <a:pathLst>
                <a:path extrusionOk="0" h="1799860" w="1079239">
                  <a:moveTo>
                    <a:pt x="0" y="0"/>
                  </a:moveTo>
                  <a:lnTo>
                    <a:pt x="1079239" y="0"/>
                  </a:lnTo>
                  <a:lnTo>
                    <a:pt x="1079239" y="1799860"/>
                  </a:lnTo>
                  <a:lnTo>
                    <a:pt x="0" y="1799860"/>
                  </a:lnTo>
                  <a:close/>
                </a:path>
              </a:pathLst>
            </a:custGeom>
            <a:solidFill>
              <a:srgbClr val="E1EDFC"/>
            </a:solidFill>
            <a:ln>
              <a:noFill/>
            </a:ln>
          </p:spPr>
        </p:sp>
        <p:sp>
          <p:nvSpPr>
            <p:cNvPr id="448" name="Google Shape;448;p40"/>
            <p:cNvSpPr txBox="1"/>
            <p:nvPr/>
          </p:nvSpPr>
          <p:spPr>
            <a:xfrm>
              <a:off x="0" y="-47625"/>
              <a:ext cx="1079239" cy="184748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49" name="Google Shape;449;p40"/>
          <p:cNvSpPr/>
          <p:nvPr/>
        </p:nvSpPr>
        <p:spPr>
          <a:xfrm>
            <a:off x="7399325" y="1238550"/>
            <a:ext cx="1554480" cy="1643888"/>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3">
              <a:alphaModFix/>
            </a:blip>
            <a:stretch>
              <a:fillRect b="0" l="0" r="0"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0" name="Google Shape;450;p40"/>
          <p:cNvSpPr/>
          <p:nvPr/>
        </p:nvSpPr>
        <p:spPr>
          <a:xfrm>
            <a:off x="-34278" y="-58280"/>
            <a:ext cx="645774" cy="645774"/>
          </a:xfrm>
          <a:custGeom>
            <a:rect b="b" l="l" r="r" t="t"/>
            <a:pathLst>
              <a:path extrusionOk="0" h="1291547" w="1291547">
                <a:moveTo>
                  <a:pt x="0" y="0"/>
                </a:moveTo>
                <a:lnTo>
                  <a:pt x="1291548" y="0"/>
                </a:lnTo>
                <a:lnTo>
                  <a:pt x="1291548" y="1291547"/>
                </a:lnTo>
                <a:lnTo>
                  <a:pt x="0" y="1291547"/>
                </a:lnTo>
                <a:lnTo>
                  <a:pt x="0" y="0"/>
                </a:lnTo>
                <a:close/>
              </a:path>
            </a:pathLst>
          </a:custGeom>
          <a:blipFill rotWithShape="1">
            <a:blip r:embed="rId4">
              <a:alphaModFix/>
            </a:blip>
            <a:stretch>
              <a:fillRect b="0" l="0" r="0" t="0"/>
            </a:stretch>
          </a:blipFill>
          <a:ln>
            <a:noFill/>
          </a:ln>
        </p:spPr>
      </p:sp>
      <p:sp>
        <p:nvSpPr>
          <p:cNvPr id="451" name="Google Shape;451;p40"/>
          <p:cNvSpPr txBox="1"/>
          <p:nvPr/>
        </p:nvSpPr>
        <p:spPr>
          <a:xfrm>
            <a:off x="288609" y="178882"/>
            <a:ext cx="6044461" cy="1104583"/>
          </a:xfrm>
          <a:prstGeom prst="rect">
            <a:avLst/>
          </a:prstGeom>
          <a:noFill/>
          <a:ln>
            <a:noFill/>
          </a:ln>
        </p:spPr>
        <p:txBody>
          <a:bodyPr anchorCtr="0" anchor="t" bIns="0" lIns="0" spcFirstLastPara="1" rIns="0" wrap="square" tIns="0">
            <a:spAutoFit/>
          </a:bodyPr>
          <a:lstStyle/>
          <a:p>
            <a:pPr indent="0" lvl="0" marL="0" marR="0" rtl="0" algn="l">
              <a:lnSpc>
                <a:spcPct val="127004"/>
              </a:lnSpc>
              <a:spcBef>
                <a:spcPts val="0"/>
              </a:spcBef>
              <a:spcAft>
                <a:spcPts val="0"/>
              </a:spcAft>
              <a:buNone/>
            </a:pPr>
            <a:r>
              <a:rPr b="1" i="0" lang="en" sz="3200" u="none" cap="none" strike="noStrike">
                <a:solidFill>
                  <a:srgbClr val="0E2F5F"/>
                </a:solidFill>
                <a:latin typeface="Arial"/>
                <a:ea typeface="Arial"/>
                <a:cs typeface="Arial"/>
                <a:sym typeface="Arial"/>
              </a:rPr>
              <a:t>Challenges and Limitations</a:t>
            </a:r>
            <a:endParaRPr sz="700"/>
          </a:p>
          <a:p>
            <a:pPr indent="0" lvl="0" marL="0" marR="0" rtl="0" algn="l">
              <a:lnSpc>
                <a:spcPct val="127004"/>
              </a:lnSpc>
              <a:spcBef>
                <a:spcPts val="0"/>
              </a:spcBef>
              <a:spcAft>
                <a:spcPts val="0"/>
              </a:spcAft>
              <a:buNone/>
            </a:pPr>
            <a:r>
              <a:t/>
            </a:r>
            <a:endParaRPr b="1" i="0" sz="3200" u="none" cap="none" strike="noStrike">
              <a:solidFill>
                <a:srgbClr val="0E2F5F"/>
              </a:solidFill>
              <a:latin typeface="Arial"/>
              <a:ea typeface="Arial"/>
              <a:cs typeface="Arial"/>
              <a:sym typeface="Arial"/>
            </a:endParaRPr>
          </a:p>
        </p:txBody>
      </p:sp>
      <p:sp>
        <p:nvSpPr>
          <p:cNvPr id="452" name="Google Shape;452;p40"/>
          <p:cNvSpPr/>
          <p:nvPr/>
        </p:nvSpPr>
        <p:spPr>
          <a:xfrm>
            <a:off x="6048631" y="396948"/>
            <a:ext cx="759663" cy="234805"/>
          </a:xfrm>
          <a:custGeom>
            <a:rect b="b" l="l" r="r" t="t"/>
            <a:pathLst>
              <a:path extrusionOk="0" h="469610" w="1519327">
                <a:moveTo>
                  <a:pt x="0" y="0"/>
                </a:moveTo>
                <a:lnTo>
                  <a:pt x="1519327" y="0"/>
                </a:lnTo>
                <a:lnTo>
                  <a:pt x="1519327" y="469610"/>
                </a:lnTo>
                <a:lnTo>
                  <a:pt x="0" y="469610"/>
                </a:lnTo>
                <a:lnTo>
                  <a:pt x="0" y="0"/>
                </a:lnTo>
                <a:close/>
              </a:path>
            </a:pathLst>
          </a:custGeom>
          <a:blipFill rotWithShape="1">
            <a:blip r:embed="rId5">
              <a:alphaModFix/>
            </a:blip>
            <a:stretch>
              <a:fillRect b="0" l="0" r="0" t="0"/>
            </a:stretch>
          </a:blipFill>
          <a:ln>
            <a:noFill/>
          </a:ln>
        </p:spPr>
      </p:sp>
      <p:sp>
        <p:nvSpPr>
          <p:cNvPr id="453" name="Google Shape;453;p40"/>
          <p:cNvSpPr txBox="1"/>
          <p:nvPr/>
        </p:nvSpPr>
        <p:spPr>
          <a:xfrm>
            <a:off x="557621" y="1054464"/>
            <a:ext cx="6049500" cy="4035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 sz="1100" u="none" cap="none" strike="noStrike">
                <a:solidFill>
                  <a:srgbClr val="021828"/>
                </a:solidFill>
                <a:latin typeface="Arial"/>
                <a:ea typeface="Arial"/>
                <a:cs typeface="Arial"/>
                <a:sym typeface="Arial"/>
              </a:rPr>
              <a:t>Data imbalance : Highly skewed </a:t>
            </a:r>
            <a:endParaRPr sz="500"/>
          </a:p>
          <a:p>
            <a:pPr indent="-120650" lvl="1" marL="266700" marR="0" rtl="0" algn="just">
              <a:lnSpc>
                <a:spcPct val="140000"/>
              </a:lnSpc>
              <a:spcBef>
                <a:spcPts val="0"/>
              </a:spcBef>
              <a:spcAft>
                <a:spcPts val="0"/>
              </a:spcAft>
              <a:buClr>
                <a:srgbClr val="021828"/>
              </a:buClr>
              <a:buSzPts val="1100"/>
              <a:buFont typeface="Arial"/>
              <a:buChar char="•"/>
            </a:pPr>
            <a:r>
              <a:rPr b="1" lang="en" sz="1100">
                <a:solidFill>
                  <a:srgbClr val="021828"/>
                </a:solidFill>
              </a:rPr>
              <a:t>W</a:t>
            </a:r>
            <a:r>
              <a:rPr b="1" i="0" lang="en" sz="1100" u="none" cap="none" strike="noStrike">
                <a:solidFill>
                  <a:srgbClr val="021828"/>
                </a:solidFill>
                <a:latin typeface="Arial"/>
                <a:ea typeface="Arial"/>
                <a:cs typeface="Arial"/>
                <a:sym typeface="Arial"/>
              </a:rPr>
              <a:t>ith most patients experiencing events within the first two years, making long-term survival predictions challenging</a:t>
            </a:r>
            <a:endParaRPr sz="500"/>
          </a:p>
          <a:p>
            <a:pPr indent="0" lvl="0" marL="0" marR="0" rtl="0" algn="just">
              <a:lnSpc>
                <a:spcPct val="140000"/>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None/>
            </a:pPr>
            <a:r>
              <a:rPr b="1" i="0" lang="en" sz="1100" u="none" cap="none" strike="noStrike">
                <a:solidFill>
                  <a:srgbClr val="021828"/>
                </a:solidFill>
                <a:latin typeface="Arial"/>
                <a:ea typeface="Arial"/>
                <a:cs typeface="Arial"/>
                <a:sym typeface="Arial"/>
              </a:rPr>
              <a:t>Need for external validation</a:t>
            </a:r>
            <a:endParaRPr sz="500"/>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The models are trained on a specific dataset and may not generalize well to different patient populations without further validation on external datasets.</a:t>
            </a:r>
            <a:endParaRPr sz="500"/>
          </a:p>
          <a:p>
            <a:pPr indent="0" lvl="0" marL="0" marR="0" rtl="0" algn="just">
              <a:lnSpc>
                <a:spcPct val="140000"/>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None/>
            </a:pPr>
            <a:r>
              <a:rPr b="1" i="0" lang="en" sz="1100" u="none" cap="none" strike="noStrike">
                <a:solidFill>
                  <a:srgbClr val="021828"/>
                </a:solidFill>
                <a:latin typeface="Arial"/>
                <a:ea typeface="Arial"/>
                <a:cs typeface="Arial"/>
                <a:sym typeface="Arial"/>
              </a:rPr>
              <a:t>Moderate Predictive Performance</a:t>
            </a:r>
            <a:endParaRPr sz="500"/>
          </a:p>
          <a:p>
            <a:pPr indent="-120650" lvl="1" marL="266700" marR="0" rtl="0" algn="just">
              <a:lnSpc>
                <a:spcPct val="140000"/>
              </a:lnSpc>
              <a:spcBef>
                <a:spcPts val="0"/>
              </a:spcBef>
              <a:spcAft>
                <a:spcPts val="0"/>
              </a:spcAft>
              <a:buClr>
                <a:srgbClr val="021828"/>
              </a:buClr>
              <a:buSzPts val="1100"/>
              <a:buFont typeface="Arial"/>
              <a:buChar char="•"/>
            </a:pPr>
            <a:r>
              <a:rPr b="1" i="0" lang="en" sz="1100" u="none" cap="none" strike="noStrike">
                <a:solidFill>
                  <a:srgbClr val="021828"/>
                </a:solidFill>
                <a:latin typeface="Arial"/>
                <a:ea typeface="Arial"/>
                <a:cs typeface="Arial"/>
                <a:sym typeface="Arial"/>
              </a:rPr>
              <a:t>With the average prediction score being </a:t>
            </a:r>
            <a:r>
              <a:rPr b="1" lang="en" sz="1100">
                <a:solidFill>
                  <a:srgbClr val="021828"/>
                </a:solidFill>
              </a:rPr>
              <a:t>~0.66</a:t>
            </a:r>
            <a:r>
              <a:rPr b="1" i="0" lang="en" sz="1100" u="none" cap="none" strike="noStrike">
                <a:solidFill>
                  <a:srgbClr val="021828"/>
                </a:solidFill>
                <a:latin typeface="Arial"/>
                <a:ea typeface="Arial"/>
                <a:cs typeface="Arial"/>
                <a:sym typeface="Arial"/>
              </a:rPr>
              <a:t> between our models, leaves room for improvement</a:t>
            </a:r>
            <a:endParaRPr sz="500"/>
          </a:p>
          <a:p>
            <a:pPr indent="0" lvl="0" marL="0" marR="0" rtl="0" algn="just">
              <a:lnSpc>
                <a:spcPct val="140000"/>
              </a:lnSpc>
              <a:spcBef>
                <a:spcPts val="0"/>
              </a:spcBef>
              <a:spcAft>
                <a:spcPts val="0"/>
              </a:spcAft>
              <a:buNone/>
            </a:pPr>
            <a:r>
              <a:t/>
            </a:r>
            <a:endParaRPr b="1" i="0" sz="11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None/>
            </a:pPr>
            <a:r>
              <a:rPr b="1" i="0" lang="en" sz="1100" u="none" cap="none" strike="noStrike">
                <a:solidFill>
                  <a:srgbClr val="021828"/>
                </a:solidFill>
                <a:latin typeface="Arial"/>
                <a:ea typeface="Arial"/>
                <a:cs typeface="Arial"/>
                <a:sym typeface="Arial"/>
              </a:rPr>
              <a:t>Domain Knowledge Limitations</a:t>
            </a:r>
            <a:endParaRPr sz="500"/>
          </a:p>
          <a:p>
            <a:pPr indent="-120650" lvl="1" marL="266700" marR="0" rtl="0" algn="just">
              <a:lnSpc>
                <a:spcPct val="140000"/>
              </a:lnSpc>
              <a:spcBef>
                <a:spcPts val="0"/>
              </a:spcBef>
              <a:spcAft>
                <a:spcPts val="0"/>
              </a:spcAft>
              <a:buClr>
                <a:srgbClr val="021828"/>
              </a:buClr>
              <a:buSzPts val="1100"/>
              <a:buFont typeface="Arial"/>
              <a:buChar char="•"/>
            </a:pPr>
            <a:r>
              <a:rPr b="1" lang="en" sz="1100">
                <a:solidFill>
                  <a:srgbClr val="021828"/>
                </a:solidFill>
              </a:rPr>
              <a:t>C</a:t>
            </a:r>
            <a:r>
              <a:rPr b="1" i="0" lang="en" sz="1100" u="none" cap="none" strike="noStrike">
                <a:solidFill>
                  <a:srgbClr val="021828"/>
                </a:solidFill>
                <a:latin typeface="Arial"/>
                <a:ea typeface="Arial"/>
                <a:cs typeface="Arial"/>
                <a:sym typeface="Arial"/>
              </a:rPr>
              <a:t>hallenging to determine the most critical features for survival prediction and interpret complex medical variables effectively</a:t>
            </a:r>
            <a:endParaRPr sz="500"/>
          </a:p>
          <a:p>
            <a:pPr indent="0" lvl="0" marL="0" marR="0" rtl="0" algn="just">
              <a:lnSpc>
                <a:spcPct val="140000"/>
              </a:lnSpc>
              <a:spcBef>
                <a:spcPts val="0"/>
              </a:spcBef>
              <a:spcAft>
                <a:spcPts val="0"/>
              </a:spcAft>
              <a:buNone/>
            </a:pPr>
            <a:r>
              <a:t/>
            </a:r>
            <a:endParaRPr b="1" i="0" sz="1300" u="none" cap="none" strike="noStrike">
              <a:solidFill>
                <a:srgbClr val="021828"/>
              </a:solidFill>
              <a:latin typeface="Arial"/>
              <a:ea typeface="Arial"/>
              <a:cs typeface="Arial"/>
              <a:sym typeface="Arial"/>
            </a:endParaRPr>
          </a:p>
          <a:p>
            <a:pPr indent="0" lvl="0" marL="0" marR="0" rtl="0" algn="just">
              <a:lnSpc>
                <a:spcPct val="140000"/>
              </a:lnSpc>
              <a:spcBef>
                <a:spcPts val="0"/>
              </a:spcBef>
              <a:spcAft>
                <a:spcPts val="0"/>
              </a:spcAft>
              <a:buNone/>
            </a:pPr>
            <a:r>
              <a:t/>
            </a:r>
            <a:endParaRPr b="1" i="0" sz="1300" u="none" cap="none" strike="noStrike">
              <a:solidFill>
                <a:srgbClr val="02182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1"/>
          <p:cNvSpPr txBox="1"/>
          <p:nvPr/>
        </p:nvSpPr>
        <p:spPr>
          <a:xfrm>
            <a:off x="2235345" y="1588364"/>
            <a:ext cx="4673311" cy="1948494"/>
          </a:xfrm>
          <a:prstGeom prst="rect">
            <a:avLst/>
          </a:prstGeom>
          <a:noFill/>
          <a:ln>
            <a:noFill/>
          </a:ln>
        </p:spPr>
        <p:txBody>
          <a:bodyPr anchorCtr="0" anchor="t" bIns="0" lIns="0" spcFirstLastPara="1" rIns="0" wrap="square" tIns="0">
            <a:spAutoFit/>
          </a:bodyPr>
          <a:lstStyle/>
          <a:p>
            <a:pPr indent="0" lvl="0" marL="0" marR="0" rtl="0" algn="ctr">
              <a:lnSpc>
                <a:spcPct val="87001"/>
              </a:lnSpc>
              <a:spcBef>
                <a:spcPts val="0"/>
              </a:spcBef>
              <a:spcAft>
                <a:spcPts val="0"/>
              </a:spcAft>
              <a:buNone/>
            </a:pPr>
            <a:r>
              <a:rPr b="1" i="0" lang="en" sz="8400" u="none" cap="none" strike="noStrike">
                <a:solidFill>
                  <a:srgbClr val="0E2F5F"/>
                </a:solidFill>
                <a:latin typeface="Barlow Condensed Black"/>
                <a:ea typeface="Barlow Condensed Black"/>
                <a:cs typeface="Barlow Condensed Black"/>
                <a:sym typeface="Barlow Condensed Black"/>
              </a:rPr>
              <a:t>THANK YOU!</a:t>
            </a:r>
            <a:endParaRPr sz="700"/>
          </a:p>
        </p:txBody>
      </p:sp>
      <p:grpSp>
        <p:nvGrpSpPr>
          <p:cNvPr id="459" name="Google Shape;459;p41"/>
          <p:cNvGrpSpPr/>
          <p:nvPr/>
        </p:nvGrpSpPr>
        <p:grpSpPr>
          <a:xfrm>
            <a:off x="3624524" y="3717907"/>
            <a:ext cx="1894952" cy="423263"/>
            <a:chOff x="0" y="-47625"/>
            <a:chExt cx="998164" cy="222954"/>
          </a:xfrm>
        </p:grpSpPr>
        <p:sp>
          <p:nvSpPr>
            <p:cNvPr id="460" name="Google Shape;460;p41"/>
            <p:cNvSpPr/>
            <p:nvPr/>
          </p:nvSpPr>
          <p:spPr>
            <a:xfrm>
              <a:off x="0" y="0"/>
              <a:ext cx="998164" cy="175329"/>
            </a:xfrm>
            <a:custGeom>
              <a:rect b="b" l="l" r="r" t="t"/>
              <a:pathLst>
                <a:path extrusionOk="0" h="175329" w="998164">
                  <a:moveTo>
                    <a:pt x="87664" y="0"/>
                  </a:moveTo>
                  <a:lnTo>
                    <a:pt x="910500" y="0"/>
                  </a:lnTo>
                  <a:cubicBezTo>
                    <a:pt x="958915" y="0"/>
                    <a:pt x="998164" y="39249"/>
                    <a:pt x="998164" y="87664"/>
                  </a:cubicBezTo>
                  <a:lnTo>
                    <a:pt x="998164" y="87664"/>
                  </a:lnTo>
                  <a:cubicBezTo>
                    <a:pt x="998164" y="110914"/>
                    <a:pt x="988928" y="133212"/>
                    <a:pt x="972488" y="149652"/>
                  </a:cubicBezTo>
                  <a:cubicBezTo>
                    <a:pt x="956048" y="166093"/>
                    <a:pt x="933750" y="175329"/>
                    <a:pt x="910500"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1" name="Google Shape;461;p41"/>
            <p:cNvSpPr txBox="1"/>
            <p:nvPr/>
          </p:nvSpPr>
          <p:spPr>
            <a:xfrm>
              <a:off x="0" y="-47625"/>
              <a:ext cx="998164" cy="22295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62" name="Google Shape;462;p41"/>
          <p:cNvSpPr txBox="1"/>
          <p:nvPr/>
        </p:nvSpPr>
        <p:spPr>
          <a:xfrm>
            <a:off x="4086522" y="3849250"/>
            <a:ext cx="1091400" cy="246300"/>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0" i="0" lang="en" sz="1600" u="none" cap="none" strike="noStrike">
                <a:solidFill>
                  <a:srgbClr val="FFFFFF"/>
                </a:solidFill>
                <a:latin typeface="Arial"/>
                <a:ea typeface="Arial"/>
                <a:cs typeface="Arial"/>
                <a:sym typeface="Arial"/>
              </a:rPr>
              <a:t>Q &amp; A time </a:t>
            </a:r>
            <a:endParaRPr sz="700"/>
          </a:p>
        </p:txBody>
      </p:sp>
      <p:grpSp>
        <p:nvGrpSpPr>
          <p:cNvPr id="463" name="Google Shape;463;p41"/>
          <p:cNvGrpSpPr/>
          <p:nvPr/>
        </p:nvGrpSpPr>
        <p:grpSpPr>
          <a:xfrm>
            <a:off x="1712304" y="-626740"/>
            <a:ext cx="5719392" cy="1510158"/>
            <a:chOff x="0" y="-47625"/>
            <a:chExt cx="3012684" cy="795474"/>
          </a:xfrm>
        </p:grpSpPr>
        <p:sp>
          <p:nvSpPr>
            <p:cNvPr id="464" name="Google Shape;464;p41"/>
            <p:cNvSpPr/>
            <p:nvPr/>
          </p:nvSpPr>
          <p:spPr>
            <a:xfrm>
              <a:off x="0" y="0"/>
              <a:ext cx="3012684" cy="747849"/>
            </a:xfrm>
            <a:custGeom>
              <a:rect b="b" l="l" r="r" t="t"/>
              <a:pathLst>
                <a:path extrusionOk="0" h="747849" w="3012684">
                  <a:moveTo>
                    <a:pt x="39932" y="0"/>
                  </a:moveTo>
                  <a:lnTo>
                    <a:pt x="2972752" y="0"/>
                  </a:lnTo>
                  <a:cubicBezTo>
                    <a:pt x="2994806" y="0"/>
                    <a:pt x="3012684" y="17878"/>
                    <a:pt x="3012684" y="39932"/>
                  </a:cubicBezTo>
                  <a:lnTo>
                    <a:pt x="3012684" y="707917"/>
                  </a:lnTo>
                  <a:cubicBezTo>
                    <a:pt x="3012684" y="729971"/>
                    <a:pt x="2994806" y="747849"/>
                    <a:pt x="2972752" y="747849"/>
                  </a:cubicBezTo>
                  <a:lnTo>
                    <a:pt x="39932" y="747849"/>
                  </a:lnTo>
                  <a:cubicBezTo>
                    <a:pt x="17878" y="747849"/>
                    <a:pt x="0" y="729971"/>
                    <a:pt x="0" y="707917"/>
                  </a:cubicBezTo>
                  <a:lnTo>
                    <a:pt x="0" y="39932"/>
                  </a:lnTo>
                  <a:cubicBezTo>
                    <a:pt x="0" y="17878"/>
                    <a:pt x="17878" y="0"/>
                    <a:pt x="39932" y="0"/>
                  </a:cubicBezTo>
                  <a:close/>
                </a:path>
              </a:pathLst>
            </a:custGeom>
            <a:solidFill>
              <a:srgbClr val="E1EDF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5" name="Google Shape;465;p41"/>
            <p:cNvSpPr txBox="1"/>
            <p:nvPr/>
          </p:nvSpPr>
          <p:spPr>
            <a:xfrm>
              <a:off x="0" y="-47625"/>
              <a:ext cx="3012684" cy="795474"/>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66" name="Google Shape;466;p41"/>
          <p:cNvGrpSpPr/>
          <p:nvPr/>
        </p:nvGrpSpPr>
        <p:grpSpPr>
          <a:xfrm>
            <a:off x="4197764" y="514350"/>
            <a:ext cx="748472" cy="748473"/>
            <a:chOff x="0" y="0"/>
            <a:chExt cx="812800" cy="812800"/>
          </a:xfrm>
        </p:grpSpPr>
        <p:sp>
          <p:nvSpPr>
            <p:cNvPr id="467" name="Google Shape;467;p4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8" name="Google Shape;468;p41"/>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69" name="Google Shape;469;p41"/>
          <p:cNvSpPr/>
          <p:nvPr/>
        </p:nvSpPr>
        <p:spPr>
          <a:xfrm>
            <a:off x="4336791" y="723940"/>
            <a:ext cx="470419" cy="329293"/>
          </a:xfrm>
          <a:custGeom>
            <a:rect b="b" l="l" r="r" t="t"/>
            <a:pathLst>
              <a:path extrusionOk="0" h="658587" w="940838">
                <a:moveTo>
                  <a:pt x="0" y="0"/>
                </a:moveTo>
                <a:lnTo>
                  <a:pt x="940838" y="0"/>
                </a:lnTo>
                <a:lnTo>
                  <a:pt x="940838" y="658587"/>
                </a:lnTo>
                <a:lnTo>
                  <a:pt x="0" y="658587"/>
                </a:lnTo>
                <a:lnTo>
                  <a:pt x="0" y="0"/>
                </a:lnTo>
                <a:close/>
              </a:path>
            </a:pathLst>
          </a:custGeom>
          <a:blipFill rotWithShape="1">
            <a:blip r:embed="rId3">
              <a:alphaModFix/>
            </a:blip>
            <a:stretch>
              <a:fillRect b="0" l="0" r="0" t="0"/>
            </a:stretch>
          </a:blipFill>
          <a:ln>
            <a:noFill/>
          </a:ln>
        </p:spPr>
      </p:sp>
      <p:sp>
        <p:nvSpPr>
          <p:cNvPr id="470" name="Google Shape;470;p41"/>
          <p:cNvSpPr/>
          <p:nvPr/>
        </p:nvSpPr>
        <p:spPr>
          <a:xfrm>
            <a:off x="1712304" y="2375340"/>
            <a:ext cx="759664" cy="234805"/>
          </a:xfrm>
          <a:custGeom>
            <a:rect b="b" l="l" r="r" t="t"/>
            <a:pathLst>
              <a:path extrusionOk="0" h="469610" w="1519327">
                <a:moveTo>
                  <a:pt x="0" y="0"/>
                </a:moveTo>
                <a:lnTo>
                  <a:pt x="1519327" y="0"/>
                </a:lnTo>
                <a:lnTo>
                  <a:pt x="1519327" y="469610"/>
                </a:lnTo>
                <a:lnTo>
                  <a:pt x="0" y="469610"/>
                </a:lnTo>
                <a:lnTo>
                  <a:pt x="0" y="0"/>
                </a:lnTo>
                <a:close/>
              </a:path>
            </a:pathLst>
          </a:custGeom>
          <a:blipFill rotWithShape="1">
            <a:blip r:embed="rId4">
              <a:alphaModFix/>
            </a:blip>
            <a:stretch>
              <a:fillRect b="0" l="0" r="0" t="0"/>
            </a:stretch>
          </a:blipFill>
          <a:ln>
            <a:noFill/>
          </a:ln>
        </p:spPr>
      </p:sp>
      <p:sp>
        <p:nvSpPr>
          <p:cNvPr id="471" name="Google Shape;471;p41"/>
          <p:cNvSpPr/>
          <p:nvPr/>
        </p:nvSpPr>
        <p:spPr>
          <a:xfrm flipH="1">
            <a:off x="6672032" y="2375340"/>
            <a:ext cx="759663" cy="234805"/>
          </a:xfrm>
          <a:custGeom>
            <a:rect b="b" l="l" r="r" t="t"/>
            <a:pathLst>
              <a:path extrusionOk="0" h="469610" w="1519327">
                <a:moveTo>
                  <a:pt x="1519327" y="0"/>
                </a:moveTo>
                <a:lnTo>
                  <a:pt x="0" y="0"/>
                </a:lnTo>
                <a:lnTo>
                  <a:pt x="0" y="469610"/>
                </a:lnTo>
                <a:lnTo>
                  <a:pt x="1519327" y="469610"/>
                </a:lnTo>
                <a:lnTo>
                  <a:pt x="1519327" y="0"/>
                </a:lnTo>
                <a:close/>
              </a:path>
            </a:pathLst>
          </a:custGeom>
          <a:blipFill rotWithShape="1">
            <a:blip r:embed="rId4">
              <a:alphaModFix/>
            </a:blip>
            <a:stretch>
              <a:fillRect b="0" l="0" r="0" t="0"/>
            </a:stretch>
          </a:blipFill>
          <a:ln>
            <a:noFill/>
          </a:ln>
        </p:spPr>
      </p:sp>
      <p:grpSp>
        <p:nvGrpSpPr>
          <p:cNvPr id="472" name="Google Shape;472;p41"/>
          <p:cNvGrpSpPr/>
          <p:nvPr/>
        </p:nvGrpSpPr>
        <p:grpSpPr>
          <a:xfrm>
            <a:off x="0" y="4407944"/>
            <a:ext cx="9144000" cy="735556"/>
            <a:chOff x="0" y="-47625"/>
            <a:chExt cx="4816593" cy="387453"/>
          </a:xfrm>
        </p:grpSpPr>
        <p:sp>
          <p:nvSpPr>
            <p:cNvPr id="473" name="Google Shape;473;p41"/>
            <p:cNvSpPr/>
            <p:nvPr/>
          </p:nvSpPr>
          <p:spPr>
            <a:xfrm>
              <a:off x="0" y="0"/>
              <a:ext cx="4816592" cy="339828"/>
            </a:xfrm>
            <a:custGeom>
              <a:rect b="b" l="l" r="r" t="t"/>
              <a:pathLst>
                <a:path extrusionOk="0" h="339828" w="4816592">
                  <a:moveTo>
                    <a:pt x="0" y="0"/>
                  </a:moveTo>
                  <a:lnTo>
                    <a:pt x="4816592" y="0"/>
                  </a:lnTo>
                  <a:lnTo>
                    <a:pt x="4816592" y="339828"/>
                  </a:lnTo>
                  <a:lnTo>
                    <a:pt x="0" y="339828"/>
                  </a:lnTo>
                  <a:close/>
                </a:path>
              </a:pathLst>
            </a:custGeom>
            <a:solidFill>
              <a:srgbClr val="0E2F5F"/>
            </a:solidFill>
            <a:ln>
              <a:noFill/>
            </a:ln>
          </p:spPr>
        </p:sp>
        <p:sp>
          <p:nvSpPr>
            <p:cNvPr id="474" name="Google Shape;474;p41"/>
            <p:cNvSpPr txBox="1"/>
            <p:nvPr/>
          </p:nvSpPr>
          <p:spPr>
            <a:xfrm>
              <a:off x="0" y="-47625"/>
              <a:ext cx="4816593" cy="387453"/>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2"/>
          <p:cNvSpPr/>
          <p:nvPr/>
        </p:nvSpPr>
        <p:spPr>
          <a:xfrm>
            <a:off x="8129358" y="4373900"/>
            <a:ext cx="1538229" cy="1538229"/>
          </a:xfrm>
          <a:custGeom>
            <a:rect b="b" l="l" r="r" t="t"/>
            <a:pathLst>
              <a:path extrusionOk="0" h="3076459" w="3076459">
                <a:moveTo>
                  <a:pt x="0" y="0"/>
                </a:moveTo>
                <a:lnTo>
                  <a:pt x="3076459" y="0"/>
                </a:lnTo>
                <a:lnTo>
                  <a:pt x="3076459" y="3076459"/>
                </a:lnTo>
                <a:lnTo>
                  <a:pt x="0" y="3076459"/>
                </a:lnTo>
                <a:lnTo>
                  <a:pt x="0" y="0"/>
                </a:lnTo>
                <a:close/>
              </a:path>
            </a:pathLst>
          </a:custGeom>
          <a:blipFill rotWithShape="1">
            <a:blip r:embed="rId3">
              <a:alphaModFix/>
            </a:blip>
            <a:stretch>
              <a:fillRect b="0" l="0" r="0" t="0"/>
            </a:stretch>
          </a:blipFill>
          <a:ln>
            <a:noFill/>
          </a:ln>
        </p:spPr>
      </p:sp>
      <p:sp>
        <p:nvSpPr>
          <p:cNvPr id="480" name="Google Shape;480;p42"/>
          <p:cNvSpPr txBox="1"/>
          <p:nvPr/>
        </p:nvSpPr>
        <p:spPr>
          <a:xfrm>
            <a:off x="1685115" y="1049461"/>
            <a:ext cx="41043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t/>
            </a:r>
            <a:endParaRPr sz="500"/>
          </a:p>
          <a:p>
            <a:pPr indent="0" lvl="0" marL="0" marR="0" rtl="0" algn="just">
              <a:lnSpc>
                <a:spcPct val="140000"/>
              </a:lnSpc>
              <a:spcBef>
                <a:spcPts val="0"/>
              </a:spcBef>
              <a:spcAft>
                <a:spcPts val="0"/>
              </a:spcAft>
              <a:buNone/>
            </a:pPr>
            <a:r>
              <a:t/>
            </a:r>
            <a:endParaRPr b="1" i="0" sz="1100" u="none" cap="none" strike="noStrike">
              <a:solidFill>
                <a:srgbClr val="021828"/>
              </a:solidFill>
              <a:latin typeface="Arial"/>
              <a:ea typeface="Arial"/>
              <a:cs typeface="Arial"/>
              <a:sym typeface="Arial"/>
            </a:endParaRPr>
          </a:p>
        </p:txBody>
      </p:sp>
      <p:sp>
        <p:nvSpPr>
          <p:cNvPr id="481" name="Google Shape;481;p42"/>
          <p:cNvSpPr txBox="1"/>
          <p:nvPr/>
        </p:nvSpPr>
        <p:spPr>
          <a:xfrm>
            <a:off x="1172978" y="157275"/>
            <a:ext cx="6527700" cy="1013400"/>
          </a:xfrm>
          <a:prstGeom prst="rect">
            <a:avLst/>
          </a:prstGeom>
          <a:noFill/>
          <a:ln>
            <a:noFill/>
          </a:ln>
        </p:spPr>
        <p:txBody>
          <a:bodyPr anchorCtr="0" anchor="t" bIns="0" lIns="0" spcFirstLastPara="1" rIns="0" wrap="square" tIns="0">
            <a:spAutoFit/>
          </a:bodyPr>
          <a:lstStyle/>
          <a:p>
            <a:pPr indent="0" lvl="0" marL="0" marR="0" rtl="0" algn="l">
              <a:lnSpc>
                <a:spcPct val="126998"/>
              </a:lnSpc>
              <a:spcBef>
                <a:spcPts val="0"/>
              </a:spcBef>
              <a:spcAft>
                <a:spcPts val="0"/>
              </a:spcAft>
              <a:buNone/>
            </a:pPr>
            <a:r>
              <a:rPr b="1" lang="en" sz="2900">
                <a:solidFill>
                  <a:srgbClr val="0E2F5F"/>
                </a:solidFill>
              </a:rPr>
              <a:t>Team members and Contributions</a:t>
            </a:r>
            <a:endParaRPr sz="700"/>
          </a:p>
          <a:p>
            <a:pPr indent="0" lvl="0" marL="0" marR="0" rtl="0" algn="l">
              <a:lnSpc>
                <a:spcPct val="126998"/>
              </a:lnSpc>
              <a:spcBef>
                <a:spcPts val="0"/>
              </a:spcBef>
              <a:spcAft>
                <a:spcPts val="0"/>
              </a:spcAft>
              <a:buNone/>
            </a:pPr>
            <a:r>
              <a:t/>
            </a:r>
            <a:endParaRPr b="1" i="0" sz="2900" u="none" cap="none" strike="noStrike">
              <a:solidFill>
                <a:srgbClr val="0E2F5F"/>
              </a:solidFill>
              <a:latin typeface="Arial"/>
              <a:ea typeface="Arial"/>
              <a:cs typeface="Arial"/>
              <a:sym typeface="Arial"/>
            </a:endParaRPr>
          </a:p>
        </p:txBody>
      </p:sp>
      <p:sp>
        <p:nvSpPr>
          <p:cNvPr id="482" name="Google Shape;482;p42"/>
          <p:cNvSpPr/>
          <p:nvPr/>
        </p:nvSpPr>
        <p:spPr>
          <a:xfrm>
            <a:off x="208094" y="-150326"/>
            <a:ext cx="645774" cy="645774"/>
          </a:xfrm>
          <a:custGeom>
            <a:rect b="b" l="l" r="r" t="t"/>
            <a:pathLst>
              <a:path extrusionOk="0" h="1291547" w="1291547">
                <a:moveTo>
                  <a:pt x="0" y="0"/>
                </a:moveTo>
                <a:lnTo>
                  <a:pt x="1291547" y="0"/>
                </a:lnTo>
                <a:lnTo>
                  <a:pt x="1291547" y="1291547"/>
                </a:lnTo>
                <a:lnTo>
                  <a:pt x="0" y="1291547"/>
                </a:lnTo>
                <a:lnTo>
                  <a:pt x="0" y="0"/>
                </a:lnTo>
                <a:close/>
              </a:path>
            </a:pathLst>
          </a:custGeom>
          <a:blipFill rotWithShape="1">
            <a:blip r:embed="rId4">
              <a:alphaModFix/>
            </a:blip>
            <a:stretch>
              <a:fillRect b="0" l="0" r="0" t="0"/>
            </a:stretch>
          </a:blipFill>
          <a:ln>
            <a:noFill/>
          </a:ln>
        </p:spPr>
      </p:sp>
      <p:sp>
        <p:nvSpPr>
          <p:cNvPr id="483" name="Google Shape;483;p42"/>
          <p:cNvSpPr/>
          <p:nvPr/>
        </p:nvSpPr>
        <p:spPr>
          <a:xfrm>
            <a:off x="7179077" y="292055"/>
            <a:ext cx="759663" cy="234805"/>
          </a:xfrm>
          <a:custGeom>
            <a:rect b="b" l="l" r="r" t="t"/>
            <a:pathLst>
              <a:path extrusionOk="0" h="469610" w="1519327">
                <a:moveTo>
                  <a:pt x="0" y="0"/>
                </a:moveTo>
                <a:lnTo>
                  <a:pt x="1519327" y="0"/>
                </a:lnTo>
                <a:lnTo>
                  <a:pt x="1519327" y="469610"/>
                </a:lnTo>
                <a:lnTo>
                  <a:pt x="0" y="469610"/>
                </a:lnTo>
                <a:lnTo>
                  <a:pt x="0" y="0"/>
                </a:lnTo>
                <a:close/>
              </a:path>
            </a:pathLst>
          </a:custGeom>
          <a:blipFill rotWithShape="1">
            <a:blip r:embed="rId5">
              <a:alphaModFix/>
            </a:blip>
            <a:stretch>
              <a:fillRect b="0" l="0" r="0" t="0"/>
            </a:stretch>
          </a:blipFill>
          <a:ln>
            <a:noFill/>
          </a:ln>
        </p:spPr>
      </p:sp>
      <p:sp>
        <p:nvSpPr>
          <p:cNvPr id="484" name="Google Shape;484;p42"/>
          <p:cNvSpPr/>
          <p:nvPr/>
        </p:nvSpPr>
        <p:spPr>
          <a:xfrm>
            <a:off x="8518643" y="4270285"/>
            <a:ext cx="759663" cy="234805"/>
          </a:xfrm>
          <a:custGeom>
            <a:rect b="b" l="l" r="r" t="t"/>
            <a:pathLst>
              <a:path extrusionOk="0" h="469610" w="1519327">
                <a:moveTo>
                  <a:pt x="0" y="0"/>
                </a:moveTo>
                <a:lnTo>
                  <a:pt x="1519328" y="0"/>
                </a:lnTo>
                <a:lnTo>
                  <a:pt x="1519328" y="469610"/>
                </a:lnTo>
                <a:lnTo>
                  <a:pt x="0" y="469610"/>
                </a:lnTo>
                <a:lnTo>
                  <a:pt x="0" y="0"/>
                </a:lnTo>
                <a:close/>
              </a:path>
            </a:pathLst>
          </a:custGeom>
          <a:blipFill rotWithShape="1">
            <a:blip r:embed="rId5">
              <a:alphaModFix/>
            </a:blip>
            <a:stretch>
              <a:fillRect b="0" l="0" r="0" t="0"/>
            </a:stretch>
          </a:blipFill>
          <a:ln>
            <a:noFill/>
          </a:ln>
        </p:spPr>
      </p:sp>
      <p:sp>
        <p:nvSpPr>
          <p:cNvPr id="485" name="Google Shape;485;p42"/>
          <p:cNvSpPr txBox="1"/>
          <p:nvPr/>
        </p:nvSpPr>
        <p:spPr>
          <a:xfrm>
            <a:off x="756725" y="766750"/>
            <a:ext cx="7653600" cy="3821700"/>
          </a:xfrm>
          <a:prstGeom prst="rect">
            <a:avLst/>
          </a:prstGeom>
          <a:noFill/>
          <a:ln>
            <a:noFill/>
          </a:ln>
        </p:spPr>
        <p:txBody>
          <a:bodyPr anchorCtr="0" anchor="t" bIns="91425" lIns="91425" spcFirstLastPara="1" rIns="91425" wrap="square" tIns="91425">
            <a:noAutofit/>
          </a:bodyPr>
          <a:lstStyle/>
          <a:p>
            <a:pPr indent="0" lvl="0" marL="0" rtl="0" algn="l">
              <a:lnSpc>
                <a:spcPct val="140009"/>
              </a:lnSpc>
              <a:spcBef>
                <a:spcPts val="0"/>
              </a:spcBef>
              <a:spcAft>
                <a:spcPts val="0"/>
              </a:spcAft>
              <a:buNone/>
            </a:pPr>
            <a:r>
              <a:rPr b="1" lang="en" sz="900">
                <a:solidFill>
                  <a:schemeClr val="dk1"/>
                </a:solidFill>
              </a:rPr>
              <a:t>All team </a:t>
            </a:r>
            <a:r>
              <a:rPr b="1" lang="en" sz="900">
                <a:solidFill>
                  <a:schemeClr val="dk1"/>
                </a:solidFill>
              </a:rPr>
              <a:t>members</a:t>
            </a:r>
            <a:r>
              <a:rPr b="1" lang="en" sz="900">
                <a:solidFill>
                  <a:schemeClr val="dk1"/>
                </a:solidFill>
              </a:rPr>
              <a:t> c</a:t>
            </a:r>
            <a:r>
              <a:rPr b="1" lang="en" sz="900">
                <a:solidFill>
                  <a:schemeClr val="dk1"/>
                </a:solidFill>
              </a:rPr>
              <a:t>ontributed to the exploratory data analysis (EDA) by analyzing key features, identifying trends, and visualizing data patterns to inform our modeling approach. Additionally, for the data preprocessing, everyone handled and encoded ¼ of the features to be used in the model.</a:t>
            </a:r>
            <a:endParaRPr b="1" sz="900">
              <a:solidFill>
                <a:schemeClr val="dk1"/>
              </a:solidFill>
            </a:endParaRPr>
          </a:p>
          <a:p>
            <a:pPr indent="0" lvl="0" marL="0" rtl="0" algn="l">
              <a:lnSpc>
                <a:spcPct val="140009"/>
              </a:lnSpc>
              <a:spcBef>
                <a:spcPts val="0"/>
              </a:spcBef>
              <a:spcAft>
                <a:spcPts val="0"/>
              </a:spcAft>
              <a:buNone/>
            </a:pPr>
            <a:r>
              <a:t/>
            </a:r>
            <a:endParaRPr b="1" sz="1000">
              <a:solidFill>
                <a:schemeClr val="dk1"/>
              </a:solidFill>
            </a:endParaRPr>
          </a:p>
          <a:p>
            <a:pPr indent="0" lvl="0" marL="0" rtl="0" algn="l">
              <a:lnSpc>
                <a:spcPct val="140009"/>
              </a:lnSpc>
              <a:spcBef>
                <a:spcPts val="0"/>
              </a:spcBef>
              <a:spcAft>
                <a:spcPts val="0"/>
              </a:spcAft>
              <a:buNone/>
            </a:pPr>
            <a:r>
              <a:rPr b="1" lang="en" sz="1000">
                <a:solidFill>
                  <a:schemeClr val="dk1"/>
                </a:solidFill>
              </a:rPr>
              <a:t>Behafarin Emam</a:t>
            </a:r>
            <a:endParaRPr b="1" sz="1000">
              <a:solidFill>
                <a:schemeClr val="dk1"/>
              </a:solidFill>
            </a:endParaRPr>
          </a:p>
          <a:p>
            <a:pPr indent="-292100" lvl="0" marL="457200" rtl="0" algn="l">
              <a:lnSpc>
                <a:spcPct val="140009"/>
              </a:lnSpc>
              <a:spcBef>
                <a:spcPts val="0"/>
              </a:spcBef>
              <a:spcAft>
                <a:spcPts val="0"/>
              </a:spcAft>
              <a:buClr>
                <a:schemeClr val="dk1"/>
              </a:buClr>
              <a:buSzPts val="1000"/>
              <a:buChar char="-"/>
            </a:pPr>
            <a:r>
              <a:rPr b="1" lang="en" sz="900">
                <a:solidFill>
                  <a:schemeClr val="dk1"/>
                </a:solidFill>
              </a:rPr>
              <a:t>Responsible for preprocessing and engineering features, including data cleaning, normalization, encoding, and selection to enhance model performance</a:t>
            </a:r>
            <a:endParaRPr b="1" sz="900">
              <a:solidFill>
                <a:schemeClr val="dk1"/>
              </a:solidFill>
            </a:endParaRPr>
          </a:p>
          <a:p>
            <a:pPr indent="-292100" lvl="0" marL="457200" rtl="0" algn="l">
              <a:lnSpc>
                <a:spcPct val="140009"/>
              </a:lnSpc>
              <a:spcBef>
                <a:spcPts val="0"/>
              </a:spcBef>
              <a:spcAft>
                <a:spcPts val="0"/>
              </a:spcAft>
              <a:buClr>
                <a:schemeClr val="dk1"/>
              </a:buClr>
              <a:buSzPts val="1000"/>
              <a:buChar char="-"/>
            </a:pPr>
            <a:r>
              <a:rPr b="1" lang="en" sz="900">
                <a:solidFill>
                  <a:schemeClr val="dk1"/>
                </a:solidFill>
              </a:rPr>
              <a:t>Implemented DeepSurv and GNN predictive models to predict accurate risk score</a:t>
            </a:r>
            <a:endParaRPr b="1" sz="1000">
              <a:solidFill>
                <a:schemeClr val="dk1"/>
              </a:solidFill>
            </a:endParaRPr>
          </a:p>
          <a:p>
            <a:pPr indent="0" lvl="0" marL="0" rtl="0" algn="l">
              <a:lnSpc>
                <a:spcPct val="140009"/>
              </a:lnSpc>
              <a:spcBef>
                <a:spcPts val="0"/>
              </a:spcBef>
              <a:spcAft>
                <a:spcPts val="0"/>
              </a:spcAft>
              <a:buNone/>
            </a:pPr>
            <a:r>
              <a:rPr b="1" lang="en" sz="1000">
                <a:solidFill>
                  <a:schemeClr val="dk1"/>
                </a:solidFill>
              </a:rPr>
              <a:t>Likhita Nallapati</a:t>
            </a:r>
            <a:endParaRPr b="1" sz="1000">
              <a:solidFill>
                <a:schemeClr val="dk1"/>
              </a:solidFill>
            </a:endParaRPr>
          </a:p>
          <a:p>
            <a:pPr indent="-285750" lvl="0" marL="457200" rtl="0" algn="l">
              <a:lnSpc>
                <a:spcPct val="140009"/>
              </a:lnSpc>
              <a:spcBef>
                <a:spcPts val="0"/>
              </a:spcBef>
              <a:spcAft>
                <a:spcPts val="0"/>
              </a:spcAft>
              <a:buClr>
                <a:schemeClr val="dk1"/>
              </a:buClr>
              <a:buSzPts val="900"/>
              <a:buChar char="-"/>
            </a:pPr>
            <a:r>
              <a:rPr b="1" lang="en" sz="900">
                <a:solidFill>
                  <a:schemeClr val="dk1"/>
                </a:solidFill>
              </a:rPr>
              <a:t>Developed an ensemble model combining XGBoost and CatBoost to improve the accuracy of survival predictions. I also integrated the strengths of both models to handle non-linear relationships for survival analysis.</a:t>
            </a:r>
            <a:endParaRPr b="1" sz="900">
              <a:solidFill>
                <a:schemeClr val="dk1"/>
              </a:solidFill>
            </a:endParaRPr>
          </a:p>
          <a:p>
            <a:pPr indent="0" lvl="0" marL="0" rtl="0" algn="l">
              <a:lnSpc>
                <a:spcPct val="140009"/>
              </a:lnSpc>
              <a:spcBef>
                <a:spcPts val="0"/>
              </a:spcBef>
              <a:spcAft>
                <a:spcPts val="0"/>
              </a:spcAft>
              <a:buNone/>
            </a:pPr>
            <a:r>
              <a:rPr b="1" lang="en" sz="1000">
                <a:solidFill>
                  <a:schemeClr val="dk1"/>
                </a:solidFill>
              </a:rPr>
              <a:t> Shriya Rawal</a:t>
            </a:r>
            <a:endParaRPr b="1" sz="1000">
              <a:solidFill>
                <a:schemeClr val="dk1"/>
              </a:solidFill>
            </a:endParaRPr>
          </a:p>
          <a:p>
            <a:pPr indent="-285750" lvl="0" marL="457200" rtl="0" algn="l">
              <a:lnSpc>
                <a:spcPct val="140009"/>
              </a:lnSpc>
              <a:spcBef>
                <a:spcPts val="0"/>
              </a:spcBef>
              <a:spcAft>
                <a:spcPts val="0"/>
              </a:spcAft>
              <a:buClr>
                <a:schemeClr val="dk1"/>
              </a:buClr>
              <a:buSzPts val="900"/>
              <a:buChar char="-"/>
            </a:pPr>
            <a:r>
              <a:rPr b="1" lang="en" sz="900">
                <a:solidFill>
                  <a:schemeClr val="dk1"/>
                </a:solidFill>
              </a:rPr>
              <a:t>Conducted survival analysis using CoxPH model and finetuned with LASSO regression to achieve higher accuracy for survival prediction. I also utilized the Kaplan-Meier Curve to understand distribution of values as well as the median survival time. </a:t>
            </a:r>
            <a:endParaRPr b="1" sz="900">
              <a:solidFill>
                <a:schemeClr val="dk1"/>
              </a:solidFill>
            </a:endParaRPr>
          </a:p>
          <a:p>
            <a:pPr indent="0" lvl="0" marL="0" rtl="0" algn="l">
              <a:lnSpc>
                <a:spcPct val="140009"/>
              </a:lnSpc>
              <a:spcBef>
                <a:spcPts val="0"/>
              </a:spcBef>
              <a:spcAft>
                <a:spcPts val="0"/>
              </a:spcAft>
              <a:buNone/>
            </a:pPr>
            <a:r>
              <a:rPr b="1" lang="en" sz="1000">
                <a:solidFill>
                  <a:schemeClr val="dk1"/>
                </a:solidFill>
              </a:rPr>
              <a:t>Ameen Aghazadeh</a:t>
            </a:r>
            <a:endParaRPr b="1" sz="1000">
              <a:solidFill>
                <a:schemeClr val="dk1"/>
              </a:solidFill>
            </a:endParaRPr>
          </a:p>
          <a:p>
            <a:pPr indent="-279400" lvl="0" marL="457200" rtl="0" algn="l">
              <a:lnSpc>
                <a:spcPct val="140009"/>
              </a:lnSpc>
              <a:spcBef>
                <a:spcPts val="0"/>
              </a:spcBef>
              <a:spcAft>
                <a:spcPts val="0"/>
              </a:spcAft>
              <a:buClr>
                <a:schemeClr val="dk1"/>
              </a:buClr>
              <a:buSzPts val="800"/>
              <a:buChar char="-"/>
            </a:pPr>
            <a:r>
              <a:rPr b="1" lang="en" sz="800">
                <a:solidFill>
                  <a:schemeClr val="dk1"/>
                </a:solidFill>
              </a:rPr>
              <a:t>Analyzed the impact of sex-matching on survival outcomes using Kaplan-Meier survival curves and bar charts to determine whether same-sex transplants had better long-term survival. Investigated race-based differences in Event-Free Survival (EFS) to identify potential disparities in post-transplant outcomes. Contributed to feature analysis using correlation heatmaps, helping refine important survival predictors and guide model selection.</a:t>
            </a:r>
            <a:endParaRPr b="1" sz="800">
              <a:solidFill>
                <a:schemeClr val="dk1"/>
              </a:solidFill>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grpSp>
        <p:nvGrpSpPr>
          <p:cNvPr id="486" name="Google Shape;486;p42"/>
          <p:cNvGrpSpPr/>
          <p:nvPr/>
        </p:nvGrpSpPr>
        <p:grpSpPr>
          <a:xfrm>
            <a:off x="689714" y="157263"/>
            <a:ext cx="411463" cy="438424"/>
            <a:chOff x="0" y="0"/>
            <a:chExt cx="788546" cy="812800"/>
          </a:xfrm>
        </p:grpSpPr>
        <p:sp>
          <p:nvSpPr>
            <p:cNvPr id="487" name="Google Shape;487;p42"/>
            <p:cNvSpPr/>
            <p:nvPr/>
          </p:nvSpPr>
          <p:spPr>
            <a:xfrm>
              <a:off x="0" y="0"/>
              <a:ext cx="788546" cy="812800"/>
            </a:xfrm>
            <a:custGeom>
              <a:rect b="b" l="l" r="r" t="t"/>
              <a:pathLst>
                <a:path extrusionOk="0" h="812800" w="788546">
                  <a:moveTo>
                    <a:pt x="394273" y="0"/>
                  </a:moveTo>
                  <a:cubicBezTo>
                    <a:pt x="176522" y="0"/>
                    <a:pt x="0" y="181951"/>
                    <a:pt x="0" y="406400"/>
                  </a:cubicBezTo>
                  <a:cubicBezTo>
                    <a:pt x="0" y="630849"/>
                    <a:pt x="176522" y="812800"/>
                    <a:pt x="394273" y="812800"/>
                  </a:cubicBezTo>
                  <a:cubicBezTo>
                    <a:pt x="612024" y="812800"/>
                    <a:pt x="788546" y="630849"/>
                    <a:pt x="788546" y="406400"/>
                  </a:cubicBezTo>
                  <a:cubicBezTo>
                    <a:pt x="788546" y="181951"/>
                    <a:pt x="612024" y="0"/>
                    <a:pt x="394273" y="0"/>
                  </a:cubicBezTo>
                  <a:close/>
                </a:path>
              </a:pathLst>
            </a:custGeom>
            <a:solidFill>
              <a:srgbClr val="5188C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88" name="Google Shape;488;p42"/>
            <p:cNvSpPr txBox="1"/>
            <p:nvPr/>
          </p:nvSpPr>
          <p:spPr>
            <a:xfrm>
              <a:off x="73926" y="28575"/>
              <a:ext cx="6408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89" name="Google Shape;489;p42"/>
          <p:cNvSpPr/>
          <p:nvPr/>
        </p:nvSpPr>
        <p:spPr>
          <a:xfrm>
            <a:off x="853884" y="292050"/>
            <a:ext cx="83142" cy="168861"/>
          </a:xfrm>
          <a:custGeom>
            <a:rect b="b" l="l" r="r" t="t"/>
            <a:pathLst>
              <a:path extrusionOk="0" h="469057" w="313744">
                <a:moveTo>
                  <a:pt x="0" y="0"/>
                </a:moveTo>
                <a:lnTo>
                  <a:pt x="313743" y="0"/>
                </a:lnTo>
                <a:lnTo>
                  <a:pt x="313743" y="469057"/>
                </a:lnTo>
                <a:lnTo>
                  <a:pt x="0" y="469057"/>
                </a:lnTo>
                <a:lnTo>
                  <a:pt x="0" y="0"/>
                </a:lnTo>
                <a:close/>
              </a:path>
            </a:pathLst>
          </a:custGeom>
          <a:blipFill rotWithShape="1">
            <a:blip r:embed="rId6">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